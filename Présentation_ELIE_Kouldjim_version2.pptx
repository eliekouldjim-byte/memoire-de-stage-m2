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71" r:id="rId4"/>
    <p:sldId id="294" r:id="rId5"/>
    <p:sldId id="312" r:id="rId6"/>
    <p:sldId id="313" r:id="rId7"/>
    <p:sldId id="299" r:id="rId8"/>
    <p:sldId id="278" r:id="rId9"/>
    <p:sldId id="314" r:id="rId10"/>
    <p:sldId id="302" r:id="rId11"/>
    <p:sldId id="303" r:id="rId12"/>
    <p:sldId id="297" r:id="rId13"/>
    <p:sldId id="308" r:id="rId14"/>
    <p:sldId id="315" r:id="rId15"/>
    <p:sldId id="267" r:id="rId16"/>
    <p:sldId id="31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656" autoAdjust="0"/>
  </p:normalViewPr>
  <p:slideViewPr>
    <p:cSldViewPr snapToGrid="0">
      <p:cViewPr varScale="1">
        <p:scale>
          <a:sx n="67" d="100"/>
          <a:sy n="67" d="100"/>
        </p:scale>
        <p:origin x="1053"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5FBB93-A3E9-4BCC-92F2-9C4FA7E21CE8}" type="datetimeFigureOut">
              <a:rPr lang="fr-FR" smtClean="0"/>
              <a:t>02/09/2026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CF4884-A87B-425D-84FE-10B48FE79002}" type="slidenum">
              <a:rPr lang="fr-FR" smtClean="0"/>
              <a:t>‹N°›</a:t>
            </a:fld>
            <a:endParaRPr lang="fr-FR"/>
          </a:p>
        </p:txBody>
      </p:sp>
    </p:spTree>
    <p:extLst>
      <p:ext uri="{BB962C8B-B14F-4D97-AF65-F5344CB8AC3E}">
        <p14:creationId xmlns:p14="http://schemas.microsoft.com/office/powerpoint/2010/main" val="3204001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1CF4884-A87B-425D-84FE-10B48FE79002}" type="slidenum">
              <a:rPr lang="fr-FR" smtClean="0"/>
              <a:t>1</a:t>
            </a:fld>
            <a:endParaRPr lang="fr-FR" dirty="0"/>
          </a:p>
        </p:txBody>
      </p:sp>
    </p:spTree>
    <p:extLst>
      <p:ext uri="{BB962C8B-B14F-4D97-AF65-F5344CB8AC3E}">
        <p14:creationId xmlns:p14="http://schemas.microsoft.com/office/powerpoint/2010/main" val="2281428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Wingdings" panose="05000000000000000000" pitchFamily="2" charset="2"/>
              <a:buNone/>
            </a:pPr>
            <a:endParaRPr lang="fr-FR" dirty="0"/>
          </a:p>
          <a:p>
            <a:pPr marL="171450" indent="-171450">
              <a:buFont typeface="Wingdings" panose="05000000000000000000" pitchFamily="2" charset="2"/>
              <a:buChar char="q"/>
            </a:pPr>
            <a:r>
              <a:rPr lang="fr-FR" dirty="0"/>
              <a:t>Madame la présidente de jury, messieurs les membres de jury bonjour.  Je vous remercie pour de l’occasion qui m’est donné de présenter mon mémoire de master 2 intitulé : L’Evaluation des caractéristiques de tests diagnostiques par des modèles bayésiens à classes latentes.</a:t>
            </a:r>
          </a:p>
          <a:p>
            <a:pPr marL="171450" indent="-171450">
              <a:buFont typeface="Wingdings" panose="05000000000000000000" pitchFamily="2" charset="2"/>
              <a:buChar char="q"/>
            </a:pPr>
            <a:r>
              <a:rPr lang="fr-FR" dirty="0"/>
              <a:t>Ce travail a été réalisée au sein de laboratoire de l’Agence nationale de sécurité sanitaire à Lyon sous la supervision de Madame Viviane HENAUX et en collaboration avec le Laboratoire Nationale de référence de brucellose animale sous direction de madame Acacia Ferreira.</a:t>
            </a:r>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b="1" dirty="0"/>
              <a:t>Durée: 30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2</a:t>
            </a:fld>
            <a:endParaRPr lang="fr-CM" dirty="0"/>
          </a:p>
        </p:txBody>
      </p:sp>
    </p:spTree>
    <p:extLst>
      <p:ext uri="{BB962C8B-B14F-4D97-AF65-F5344CB8AC3E}">
        <p14:creationId xmlns:p14="http://schemas.microsoft.com/office/powerpoint/2010/main" val="3661478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4000" dirty="0"/>
              <a:t>Tout d’abord nous présentons le contexte auquel l’étude est portée.</a:t>
            </a:r>
          </a:p>
          <a:p>
            <a:r>
              <a:rPr lang="fr-FR" sz="4000" dirty="0"/>
              <a:t>L’Evaluation des tests diagnostiques constitue un enjeu majeur en épidémiologie vétérinaire puisque les systèmes de surveillance reposent directement sur la performance des tests utilisés.</a:t>
            </a:r>
          </a:p>
          <a:p>
            <a:r>
              <a:rPr lang="fr-FR" sz="4000" dirty="0"/>
              <a:t>Dans cette étude, nous nous sommes intéressés à la brucellose porcine, </a:t>
            </a:r>
            <a:r>
              <a:rPr lang="fr-FR" sz="4000" kern="1200" dirty="0">
                <a:solidFill>
                  <a:schemeClr val="tx1"/>
                </a:solidFill>
                <a:effectLst/>
                <a:latin typeface="+mn-lt"/>
                <a:ea typeface="+mn-ea"/>
                <a:cs typeface="+mn-cs"/>
              </a:rPr>
              <a:t>une maladie bactérienne zoonotique </a:t>
            </a:r>
            <a:r>
              <a:rPr lang="fr-FR" sz="4000" dirty="0"/>
              <a:t>responsable notamment de troubles de la reproduction chez le porc ,</a:t>
            </a:r>
            <a:r>
              <a:rPr lang="fr-FR" sz="4000" kern="1200" dirty="0">
                <a:solidFill>
                  <a:schemeClr val="tx1"/>
                </a:solidFill>
                <a:effectLst/>
                <a:latin typeface="+mn-lt"/>
                <a:ea typeface="+mn-ea"/>
                <a:cs typeface="+mn-cs"/>
              </a:rPr>
              <a:t> : Elle est sporadique en Europe, et  fait néanmoins l'objet d'une surveillance active pour prévenir toute réémergence. </a:t>
            </a:r>
            <a:endParaRPr lang="fr-FR" sz="4000" dirty="0"/>
          </a:p>
          <a:p>
            <a:r>
              <a:rPr lang="fr-FR" sz="5400" kern="1200" dirty="0">
                <a:solidFill>
                  <a:schemeClr val="tx1"/>
                </a:solidFill>
                <a:effectLst/>
                <a:latin typeface="+mn-lt"/>
                <a:ea typeface="+mn-ea"/>
                <a:cs typeface="+mn-cs"/>
              </a:rPr>
              <a:t>Le diagnostic repose sur des tests sérologiques  l'épreuve à l'antigène tamponné et la fixation du complément historiquement utilisés , complétées aujourd'hui par des kits ELISA</a:t>
            </a:r>
          </a:p>
          <a:p>
            <a:r>
              <a:rPr lang="fr-FR" sz="5400" kern="1200" dirty="0">
                <a:solidFill>
                  <a:schemeClr val="tx1"/>
                </a:solidFill>
                <a:effectLst/>
                <a:latin typeface="+mn-lt"/>
                <a:ea typeface="+mn-ea"/>
                <a:cs typeface="+mn-cs"/>
              </a:rPr>
              <a:t>Aussi de test bactériologique qui peut être  considérée comme référence mais inapplicable en routine car elle impose l'abattage de l'animal. </a:t>
            </a:r>
          </a:p>
          <a:p>
            <a:endParaRPr lang="fr-FR" sz="5400" dirty="0"/>
          </a:p>
          <a:p>
            <a:r>
              <a:rPr lang="fr-FR" sz="5400" b="1" dirty="0"/>
              <a:t>Durée: 45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3</a:t>
            </a:fld>
            <a:endParaRPr lang="fr-CM" dirty="0"/>
          </a:p>
        </p:txBody>
      </p:sp>
    </p:spTree>
    <p:extLst>
      <p:ext uri="{BB962C8B-B14F-4D97-AF65-F5344CB8AC3E}">
        <p14:creationId xmlns:p14="http://schemas.microsoft.com/office/powerpoint/2010/main" val="1797916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Or Evaluer un test diagnostique nécessite classiquement un test de référence parfait qui n’est pas le cas dans cette étude. Face à cela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La question qui se pose est donc : comment estimer de façon fiable </a:t>
            </a:r>
            <a:r>
              <a:rPr lang="fr-FR" sz="1200" b="1" dirty="0">
                <a:latin typeface="Georgia" panose="02040502050405020303" pitchFamily="18" charset="0"/>
                <a:sym typeface="ITC Benguiat Bold"/>
              </a:rPr>
              <a:t>les performances  de plusieurs tests diagnostiques en l’absence d’un test de référence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dirty="0">
              <a:latin typeface="Georgia" panose="02040502050405020303" pitchFamily="18" charset="0"/>
              <a:sym typeface="ITC Benguiat Bold"/>
            </a:endParaRPr>
          </a:p>
          <a:p>
            <a:r>
              <a:rPr lang="fr-FR" sz="1200" kern="1200" dirty="0">
                <a:solidFill>
                  <a:schemeClr val="tx1"/>
                </a:solidFill>
                <a:effectLst/>
                <a:latin typeface="+mn-lt"/>
                <a:ea typeface="+mn-ea"/>
                <a:cs typeface="+mn-cs"/>
              </a:rPr>
              <a:t>Ce travail poursuit deux objectifs : premièrement, estimer la sensibilité et la spécificité des tests de la brucellose porcine par des modèles bayésiens à classes latentes ; deuxièmement, comparer différentes structures de modèles, en confrontant l'hypothèse d'indépendance à celle de dépendance conditionnelle entre tests. »</a:t>
            </a:r>
          </a:p>
          <a:p>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Durée : 45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4</a:t>
            </a:fld>
            <a:endParaRPr lang="fr-CM" dirty="0"/>
          </a:p>
        </p:txBody>
      </p:sp>
    </p:spTree>
    <p:extLst>
      <p:ext uri="{BB962C8B-B14F-4D97-AF65-F5344CB8AC3E}">
        <p14:creationId xmlns:p14="http://schemas.microsoft.com/office/powerpoint/2010/main" val="236581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Wingdings" panose="05000000000000000000" pitchFamily="2" charset="2"/>
              <a:buNone/>
            </a:pPr>
            <a:r>
              <a:rPr lang="fr-FR" dirty="0" err="1"/>
              <a:t>Rzppelons</a:t>
            </a:r>
            <a:r>
              <a:rPr lang="fr-FR" dirty="0"/>
              <a:t> d’abord c’est </a:t>
            </a:r>
            <a:r>
              <a:rPr lang="fr-FR" dirty="0" err="1"/>
              <a:t>quoin</a:t>
            </a:r>
            <a:r>
              <a:rPr lang="fr-FR" dirty="0"/>
              <a:t> l’approche bayésienne ? l’approche bayésienne combine l’information a priori avec les données observées via la vraisemblance, pour obtenir une estimation a posteriori.</a:t>
            </a:r>
          </a:p>
          <a:p>
            <a:pPr marL="0" indent="0">
              <a:buFont typeface="Wingdings" panose="05000000000000000000" pitchFamily="2" charset="2"/>
              <a:buNone/>
            </a:pPr>
            <a:r>
              <a:rPr lang="fr-FR" dirty="0"/>
              <a:t>Notre méthodologie bayésienne  à classe latente  est utilisée car le statut réel des individus (infecté ou non ) est une variable non observée.</a:t>
            </a: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Durée : 10 secondes</a:t>
            </a:r>
          </a:p>
          <a:p>
            <a:pPr marL="171450" indent="-171450">
              <a:buFont typeface="Wingdings" panose="05000000000000000000" pitchFamily="2" charset="2"/>
              <a:buChar char="q"/>
            </a:pPr>
            <a:endParaRPr lang="fr-CM"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5</a:t>
            </a:fld>
            <a:endParaRPr lang="fr-CM" dirty="0"/>
          </a:p>
        </p:txBody>
      </p:sp>
    </p:spTree>
    <p:extLst>
      <p:ext uri="{BB962C8B-B14F-4D97-AF65-F5344CB8AC3E}">
        <p14:creationId xmlns:p14="http://schemas.microsoft.com/office/powerpoint/2010/main" val="3135977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Wingdings" panose="05000000000000000000" pitchFamily="2" charset="2"/>
              <a:buNone/>
            </a:pPr>
            <a:endParaRPr lang="fr-FR" dirty="0"/>
          </a:p>
          <a:p>
            <a:r>
              <a:rPr lang="fr-FR" sz="1200" kern="1200" dirty="0">
                <a:solidFill>
                  <a:schemeClr val="tx1"/>
                </a:solidFill>
                <a:effectLst/>
                <a:latin typeface="+mn-lt"/>
                <a:ea typeface="+mn-ea"/>
                <a:cs typeface="+mn-cs"/>
              </a:rPr>
              <a:t>Pour répondre à cette problématique, deux stratégies de modélisation ont été mobilisées. La première, l'approche multinomiale, s'illustre avec le cas de deux tests appliqués aux mêmes animaux : chaque individu se classe dans l'une des quatre combinaisons de résultats possibles, et les effectifs observés dans ces quatre catégories suivent une loi multinomiale dont les probabilités dépendent de trois paramètres — la prévalence, la sensibilité et la spécificité de chaque test. Le modèle de base suppose ces deux tests conditionnellement indépendants sachant le statut infectieux. »</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 Cette hypothèse d'indépendance est cependant discutable lorsque les tests partagent un même mécanisme biologique. Nous l'avons donc relâchée en introduisant des termes de covariance entre les résultats des tests, séparément chez les animaux positifs et chez les négatifs, afin de capturer la corrélation résiduelle non expliquée par le seul statut infectieux. »</a:t>
            </a:r>
          </a:p>
          <a:p>
            <a:pPr marL="171450" indent="-171450">
              <a:buFont typeface="Wingdings" panose="05000000000000000000" pitchFamily="2" charset="2"/>
              <a:buChar char="q"/>
            </a:pPr>
            <a:endParaRPr lang="fr-CM" dirty="0"/>
          </a:p>
          <a:p>
            <a:pPr marL="171450" indent="-171450">
              <a:buFont typeface="Wingdings" panose="05000000000000000000" pitchFamily="2" charset="2"/>
              <a:buChar char="q"/>
            </a:pPr>
            <a:endParaRPr lang="fr-CM" dirty="0"/>
          </a:p>
          <a:p>
            <a:pPr marL="171450" indent="-171450">
              <a:buFont typeface="Wingdings" panose="05000000000000000000" pitchFamily="2" charset="2"/>
              <a:buChar char="q"/>
            </a:pPr>
            <a:r>
              <a:rPr lang="fr-CM" b="1" dirty="0"/>
              <a:t>Durée : 35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6</a:t>
            </a:fld>
            <a:endParaRPr lang="fr-CM" dirty="0"/>
          </a:p>
        </p:txBody>
      </p:sp>
    </p:spTree>
    <p:extLst>
      <p:ext uri="{BB962C8B-B14F-4D97-AF65-F5344CB8AC3E}">
        <p14:creationId xmlns:p14="http://schemas.microsoft.com/office/powerpoint/2010/main" val="3027733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analyser simultanément un nombre important de tests diagnostiques, nous avons utilisé une approche individuelle.</a:t>
            </a:r>
          </a:p>
          <a:p>
            <a:r>
              <a:rPr lang="fr-FR" dirty="0"/>
              <a:t>Contrairement à l'approche multinomiale qui travaille sur les effectifs de chaque combinaison, l'approche individuelle considère directement le résultat obtenu par chaque animal pour chacun des tests.</a:t>
            </a:r>
          </a:p>
          <a:p>
            <a:r>
              <a:rPr lang="fr-FR" dirty="0"/>
              <a:t>Chaque individu contribue donc directement à la vraisemblance du modèle.</a:t>
            </a:r>
          </a:p>
          <a:p>
            <a:r>
              <a:rPr lang="fr-FR" dirty="0"/>
              <a:t>Cette approche devient beaucoup plus flexible lorsque plusieurs tests sont analysés simultanément.</a:t>
            </a:r>
          </a:p>
          <a:p>
            <a:r>
              <a:rPr lang="fr-FR" dirty="0"/>
              <a:t>Comme précédemment, deux versions ont été étudiées :</a:t>
            </a:r>
          </a:p>
          <a:p>
            <a:r>
              <a:rPr lang="fr-FR" dirty="0"/>
              <a:t>un modèle supposant l'indépendance des tests,</a:t>
            </a:r>
          </a:p>
          <a:p>
            <a:r>
              <a:rPr lang="fr-FR" dirty="0"/>
              <a:t>et un second modèle intégrant des paramètres de covariance afin de prendre en compte leur dépendance conditionnelle.</a:t>
            </a:r>
          </a:p>
          <a:p>
            <a:endParaRPr lang="fr-FR" dirty="0"/>
          </a:p>
          <a:p>
            <a:r>
              <a:rPr lang="fr-FR" b="1" dirty="0"/>
              <a:t>Durée : 45 secondes</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7</a:t>
            </a:fld>
            <a:endParaRPr lang="fr-CM" dirty="0"/>
          </a:p>
        </p:txBody>
      </p:sp>
    </p:spTree>
    <p:extLst>
      <p:ext uri="{BB962C8B-B14F-4D97-AF65-F5344CB8AC3E}">
        <p14:creationId xmlns:p14="http://schemas.microsoft.com/office/powerpoint/2010/main" val="559334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cette étude, un jeu de données a été fourni par le labo de référence de l’UE pour les brucelloses animales, qui contenait 648 sérums collectés dans 8 pays entre 2005 et 2020. Ce jeu de données incluait 221 échantillons d’animaux de statut connu et 427 de statut inconnu. Chaque sérum a été testé avec les deux tests conventionnels : EAT et FC et 9 kits ELISA, notés de A à H.</a:t>
            </a:r>
          </a:p>
          <a:p>
            <a:r>
              <a:rPr lang="fr-FR" dirty="0"/>
              <a:t>Pour les analyses, nous avons utilisé différents types de priors: des priors informatifs issus d’une étude EFSA de 2009, en appliquant l’approche de moment </a:t>
            </a:r>
            <a:r>
              <a:rPr lang="fr-FR" dirty="0" err="1"/>
              <a:t>matching</a:t>
            </a:r>
            <a:r>
              <a:rPr lang="fr-FR" dirty="0"/>
              <a:t> pour déterminer les paramètres des </a:t>
            </a:r>
            <a:r>
              <a:rPr lang="fr-FR" dirty="0" err="1"/>
              <a:t>distribitions</a:t>
            </a:r>
            <a:r>
              <a:rPr lang="fr-FR" dirty="0"/>
              <a:t> beta . Nous avons également utilisé les données issues des animaux avec statut connu pour calculer de manière empirique les priors, en utilisant les nombres de vrais positifs et faux négatifs pour calcule les paramètres des distributions beta, ainsi que des priors non informatifs.</a:t>
            </a:r>
          </a:p>
          <a:p>
            <a:endParaRPr lang="fr-FR" dirty="0"/>
          </a:p>
          <a:p>
            <a:endParaRPr lang="fr-FR" dirty="0"/>
          </a:p>
          <a:p>
            <a:endParaRPr lang="fr-FR" dirty="0"/>
          </a:p>
          <a:p>
            <a:r>
              <a:rPr lang="fr-FR" b="1" dirty="0"/>
              <a:t>Durée : 45 secondes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200" b="0" i="0" dirty="0">
              <a:solidFill>
                <a:srgbClr val="0F1115"/>
              </a:solidFill>
              <a:effectLst/>
              <a:latin typeface="Georgia" panose="02040502050405020303" pitchFamily="18" charset="0"/>
              <a:sym typeface="ITC Benguiat Bold"/>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200" dirty="0">
              <a:solidFill>
                <a:srgbClr val="000000"/>
              </a:solidFill>
              <a:latin typeface="Georgia" panose="02040502050405020303" pitchFamily="18" charset="0"/>
              <a:sym typeface="ITC Benguiat Bold"/>
            </a:endParaRPr>
          </a:p>
          <a:p>
            <a:endParaRPr lang="fr-CM"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8</a:t>
            </a:fld>
            <a:endParaRPr lang="fr-CM"/>
          </a:p>
        </p:txBody>
      </p:sp>
    </p:spTree>
    <p:extLst>
      <p:ext uri="{BB962C8B-B14F-4D97-AF65-F5344CB8AC3E}">
        <p14:creationId xmlns:p14="http://schemas.microsoft.com/office/powerpoint/2010/main" val="148509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 L'analyse s'est déroulée en deux temps : les tests de confirmation, FC et ELISA Ar, traités par l'approche multinomiale ; les tests de première intention, EAT et ELISA A à H, traités par l'approche individuelle. L'estimation a été réalisée sous RJAGS, par échantillonneur de Gibbs, avec trois chaînes MCMC de 20 000 itérations. La convergence a été contrôlée par le facteur r-</a:t>
            </a:r>
            <a:r>
              <a:rPr lang="fr-FR" sz="1200" kern="1200" dirty="0" err="1">
                <a:solidFill>
                  <a:schemeClr val="tx1"/>
                </a:solidFill>
                <a:effectLst/>
                <a:latin typeface="+mn-lt"/>
                <a:ea typeface="+mn-ea"/>
                <a:cs typeface="+mn-cs"/>
              </a:rPr>
              <a:t>hat</a:t>
            </a:r>
            <a:r>
              <a:rPr lang="fr-FR" sz="1200" kern="1200" dirty="0">
                <a:solidFill>
                  <a:schemeClr val="tx1"/>
                </a:solidFill>
                <a:effectLst/>
                <a:latin typeface="+mn-lt"/>
                <a:ea typeface="+mn-ea"/>
                <a:cs typeface="+mn-cs"/>
              </a:rPr>
              <a:t> et l'inspection des </a:t>
            </a:r>
            <a:r>
              <a:rPr lang="fr-FR" sz="1200" kern="1200" dirty="0" err="1">
                <a:solidFill>
                  <a:schemeClr val="tx1"/>
                </a:solidFill>
                <a:effectLst/>
                <a:latin typeface="+mn-lt"/>
                <a:ea typeface="+mn-ea"/>
                <a:cs typeface="+mn-cs"/>
              </a:rPr>
              <a:t>traceplots</a:t>
            </a:r>
            <a:r>
              <a:rPr lang="fr-FR" sz="1200" kern="1200" dirty="0">
                <a:solidFill>
                  <a:schemeClr val="tx1"/>
                </a:solidFill>
                <a:effectLst/>
                <a:latin typeface="+mn-lt"/>
                <a:ea typeface="+mn-ea"/>
                <a:cs typeface="+mn-cs"/>
              </a:rPr>
              <a:t>, l'adéquation aux données par une p-value bayésienne proche de 0,5, et la pertinence de la dépendance conditionnelle par l'analyse des corrélations résiduelles. La comparaison des structures de modèles s'est appuyée sur le critère DIC. Face à des problèmes de convergence lorsque les neuf tests étaient introduits simultanément avec toutes leurs dépendances, nous avons adopté une stratégie progressive : deux sous-groupes de cinq tests, puis un modèle final réunissant les sept meilleurs tests avec leurs dépendances conditionnelles. »</a:t>
            </a:r>
          </a:p>
          <a:p>
            <a:endParaRPr lang="fr-CM" dirty="0"/>
          </a:p>
          <a:p>
            <a:r>
              <a:rPr lang="fr-CM" b="1" dirty="0"/>
              <a:t>Durée: 55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9</a:t>
            </a:fld>
            <a:endParaRPr lang="fr-CM"/>
          </a:p>
        </p:txBody>
      </p:sp>
    </p:spTree>
    <p:extLst>
      <p:ext uri="{BB962C8B-B14F-4D97-AF65-F5344CB8AC3E}">
        <p14:creationId xmlns:p14="http://schemas.microsoft.com/office/powerpoint/2010/main" val="2922728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Je vais vous présenter les résultats de l’analyse réalisée sur les deux tests de confirmation, basés sur les modèles avec priors empiriques ou issus de la littérature, en tenant compte de la dépendance entre les tests. </a:t>
            </a:r>
          </a:p>
          <a:p>
            <a:r>
              <a:rPr lang="fr-FR" sz="1200" kern="1200" dirty="0">
                <a:solidFill>
                  <a:schemeClr val="tx1"/>
                </a:solidFill>
                <a:effectLst/>
                <a:latin typeface="+mn-lt"/>
                <a:ea typeface="+mn-ea"/>
                <a:cs typeface="+mn-cs"/>
              </a:rPr>
              <a:t>On remarque que les 2 modèles aboutissent à un DIC quasi identique, donc à un ajustement global comparable aux données.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Ce qui nous intéresse dans cette analyse est les valeurs de spécificité, qui est la probabilité que le test soit négatif sachant que l’animal est sain, qui montrent une meilleure </a:t>
            </a:r>
            <a:r>
              <a:rPr lang="fr-FR" sz="1200" kern="1200" dirty="0" err="1">
                <a:solidFill>
                  <a:schemeClr val="tx1"/>
                </a:solidFill>
                <a:effectLst/>
                <a:latin typeface="+mn-lt"/>
                <a:ea typeface="+mn-ea"/>
                <a:cs typeface="+mn-cs"/>
              </a:rPr>
              <a:t>Sp</a:t>
            </a:r>
            <a:r>
              <a:rPr lang="fr-FR" sz="1200" kern="1200" dirty="0">
                <a:solidFill>
                  <a:schemeClr val="tx1"/>
                </a:solidFill>
                <a:effectLst/>
                <a:latin typeface="+mn-lt"/>
                <a:ea typeface="+mn-ea"/>
                <a:cs typeface="+mn-cs"/>
              </a:rPr>
              <a:t> pour le test Elisa Ar. </a:t>
            </a:r>
          </a:p>
          <a:p>
            <a:r>
              <a:rPr lang="fr-FR" sz="1200" kern="1200" dirty="0">
                <a:solidFill>
                  <a:schemeClr val="tx1"/>
                </a:solidFill>
                <a:effectLst/>
                <a:latin typeface="+mn-lt"/>
                <a:ea typeface="+mn-ea"/>
                <a:cs typeface="+mn-cs"/>
              </a:rPr>
              <a:t>On observe en revanche un écart net entre les deux modèles sur la sensibilité estimée de l'ELISA Ar, ce qui suggère une sensibilité du modèle au choix des priors. </a:t>
            </a:r>
          </a:p>
          <a:p>
            <a:r>
              <a:rPr lang="fr-FR" sz="1200" kern="1200" dirty="0">
                <a:solidFill>
                  <a:schemeClr val="tx1"/>
                </a:solidFill>
                <a:effectLst/>
                <a:latin typeface="+mn-lt"/>
                <a:ea typeface="+mn-ea"/>
                <a:cs typeface="+mn-cs"/>
              </a:rPr>
              <a:t>--------------------</a:t>
            </a:r>
          </a:p>
          <a:p>
            <a:r>
              <a:rPr lang="fr-FR" sz="1200" kern="1200" dirty="0">
                <a:solidFill>
                  <a:schemeClr val="tx1"/>
                </a:solidFill>
                <a:effectLst/>
                <a:latin typeface="+mn-lt"/>
                <a:ea typeface="+mn-ea"/>
                <a:cs typeface="+mn-cs"/>
              </a:rPr>
              <a:t>« Sur le couple FC / ELISA Ar, les modèles avec priors empiriques et avec priors issus de la littérature aboutissent à un DIC quasi identique, donc à un ajustement global comparable aux données. On observe en revanche un écart net entre les deux sur la sensibilité estimée de l'ELISA Ar et la spécificité estimée du FC — ce qui suggère une sensibilité du modèle au choix des priors sur ce couple de tests précis. Les deux tests affichent par ailleurs une spécificité supérieure à 98 %, traduisant une très bonne capacité à écarter correctement les animaux non infectés. »</a:t>
            </a:r>
          </a:p>
          <a:p>
            <a:endParaRPr lang="fr-CM" dirty="0"/>
          </a:p>
          <a:p>
            <a:r>
              <a:rPr lang="fr-CM" b="1" dirty="0"/>
              <a:t>Durée : 45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10</a:t>
            </a:fld>
            <a:endParaRPr lang="fr-CM"/>
          </a:p>
        </p:txBody>
      </p:sp>
    </p:spTree>
    <p:extLst>
      <p:ext uri="{BB962C8B-B14F-4D97-AF65-F5344CB8AC3E}">
        <p14:creationId xmlns:p14="http://schemas.microsoft.com/office/powerpoint/2010/main" val="1058418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 Sur le second volet, le modèle retenu — sept tests, priors empiriques, dépendance conditionnelle — donne un DIC de 1430,4, très proche de celui obtenu avec des priors faiblement informatifs issus de la littérature, 1432,4, avec des distributions </a:t>
            </a:r>
            <a:r>
              <a:rPr lang="fr-FR" sz="1200" kern="1200" dirty="0" err="1">
                <a:solidFill>
                  <a:schemeClr val="tx1"/>
                </a:solidFill>
                <a:effectLst/>
                <a:latin typeface="+mn-lt"/>
                <a:ea typeface="+mn-ea"/>
                <a:cs typeface="+mn-cs"/>
              </a:rPr>
              <a:t>posteriors</a:t>
            </a:r>
            <a:r>
              <a:rPr lang="fr-FR" sz="1200" kern="1200" dirty="0">
                <a:solidFill>
                  <a:schemeClr val="tx1"/>
                </a:solidFill>
                <a:effectLst/>
                <a:latin typeface="+mn-lt"/>
                <a:ea typeface="+mn-ea"/>
                <a:cs typeface="+mn-cs"/>
              </a:rPr>
              <a:t> similaires ; les autres jeux de priors testés dégradent nettement l'ajustement, avec un DIC supérieur à 1550. </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Sur le plan des performances, le kit ELISA G se distingue par une sensibilité exceptionnelle, autour de 99 %, mais avec une spécificité beaucoup plus faible, de l'ordre de 65 %. À l'inverse, les autres tests — EAT et kits B, C, D, F, H — présentent un profil plus équilibré, avec sensibilité et spécificité de l'ordre de 91 à 93 %. »</a:t>
            </a:r>
          </a:p>
          <a:p>
            <a:endParaRPr lang="fr-CM" dirty="0"/>
          </a:p>
          <a:p>
            <a:r>
              <a:rPr lang="fr-CM" b="1" dirty="0"/>
              <a:t>Durée : 60 secondes</a:t>
            </a:r>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11</a:t>
            </a:fld>
            <a:endParaRPr lang="fr-CM"/>
          </a:p>
        </p:txBody>
      </p:sp>
    </p:spTree>
    <p:extLst>
      <p:ext uri="{BB962C8B-B14F-4D97-AF65-F5344CB8AC3E}">
        <p14:creationId xmlns:p14="http://schemas.microsoft.com/office/powerpoint/2010/main" val="3728332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Wingdings" panose="05000000000000000000" pitchFamily="2" charset="2"/>
              <a:buChar char="q"/>
            </a:pPr>
            <a:r>
              <a:rPr lang="fr-FR" dirty="0"/>
              <a:t>Cette étude montre tout d'abord l'intérêt des modèles bayésiens à classes latentes lorsqu'il n'existe pas de test de référence parfait. L'utilisation conjointe d'informations issues de la littérature et de données empiriques a permis d'obtenir des estimations robustes.</a:t>
            </a:r>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dirty="0"/>
              <a:t>Le second enseignement concerne la dépendance conditionnelle entre les tests. Les différents kits ELISA reposent sur un même mécanisme immunologique. Il était donc attendu que certains résultats soient corrélés. L'introduction des paramètres de covariance a permis d'améliorer l'ajustement du modèle tout en conservant une interprétation biologique cohérente</a:t>
            </a:r>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dirty="0"/>
              <a:t>Concernant les performances diagnostiques, le kit G présente la meilleure sensibilité, ce qui en fait un excellent candidat pour le dépistage. En revanche, sa spécificité plus faible implique qu'il ne devrait pas être utilisé seul. À l'inverse, le kit Ar présente une excellente spécificité et semblent particulièrement adaptés comme tests de confirmation.</a:t>
            </a:r>
          </a:p>
          <a:p>
            <a:pPr marL="171450" indent="-171450">
              <a:buFont typeface="Wingdings" panose="05000000000000000000" pitchFamily="2" charset="2"/>
              <a:buChar char="q"/>
            </a:pPr>
            <a:endParaRPr lang="fr-FR" dirty="0"/>
          </a:p>
          <a:p>
            <a:pPr marL="0" indent="0">
              <a:buFont typeface="Wingdings" panose="05000000000000000000" pitchFamily="2" charset="2"/>
              <a:buNone/>
            </a:pPr>
            <a:r>
              <a:rPr lang="fr-FR" sz="1200" kern="1200" dirty="0">
                <a:solidFill>
                  <a:schemeClr val="tx1"/>
                </a:solidFill>
                <a:effectLst/>
                <a:latin typeface="+mn-lt"/>
                <a:ea typeface="+mn-ea"/>
                <a:cs typeface="+mn-cs"/>
              </a:rPr>
              <a:t>Les deux tests affichent par ailleurs une spécificité supérieure à 98 %, traduisant une très bonne capacité à écarter correctement les animaux non infectés. </a:t>
            </a:r>
            <a:endParaRPr lang="fr-FR" dirty="0"/>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b="1" dirty="0"/>
              <a:t>Durée : 50 secondes</a:t>
            </a:r>
          </a:p>
          <a:p>
            <a:pPr marL="171450" indent="-171450">
              <a:buFont typeface="Wingdings" panose="05000000000000000000" pitchFamily="2" charset="2"/>
              <a:buChar char="q"/>
            </a:pPr>
            <a:endParaRPr lang="fr-FR"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12</a:t>
            </a:fld>
            <a:endParaRPr lang="fr-CM"/>
          </a:p>
        </p:txBody>
      </p:sp>
    </p:spTree>
    <p:extLst>
      <p:ext uri="{BB962C8B-B14F-4D97-AF65-F5344CB8AC3E}">
        <p14:creationId xmlns:p14="http://schemas.microsoft.com/office/powerpoint/2010/main" val="1746270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 Ce travail comporte plusieurs limites : un effectif limité et réparti sur plusieurs pays, ne permettant pas de construire un modèle multi-populations ; une sensibilité des résultats au choix des priors, observée sur le couple Ar/FC ; une prévalence estimée élevée, autour de 40 %, qui ne reflète pas la situation épidémiologique réelle car l'échantillon est en partie issu d'élevages déjà infectés ; et des difficultés de convergence dès que l'on introduit simultanément les neuf tests avec leurs dépendances. En perspective, une évaluation de l'usage de ces tests en parallèle versus en série permettrait d'optimiser les stratégies de surveillance. »</a:t>
            </a:r>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b="1" dirty="0"/>
              <a:t>Durée : 40 secondes</a:t>
            </a:r>
          </a:p>
          <a:p>
            <a:pPr marL="171450" indent="-171450">
              <a:buFont typeface="Wingdings" panose="05000000000000000000" pitchFamily="2" charset="2"/>
              <a:buChar char="q"/>
            </a:pPr>
            <a:endParaRPr lang="fr-FR" b="1" dirty="0"/>
          </a:p>
          <a:p>
            <a:pPr marL="171450" indent="-171450">
              <a:buFont typeface="Wingdings" panose="05000000000000000000" pitchFamily="2" charset="2"/>
              <a:buChar char="q"/>
            </a:pPr>
            <a:endParaRPr lang="fr-FR" b="1"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13</a:t>
            </a:fld>
            <a:endParaRPr lang="fr-CM"/>
          </a:p>
        </p:txBody>
      </p:sp>
    </p:spTree>
    <p:extLst>
      <p:ext uri="{BB962C8B-B14F-4D97-AF65-F5344CB8AC3E}">
        <p14:creationId xmlns:p14="http://schemas.microsoft.com/office/powerpoint/2010/main" val="1511604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9CB3-4ADB-DD68-ACCB-A5DEAC693A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2026144-EA76-878D-4533-7A46CC6E9A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7DE2B8-9D7D-ABB9-C250-23487B8F912C}"/>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 Ce travail comporte plusieurs limites : un effectif limité et réparti sur plusieurs pays, ne permettant pas de construire un modèle multi-populations ; une sensibilité des résultats au choix des priors, observée sur le couple Ar/FC ; une prévalence estimée élevée, autour de 40 %, qui ne reflète pas la situation épidémiologique réelle car l'échantillon est en partie issu d'élevages déjà infectés ; et des difficultés de convergence dès que l'on introduit simultanément les neuf tests avec leurs dépendances. En perspective, une évaluation de l'usage de ces tests en parallèle versus en série permettrait d'optimiser les stratégies de surveillance. »</a:t>
            </a:r>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endParaRPr lang="fr-FR" dirty="0"/>
          </a:p>
          <a:p>
            <a:pPr marL="171450" indent="-171450">
              <a:buFont typeface="Wingdings" panose="05000000000000000000" pitchFamily="2" charset="2"/>
              <a:buChar char="q"/>
            </a:pPr>
            <a:r>
              <a:rPr lang="fr-FR" b="1" dirty="0"/>
              <a:t>Durée : 40 secondes</a:t>
            </a:r>
          </a:p>
          <a:p>
            <a:pPr marL="171450" indent="-171450">
              <a:buFont typeface="Wingdings" panose="05000000000000000000" pitchFamily="2" charset="2"/>
              <a:buChar char="q"/>
            </a:pPr>
            <a:endParaRPr lang="fr-FR" b="1" dirty="0"/>
          </a:p>
          <a:p>
            <a:pPr marL="171450" indent="-171450">
              <a:buFont typeface="Wingdings" panose="05000000000000000000" pitchFamily="2" charset="2"/>
              <a:buChar char="q"/>
            </a:pPr>
            <a:endParaRPr lang="fr-FR" b="1" dirty="0"/>
          </a:p>
        </p:txBody>
      </p:sp>
      <p:sp>
        <p:nvSpPr>
          <p:cNvPr id="4" name="Espace réservé du numéro de diapositive 3">
            <a:extLst>
              <a:ext uri="{FF2B5EF4-FFF2-40B4-BE49-F238E27FC236}">
                <a16:creationId xmlns:a16="http://schemas.microsoft.com/office/drawing/2014/main" id="{74C58A12-3B73-F352-A901-21489AEFC9E8}"/>
              </a:ext>
            </a:extLst>
          </p:cNvPr>
          <p:cNvSpPr>
            <a:spLocks noGrp="1"/>
          </p:cNvSpPr>
          <p:nvPr>
            <p:ph type="sldNum" sz="quarter" idx="5"/>
          </p:nvPr>
        </p:nvSpPr>
        <p:spPr/>
        <p:txBody>
          <a:bodyPr/>
          <a:lstStyle/>
          <a:p>
            <a:fld id="{1FE1918B-CFF2-4B77-8A90-3F460A29A542}" type="slidenum">
              <a:rPr lang="fr-CM" smtClean="0"/>
              <a:t>14</a:t>
            </a:fld>
            <a:endParaRPr lang="fr-CM"/>
          </a:p>
        </p:txBody>
      </p:sp>
    </p:spTree>
    <p:extLst>
      <p:ext uri="{BB962C8B-B14F-4D97-AF65-F5344CB8AC3E}">
        <p14:creationId xmlns:p14="http://schemas.microsoft.com/office/powerpoint/2010/main" val="1396340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stage a été une expérience très enrichissante. Il m’a permis d’approfondir mes connaissances en statistique bayésienne, en modélisation à classes latentes et en programmation sous R et JAGS, mais aussi de mieux cerner les enjeux de l’évaluation des tests diagnostiques en santé animale. Travailler à l’ANSES m’a donné l’occasion de collaborer avec des épidémiologistes, des biologistes et des vétérinaires, soulignant l’importance d’une approche pluridisciplinaire face à des problèmes sanitaires complexes.</a:t>
            </a: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tx1"/>
                </a:solidFill>
                <a:effectLst/>
                <a:latin typeface="+mn-lt"/>
                <a:ea typeface="+mn-ea"/>
                <a:cs typeface="+mn-cs"/>
              </a:rPr>
              <a:t>« </a:t>
            </a:r>
            <a:r>
              <a:rPr lang="fr-FR" sz="1200" kern="1200" dirty="0">
                <a:solidFill>
                  <a:schemeClr val="tx1"/>
                </a:solidFill>
                <a:effectLst/>
                <a:latin typeface="+mn-lt"/>
                <a:ea typeface="+mn-ea"/>
                <a:cs typeface="+mn-cs"/>
              </a:rPr>
              <a:t>Je vous remercie de votre attention et reste à votre disposition pour vos questions., suggestions et améliorations»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Durée : 10 secondes</a:t>
            </a:r>
          </a:p>
          <a:p>
            <a:endParaRPr lang="fr-FR" dirty="0"/>
          </a:p>
        </p:txBody>
      </p:sp>
      <p:sp>
        <p:nvSpPr>
          <p:cNvPr id="4" name="Espace réservé du numéro de diapositive 3"/>
          <p:cNvSpPr>
            <a:spLocks noGrp="1"/>
          </p:cNvSpPr>
          <p:nvPr>
            <p:ph type="sldNum" sz="quarter" idx="5"/>
          </p:nvPr>
        </p:nvSpPr>
        <p:spPr/>
        <p:txBody>
          <a:bodyPr/>
          <a:lstStyle/>
          <a:p>
            <a:fld id="{71CF4884-A87B-425D-84FE-10B48FE79002}" type="slidenum">
              <a:rPr lang="fr-FR" smtClean="0"/>
              <a:t>15</a:t>
            </a:fld>
            <a:endParaRPr lang="fr-FR"/>
          </a:p>
        </p:txBody>
      </p:sp>
    </p:spTree>
    <p:extLst>
      <p:ext uri="{BB962C8B-B14F-4D97-AF65-F5344CB8AC3E}">
        <p14:creationId xmlns:p14="http://schemas.microsoft.com/office/powerpoint/2010/main" val="663992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FE1918B-CFF2-4B77-8A90-3F460A29A542}" type="slidenum">
              <a:rPr lang="fr-CM" smtClean="0"/>
              <a:t>16</a:t>
            </a:fld>
            <a:endParaRPr lang="fr-CM" dirty="0"/>
          </a:p>
        </p:txBody>
      </p:sp>
    </p:spTree>
    <p:extLst>
      <p:ext uri="{BB962C8B-B14F-4D97-AF65-F5344CB8AC3E}">
        <p14:creationId xmlns:p14="http://schemas.microsoft.com/office/powerpoint/2010/main" val="1300208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8890BA-F263-40FB-9138-4087188B5DC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A724261-3C62-431E-9B2C-DA4F8E831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153287B-06CB-4070-9F6F-091875C746A8}"/>
              </a:ext>
            </a:extLst>
          </p:cNvPr>
          <p:cNvSpPr>
            <a:spLocks noGrp="1"/>
          </p:cNvSpPr>
          <p:nvPr>
            <p:ph type="dt" sz="half" idx="10"/>
          </p:nvPr>
        </p:nvSpPr>
        <p:spPr/>
        <p:txBody>
          <a:bodyPr/>
          <a:lstStyle/>
          <a:p>
            <a:fld id="{D5B0CE73-B596-4751-BBA6-0EBFB293AB7F}" type="datetime1">
              <a:rPr lang="fr-FR" smtClean="0"/>
              <a:t>02/09/2026</a:t>
            </a:fld>
            <a:endParaRPr lang="fr-FR"/>
          </a:p>
        </p:txBody>
      </p:sp>
      <p:sp>
        <p:nvSpPr>
          <p:cNvPr id="5" name="Espace réservé du pied de page 4">
            <a:extLst>
              <a:ext uri="{FF2B5EF4-FFF2-40B4-BE49-F238E27FC236}">
                <a16:creationId xmlns:a16="http://schemas.microsoft.com/office/drawing/2014/main" id="{9A30449A-DC81-477B-9C66-C270B2E7FA6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F1375D1-E17E-4E59-A6EA-858EA5F84A5A}"/>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221805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64DEA4-4E38-4ECD-ADC8-B641EFDE947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0D64D78-9E1C-4931-9973-63E60247A83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779C649-880C-44A3-904D-EBF79376EFFB}"/>
              </a:ext>
            </a:extLst>
          </p:cNvPr>
          <p:cNvSpPr>
            <a:spLocks noGrp="1"/>
          </p:cNvSpPr>
          <p:nvPr>
            <p:ph type="dt" sz="half" idx="10"/>
          </p:nvPr>
        </p:nvSpPr>
        <p:spPr/>
        <p:txBody>
          <a:bodyPr/>
          <a:lstStyle/>
          <a:p>
            <a:fld id="{0F8D5FDB-623B-40CE-BB1A-D89141A51268}" type="datetime1">
              <a:rPr lang="fr-FR" smtClean="0"/>
              <a:t>02/09/2026</a:t>
            </a:fld>
            <a:endParaRPr lang="fr-FR"/>
          </a:p>
        </p:txBody>
      </p:sp>
      <p:sp>
        <p:nvSpPr>
          <p:cNvPr id="5" name="Espace réservé du pied de page 4">
            <a:extLst>
              <a:ext uri="{FF2B5EF4-FFF2-40B4-BE49-F238E27FC236}">
                <a16:creationId xmlns:a16="http://schemas.microsoft.com/office/drawing/2014/main" id="{E082C7D7-C1B3-4EA4-B11B-DACCF1D4CCA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99843A-4EA9-4939-83D2-76DC33B325B0}"/>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2708066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237E79-B048-4A5B-AD24-75152C58CBE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88BC76A-B9F8-4FEA-9760-E1E22FA7E9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C3AC451-B2F8-4F6F-ADD5-80B36677D79F}"/>
              </a:ext>
            </a:extLst>
          </p:cNvPr>
          <p:cNvSpPr>
            <a:spLocks noGrp="1"/>
          </p:cNvSpPr>
          <p:nvPr>
            <p:ph type="dt" sz="half" idx="10"/>
          </p:nvPr>
        </p:nvSpPr>
        <p:spPr/>
        <p:txBody>
          <a:bodyPr/>
          <a:lstStyle/>
          <a:p>
            <a:fld id="{66B6099A-38C3-4CF0-B731-9B080E4F28FD}" type="datetime1">
              <a:rPr lang="fr-FR" smtClean="0"/>
              <a:t>02/09/2026</a:t>
            </a:fld>
            <a:endParaRPr lang="fr-FR"/>
          </a:p>
        </p:txBody>
      </p:sp>
      <p:sp>
        <p:nvSpPr>
          <p:cNvPr id="5" name="Espace réservé du pied de page 4">
            <a:extLst>
              <a:ext uri="{FF2B5EF4-FFF2-40B4-BE49-F238E27FC236}">
                <a16:creationId xmlns:a16="http://schemas.microsoft.com/office/drawing/2014/main" id="{F69B9930-1049-4A1F-990E-7E0AB223D8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8946008-C277-495F-8F73-0FAB943AF6B2}"/>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195113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E6296-D1FD-4DF7-B211-B4E14E2B847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98FEC9B-3F50-4DAD-AF03-65508D8CB3C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32CAF75-3EF2-4CDD-9F7A-3C0B866E161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930731D-68AD-49B4-9D27-07ACA8144276}"/>
              </a:ext>
            </a:extLst>
          </p:cNvPr>
          <p:cNvSpPr>
            <a:spLocks noGrp="1"/>
          </p:cNvSpPr>
          <p:nvPr>
            <p:ph type="dt" sz="half" idx="10"/>
          </p:nvPr>
        </p:nvSpPr>
        <p:spPr/>
        <p:txBody>
          <a:bodyPr/>
          <a:lstStyle/>
          <a:p>
            <a:fld id="{BF76F559-52A7-4229-BA38-A7B9BD8FF17B}" type="datetime1">
              <a:rPr lang="fr-FR" smtClean="0"/>
              <a:t>02/09/2026</a:t>
            </a:fld>
            <a:endParaRPr lang="fr-FR"/>
          </a:p>
        </p:txBody>
      </p:sp>
      <p:sp>
        <p:nvSpPr>
          <p:cNvPr id="6" name="Espace réservé du pied de page 5">
            <a:extLst>
              <a:ext uri="{FF2B5EF4-FFF2-40B4-BE49-F238E27FC236}">
                <a16:creationId xmlns:a16="http://schemas.microsoft.com/office/drawing/2014/main" id="{D0074F07-0F55-411A-9A56-73D292A6A7B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04E847A-EE68-4B56-802A-ADC470B04003}"/>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256539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0C49A-E6ED-498F-ADE9-CF7D7280D8C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8581DB5-F420-4862-9BCC-1C3751D116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1841D47-77DB-4B0F-8E25-6F13EB0E1CB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AEC1ADF-CB22-439D-A48B-64C58F132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FAD0717-F53A-48E3-BE15-AD0AAB06ED2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50C6E16-74F5-4C51-A5C2-F65D7FF92D08}"/>
              </a:ext>
            </a:extLst>
          </p:cNvPr>
          <p:cNvSpPr>
            <a:spLocks noGrp="1"/>
          </p:cNvSpPr>
          <p:nvPr>
            <p:ph type="dt" sz="half" idx="10"/>
          </p:nvPr>
        </p:nvSpPr>
        <p:spPr/>
        <p:txBody>
          <a:bodyPr/>
          <a:lstStyle/>
          <a:p>
            <a:fld id="{78E72495-E2DF-46C4-A834-E15C7D92E163}" type="datetime1">
              <a:rPr lang="fr-FR" smtClean="0"/>
              <a:t>02/09/2026</a:t>
            </a:fld>
            <a:endParaRPr lang="fr-FR"/>
          </a:p>
        </p:txBody>
      </p:sp>
      <p:sp>
        <p:nvSpPr>
          <p:cNvPr id="8" name="Espace réservé du pied de page 7">
            <a:extLst>
              <a:ext uri="{FF2B5EF4-FFF2-40B4-BE49-F238E27FC236}">
                <a16:creationId xmlns:a16="http://schemas.microsoft.com/office/drawing/2014/main" id="{7A30ABC1-FDB9-430B-9CC0-CBC6E10A31B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606B12B-3272-4CD4-B9B2-56F41B9DCC94}"/>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1493726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F2A61D-F7EC-45CF-8583-F76E7395C22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18D4C08-41AC-406C-8F99-BCFAE4ABEA73}"/>
              </a:ext>
            </a:extLst>
          </p:cNvPr>
          <p:cNvSpPr>
            <a:spLocks noGrp="1"/>
          </p:cNvSpPr>
          <p:nvPr>
            <p:ph type="dt" sz="half" idx="10"/>
          </p:nvPr>
        </p:nvSpPr>
        <p:spPr/>
        <p:txBody>
          <a:bodyPr/>
          <a:lstStyle/>
          <a:p>
            <a:fld id="{D46F078E-1BBB-4A8D-9970-AEFC03F9732D}" type="datetime1">
              <a:rPr lang="fr-FR" smtClean="0"/>
              <a:t>02/09/2026</a:t>
            </a:fld>
            <a:endParaRPr lang="fr-FR"/>
          </a:p>
        </p:txBody>
      </p:sp>
      <p:sp>
        <p:nvSpPr>
          <p:cNvPr id="4" name="Espace réservé du pied de page 3">
            <a:extLst>
              <a:ext uri="{FF2B5EF4-FFF2-40B4-BE49-F238E27FC236}">
                <a16:creationId xmlns:a16="http://schemas.microsoft.com/office/drawing/2014/main" id="{FED72DA8-8813-4ADA-9F4C-4FB0DC61D8A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39706A4-BCC9-494F-9918-5A0C9F9942DA}"/>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2933499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3D854FE-0285-465F-806E-D323F6D45C83}"/>
              </a:ext>
            </a:extLst>
          </p:cNvPr>
          <p:cNvSpPr>
            <a:spLocks noGrp="1"/>
          </p:cNvSpPr>
          <p:nvPr>
            <p:ph type="dt" sz="half" idx="10"/>
          </p:nvPr>
        </p:nvSpPr>
        <p:spPr/>
        <p:txBody>
          <a:bodyPr/>
          <a:lstStyle/>
          <a:p>
            <a:fld id="{27804CC6-0980-4473-89C5-202DC8965010}" type="datetime1">
              <a:rPr lang="fr-FR" smtClean="0"/>
              <a:t>02/09/2026</a:t>
            </a:fld>
            <a:endParaRPr lang="fr-FR"/>
          </a:p>
        </p:txBody>
      </p:sp>
      <p:sp>
        <p:nvSpPr>
          <p:cNvPr id="3" name="Espace réservé du pied de page 2">
            <a:extLst>
              <a:ext uri="{FF2B5EF4-FFF2-40B4-BE49-F238E27FC236}">
                <a16:creationId xmlns:a16="http://schemas.microsoft.com/office/drawing/2014/main" id="{059D9B34-521F-4868-A66D-366E23F32DD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E236F0-85F2-469D-90A3-B474D9526650}"/>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174731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95D543-8028-430C-8FFB-7290992C1DD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A67624A-CAF5-40C4-8893-80472A55E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5A84AC0-C13C-4BF4-8FAA-59BDF1E50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D67FAF-2CB7-40F4-B6BA-07E344EAEF37}"/>
              </a:ext>
            </a:extLst>
          </p:cNvPr>
          <p:cNvSpPr>
            <a:spLocks noGrp="1"/>
          </p:cNvSpPr>
          <p:nvPr>
            <p:ph type="dt" sz="half" idx="10"/>
          </p:nvPr>
        </p:nvSpPr>
        <p:spPr/>
        <p:txBody>
          <a:bodyPr/>
          <a:lstStyle/>
          <a:p>
            <a:fld id="{37457099-AEE4-4832-903A-A587D2FA296A}" type="datetime1">
              <a:rPr lang="fr-FR" smtClean="0"/>
              <a:t>02/09/2026</a:t>
            </a:fld>
            <a:endParaRPr lang="fr-FR"/>
          </a:p>
        </p:txBody>
      </p:sp>
      <p:sp>
        <p:nvSpPr>
          <p:cNvPr id="6" name="Espace réservé du pied de page 5">
            <a:extLst>
              <a:ext uri="{FF2B5EF4-FFF2-40B4-BE49-F238E27FC236}">
                <a16:creationId xmlns:a16="http://schemas.microsoft.com/office/drawing/2014/main" id="{634B50F5-1234-4461-B09E-774464A1BFD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C96E8D3-3297-42F6-AFE8-ACF4AC9DBEA5}"/>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349642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92F18C-C13B-4CD0-84AF-EFBF69C7859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FD8DFF1F-F5B3-42CF-BCE9-FFD0C2B2F3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1A2066E-92F0-416E-8B98-F8809E8C7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11FA8CE-1819-4A11-AA13-564FE7A439DF}"/>
              </a:ext>
            </a:extLst>
          </p:cNvPr>
          <p:cNvSpPr>
            <a:spLocks noGrp="1"/>
          </p:cNvSpPr>
          <p:nvPr>
            <p:ph type="dt" sz="half" idx="10"/>
          </p:nvPr>
        </p:nvSpPr>
        <p:spPr/>
        <p:txBody>
          <a:bodyPr/>
          <a:lstStyle/>
          <a:p>
            <a:fld id="{2C245EC3-B6E3-4053-9787-534A3BA241D1}" type="datetime1">
              <a:rPr lang="fr-FR" smtClean="0"/>
              <a:t>02/09/2026</a:t>
            </a:fld>
            <a:endParaRPr lang="fr-FR"/>
          </a:p>
        </p:txBody>
      </p:sp>
      <p:sp>
        <p:nvSpPr>
          <p:cNvPr id="6" name="Espace réservé du pied de page 5">
            <a:extLst>
              <a:ext uri="{FF2B5EF4-FFF2-40B4-BE49-F238E27FC236}">
                <a16:creationId xmlns:a16="http://schemas.microsoft.com/office/drawing/2014/main" id="{E56466B9-99C9-46A4-86D2-6381AAD0F03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6F8FE4F-01B1-48D7-AB29-CD47989EF860}"/>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3370907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97773-D425-414F-9FC7-7750755F44A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37E0156-DC85-47E2-87FF-50784DBA12F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564347-56F2-4EB1-A948-08B78ACD94CF}"/>
              </a:ext>
            </a:extLst>
          </p:cNvPr>
          <p:cNvSpPr>
            <a:spLocks noGrp="1"/>
          </p:cNvSpPr>
          <p:nvPr>
            <p:ph type="dt" sz="half" idx="10"/>
          </p:nvPr>
        </p:nvSpPr>
        <p:spPr/>
        <p:txBody>
          <a:bodyPr/>
          <a:lstStyle/>
          <a:p>
            <a:fld id="{448FC30D-3514-4AAE-BAD2-49B3376B24B7}" type="datetime1">
              <a:rPr lang="fr-FR" smtClean="0"/>
              <a:t>02/09/2026</a:t>
            </a:fld>
            <a:endParaRPr lang="fr-FR"/>
          </a:p>
        </p:txBody>
      </p:sp>
      <p:sp>
        <p:nvSpPr>
          <p:cNvPr id="5" name="Espace réservé du pied de page 4">
            <a:extLst>
              <a:ext uri="{FF2B5EF4-FFF2-40B4-BE49-F238E27FC236}">
                <a16:creationId xmlns:a16="http://schemas.microsoft.com/office/drawing/2014/main" id="{7C21FB64-88CB-4108-B070-32D2F24D830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4600D1-B5A2-4C18-B735-5F9603F6620F}"/>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10875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2C2003F-3B38-48F3-B299-53065BB50E3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D711F52-5BD9-42DD-9723-73B23A493A3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6C2A907-2984-4A12-AEAD-403A748BC201}"/>
              </a:ext>
            </a:extLst>
          </p:cNvPr>
          <p:cNvSpPr>
            <a:spLocks noGrp="1"/>
          </p:cNvSpPr>
          <p:nvPr>
            <p:ph type="dt" sz="half" idx="10"/>
          </p:nvPr>
        </p:nvSpPr>
        <p:spPr/>
        <p:txBody>
          <a:bodyPr/>
          <a:lstStyle/>
          <a:p>
            <a:fld id="{981FD3CF-F309-4C9A-9CDD-7F976F8E7C40}" type="datetime1">
              <a:rPr lang="fr-FR" smtClean="0"/>
              <a:t>02/09/2026</a:t>
            </a:fld>
            <a:endParaRPr lang="fr-FR"/>
          </a:p>
        </p:txBody>
      </p:sp>
      <p:sp>
        <p:nvSpPr>
          <p:cNvPr id="5" name="Espace réservé du pied de page 4">
            <a:extLst>
              <a:ext uri="{FF2B5EF4-FFF2-40B4-BE49-F238E27FC236}">
                <a16:creationId xmlns:a16="http://schemas.microsoft.com/office/drawing/2014/main" id="{B0A3F037-614B-4F8B-80B6-09C73804F2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58E4FE0-9DFC-43DD-90EA-59C43E3E5221}"/>
              </a:ext>
            </a:extLst>
          </p:cNvPr>
          <p:cNvSpPr>
            <a:spLocks noGrp="1"/>
          </p:cNvSpPr>
          <p:nvPr>
            <p:ph type="sldNum" sz="quarter" idx="12"/>
          </p:nvPr>
        </p:nvSpPr>
        <p:spPr/>
        <p:txBody>
          <a:bodyPr/>
          <a:lstStyle/>
          <a:p>
            <a:fld id="{453A7091-84B4-4BFC-9E12-327F477830A7}" type="slidenum">
              <a:rPr lang="fr-FR" smtClean="0"/>
              <a:t>‹N°›</a:t>
            </a:fld>
            <a:endParaRPr lang="fr-FR"/>
          </a:p>
        </p:txBody>
      </p:sp>
    </p:spTree>
    <p:extLst>
      <p:ext uri="{BB962C8B-B14F-4D97-AF65-F5344CB8AC3E}">
        <p14:creationId xmlns:p14="http://schemas.microsoft.com/office/powerpoint/2010/main" val="284489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E9BD108-E7A1-4316-92A6-648F99EDC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BD80FAF-72BB-4C6A-A2FB-C6F2461A1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096221-D192-42F7-A938-A07A8321A3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7DD20-5EA6-43AC-9BE2-01C9EAA8CDF5}" type="datetime1">
              <a:rPr lang="fr-FR" smtClean="0"/>
              <a:t>02/09/2026</a:t>
            </a:fld>
            <a:endParaRPr lang="fr-FR"/>
          </a:p>
        </p:txBody>
      </p:sp>
      <p:sp>
        <p:nvSpPr>
          <p:cNvPr id="5" name="Espace réservé du pied de page 4">
            <a:extLst>
              <a:ext uri="{FF2B5EF4-FFF2-40B4-BE49-F238E27FC236}">
                <a16:creationId xmlns:a16="http://schemas.microsoft.com/office/drawing/2014/main" id="{796DA678-BEFB-47B2-8682-30DCF99717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2B4DEF7-FED1-4273-8A58-528D93CFAD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3A7091-84B4-4BFC-9E12-327F477830A7}" type="slidenum">
              <a:rPr lang="fr-FR" smtClean="0"/>
              <a:t>‹N°›</a:t>
            </a:fld>
            <a:endParaRPr lang="fr-FR"/>
          </a:p>
        </p:txBody>
      </p:sp>
    </p:spTree>
    <p:extLst>
      <p:ext uri="{BB962C8B-B14F-4D97-AF65-F5344CB8AC3E}">
        <p14:creationId xmlns:p14="http://schemas.microsoft.com/office/powerpoint/2010/main" val="1263618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svg"/><Relationship Id="rId7" Type="http://schemas.openxmlformats.org/officeDocument/2006/relationships/hyperlink" Target="https://creativecommons.org/licenses/by-nc/3.0/"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freepngimg.com/png/14614-presentation-download-png" TargetMode="External"/><Relationship Id="rId5" Type="http://schemas.openxmlformats.org/officeDocument/2006/relationships/image" Target="../media/image8.pn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creativecommons.org/licenses/by-nc/3.0/"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freepngimg.com/png/14614-presentation-download-png" TargetMode="External"/><Relationship Id="rId5" Type="http://schemas.openxmlformats.org/officeDocument/2006/relationships/image" Target="../media/image8.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1.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3.svg"/><Relationship Id="rId4" Type="http://schemas.openxmlformats.org/officeDocument/2006/relationships/image" Target="../media/image5.sv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1.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sv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 29">
            <a:extLst>
              <a:ext uri="{FF2B5EF4-FFF2-40B4-BE49-F238E27FC236}">
                <a16:creationId xmlns:a16="http://schemas.microsoft.com/office/drawing/2014/main" id="{23AD15AA-1166-4FAC-B70C-825C429FB2A0}"/>
              </a:ext>
            </a:extLst>
          </p:cNvPr>
          <p:cNvPicPr>
            <a:picLocks noChangeAspect="1"/>
          </p:cNvPicPr>
          <p:nvPr/>
        </p:nvPicPr>
        <p:blipFill>
          <a:blip r:embed="rId3"/>
          <a:stretch>
            <a:fillRect/>
          </a:stretch>
        </p:blipFill>
        <p:spPr>
          <a:xfrm rot="1995794">
            <a:off x="7092308" y="766534"/>
            <a:ext cx="3508136" cy="5014789"/>
          </a:xfrm>
          <a:prstGeom prst="rect">
            <a:avLst/>
          </a:prstGeom>
        </p:spPr>
      </p:pic>
      <p:sp>
        <p:nvSpPr>
          <p:cNvPr id="15" name="Freeform 15"/>
          <p:cNvSpPr/>
          <p:nvPr/>
        </p:nvSpPr>
        <p:spPr>
          <a:xfrm rot="10733564" flipH="1">
            <a:off x="-189473" y="-710981"/>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grpSp>
        <p:nvGrpSpPr>
          <p:cNvPr id="2" name="Group 2"/>
          <p:cNvGrpSpPr/>
          <p:nvPr/>
        </p:nvGrpSpPr>
        <p:grpSpPr>
          <a:xfrm>
            <a:off x="-856552" y="6608257"/>
            <a:ext cx="9367846" cy="984405"/>
            <a:chOff x="0" y="0"/>
            <a:chExt cx="3700877" cy="388901"/>
          </a:xfrm>
        </p:grpSpPr>
        <p:sp>
          <p:nvSpPr>
            <p:cNvPr id="3" name="Freeform 3"/>
            <p:cNvSpPr/>
            <p:nvPr/>
          </p:nvSpPr>
          <p:spPr>
            <a:xfrm>
              <a:off x="0" y="0"/>
              <a:ext cx="3700877" cy="388901"/>
            </a:xfrm>
            <a:custGeom>
              <a:avLst/>
              <a:gdLst/>
              <a:ahLst/>
              <a:cxnLst/>
              <a:rect l="l" t="t" r="r" b="b"/>
              <a:pathLst>
                <a:path w="3700877" h="388901">
                  <a:moveTo>
                    <a:pt x="0" y="0"/>
                  </a:moveTo>
                  <a:lnTo>
                    <a:pt x="3700877" y="0"/>
                  </a:lnTo>
                  <a:lnTo>
                    <a:pt x="3700877" y="388901"/>
                  </a:lnTo>
                  <a:lnTo>
                    <a:pt x="0" y="388901"/>
                  </a:lnTo>
                  <a:close/>
                </a:path>
              </a:pathLst>
            </a:custGeom>
            <a:solidFill>
              <a:srgbClr val="012F7F"/>
            </a:solidFill>
          </p:spPr>
          <p:txBody>
            <a:bodyPr/>
            <a:lstStyle/>
            <a:p>
              <a:endParaRPr lang="fr-CM" sz="1200" dirty="0">
                <a:latin typeface="Arial" panose="020B0604020202020204" pitchFamily="34" charset="0"/>
                <a:cs typeface="Arial" panose="020B0604020202020204" pitchFamily="34" charset="0"/>
              </a:endParaRPr>
            </a:p>
          </p:txBody>
        </p:sp>
        <p:sp>
          <p:nvSpPr>
            <p:cNvPr id="4" name="TextBox 4"/>
            <p:cNvSpPr txBox="1"/>
            <p:nvPr/>
          </p:nvSpPr>
          <p:spPr>
            <a:xfrm>
              <a:off x="0" y="-38100"/>
              <a:ext cx="3700877" cy="427001"/>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grpSp>
        <p:nvGrpSpPr>
          <p:cNvPr id="5" name="Group 5"/>
          <p:cNvGrpSpPr/>
          <p:nvPr/>
        </p:nvGrpSpPr>
        <p:grpSpPr>
          <a:xfrm>
            <a:off x="2732354" y="-761957"/>
            <a:ext cx="10120046" cy="1037172"/>
            <a:chOff x="0" y="0"/>
            <a:chExt cx="3700877" cy="388901"/>
          </a:xfrm>
        </p:grpSpPr>
        <p:sp>
          <p:nvSpPr>
            <p:cNvPr id="6" name="Freeform 6"/>
            <p:cNvSpPr/>
            <p:nvPr/>
          </p:nvSpPr>
          <p:spPr>
            <a:xfrm>
              <a:off x="0" y="0"/>
              <a:ext cx="3700877" cy="388901"/>
            </a:xfrm>
            <a:custGeom>
              <a:avLst/>
              <a:gdLst/>
              <a:ahLst/>
              <a:cxnLst/>
              <a:rect l="l" t="t" r="r" b="b"/>
              <a:pathLst>
                <a:path w="3700877" h="388901">
                  <a:moveTo>
                    <a:pt x="0" y="0"/>
                  </a:moveTo>
                  <a:lnTo>
                    <a:pt x="3700877" y="0"/>
                  </a:lnTo>
                  <a:lnTo>
                    <a:pt x="3700877" y="388901"/>
                  </a:lnTo>
                  <a:lnTo>
                    <a:pt x="0" y="388901"/>
                  </a:lnTo>
                  <a:close/>
                </a:path>
              </a:pathLst>
            </a:custGeom>
            <a:solidFill>
              <a:srgbClr val="E78C3F"/>
            </a:solidFill>
          </p:spPr>
          <p:txBody>
            <a:bodyPr/>
            <a:lstStyle/>
            <a:p>
              <a:endParaRPr lang="fr-CM" sz="1200" dirty="0">
                <a:latin typeface="Arial" panose="020B0604020202020204" pitchFamily="34" charset="0"/>
                <a:cs typeface="Arial" panose="020B0604020202020204" pitchFamily="34" charset="0"/>
              </a:endParaRPr>
            </a:p>
          </p:txBody>
        </p:sp>
        <p:sp>
          <p:nvSpPr>
            <p:cNvPr id="7" name="TextBox 7"/>
            <p:cNvSpPr txBox="1"/>
            <p:nvPr/>
          </p:nvSpPr>
          <p:spPr>
            <a:xfrm>
              <a:off x="0" y="-38100"/>
              <a:ext cx="3700877" cy="427001"/>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sp>
        <p:nvSpPr>
          <p:cNvPr id="9" name="Freeform 9"/>
          <p:cNvSpPr/>
          <p:nvPr/>
        </p:nvSpPr>
        <p:spPr>
          <a:xfrm>
            <a:off x="9867561" y="-431800"/>
            <a:ext cx="3207804" cy="3219511"/>
          </a:xfrm>
          <a:custGeom>
            <a:avLst/>
            <a:gdLst/>
            <a:ahLst/>
            <a:cxnLst/>
            <a:rect l="l" t="t" r="r" b="b"/>
            <a:pathLst>
              <a:path w="4811706" h="4829267">
                <a:moveTo>
                  <a:pt x="0" y="0"/>
                </a:moveTo>
                <a:lnTo>
                  <a:pt x="4811706" y="0"/>
                </a:lnTo>
                <a:lnTo>
                  <a:pt x="4811706" y="4829266"/>
                </a:lnTo>
                <a:lnTo>
                  <a:pt x="0" y="4829266"/>
                </a:lnTo>
                <a:lnTo>
                  <a:pt x="0" y="0"/>
                </a:lnTo>
                <a:close/>
              </a:path>
            </a:pathLst>
          </a:custGeom>
          <a:blipFill>
            <a:blip r:embed="rId5"/>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11" name="TextBox 11"/>
          <p:cNvSpPr txBox="1"/>
          <p:nvPr/>
        </p:nvSpPr>
        <p:spPr>
          <a:xfrm>
            <a:off x="1426989" y="3033317"/>
            <a:ext cx="5067131" cy="1501612"/>
          </a:xfrm>
          <a:prstGeom prst="rect">
            <a:avLst/>
          </a:prstGeom>
        </p:spPr>
        <p:txBody>
          <a:bodyPr spcFirstLastPara="1" lIns="0" tIns="0" rIns="0" bIns="0" numCol="1" rtlCol="0" anchor="t">
            <a:prstTxWarp prst="textArchUp">
              <a:avLst/>
            </a:prstTxWarp>
            <a:spAutoFit/>
          </a:bodyPr>
          <a:lstStyle/>
          <a:p>
            <a:pPr algn="ctr">
              <a:lnSpc>
                <a:spcPts val="7318"/>
              </a:lnSpc>
            </a:pPr>
            <a:r>
              <a:rPr lang="en-US" sz="6000" spc="-207" dirty="0">
                <a:solidFill>
                  <a:srgbClr val="000000"/>
                </a:solidFill>
                <a:latin typeface="Arial" panose="020B0604020202020204" pitchFamily="34" charset="0"/>
                <a:ea typeface="ITC Benguiat Bold"/>
                <a:cs typeface="Arial" panose="020B0604020202020204" pitchFamily="34" charset="0"/>
                <a:sym typeface="ITC Benguiat Bold"/>
              </a:rPr>
              <a:t>BIENVENUE</a:t>
            </a:r>
            <a:endParaRPr lang="en-US" sz="6904" spc="-207" dirty="0">
              <a:solidFill>
                <a:srgbClr val="000000"/>
              </a:solidFill>
              <a:latin typeface="Arial" panose="020B0604020202020204" pitchFamily="34" charset="0"/>
              <a:ea typeface="ITC Benguiat Bold"/>
              <a:cs typeface="Arial" panose="020B0604020202020204" pitchFamily="34" charset="0"/>
              <a:sym typeface="ITC Benguiat Bold"/>
            </a:endParaRPr>
          </a:p>
        </p:txBody>
      </p:sp>
      <p:sp>
        <p:nvSpPr>
          <p:cNvPr id="12" name="TextBox 12"/>
          <p:cNvSpPr txBox="1"/>
          <p:nvPr/>
        </p:nvSpPr>
        <p:spPr>
          <a:xfrm>
            <a:off x="1978666" y="3517676"/>
            <a:ext cx="4688651" cy="456985"/>
          </a:xfrm>
          <a:prstGeom prst="rect">
            <a:avLst/>
          </a:prstGeom>
        </p:spPr>
        <p:txBody>
          <a:bodyPr lIns="0" tIns="0" rIns="0" bIns="0" rtlCol="0" anchor="t">
            <a:spAutoFit/>
          </a:bodyPr>
          <a:lstStyle/>
          <a:p>
            <a:pPr>
              <a:lnSpc>
                <a:spcPts val="3760"/>
              </a:lnSpc>
            </a:pPr>
            <a:r>
              <a:rPr lang="en-US" sz="2800" dirty="0">
                <a:solidFill>
                  <a:srgbClr val="000000"/>
                </a:solidFill>
                <a:latin typeface="Arial" panose="020B0604020202020204" pitchFamily="34" charset="0"/>
                <a:ea typeface="ITC Benguiat Bold"/>
                <a:cs typeface="Arial" panose="020B0604020202020204" pitchFamily="34" charset="0"/>
                <a:sym typeface="ITC Benguiat Bold"/>
              </a:rPr>
              <a:t>A LA SOUTENANCE DE</a:t>
            </a:r>
          </a:p>
        </p:txBody>
      </p:sp>
      <p:sp>
        <p:nvSpPr>
          <p:cNvPr id="13" name="TextBox 13"/>
          <p:cNvSpPr txBox="1"/>
          <p:nvPr/>
        </p:nvSpPr>
        <p:spPr>
          <a:xfrm>
            <a:off x="602346" y="4240086"/>
            <a:ext cx="6778398" cy="505203"/>
          </a:xfrm>
          <a:prstGeom prst="rect">
            <a:avLst/>
          </a:prstGeom>
        </p:spPr>
        <p:txBody>
          <a:bodyPr lIns="0" tIns="0" rIns="0" bIns="0" rtlCol="0" anchor="t">
            <a:spAutoFit/>
          </a:bodyPr>
          <a:lstStyle/>
          <a:p>
            <a:pPr algn="ctr">
              <a:lnSpc>
                <a:spcPts val="4160"/>
              </a:lnSpc>
            </a:pPr>
            <a:r>
              <a:rPr lang="en-US" sz="3200" dirty="0">
                <a:solidFill>
                  <a:srgbClr val="012F7F"/>
                </a:solidFill>
                <a:latin typeface="Arial" panose="020B0604020202020204" pitchFamily="34" charset="0"/>
                <a:ea typeface="ITC Benguiat Bold"/>
                <a:cs typeface="Arial" panose="020B0604020202020204" pitchFamily="34" charset="0"/>
                <a:sym typeface="ITC Benguiat Bold"/>
              </a:rPr>
              <a:t>ELIE Kouldjim</a:t>
            </a:r>
          </a:p>
        </p:txBody>
      </p:sp>
      <p:sp>
        <p:nvSpPr>
          <p:cNvPr id="16" name="TextBox 16"/>
          <p:cNvSpPr txBox="1"/>
          <p:nvPr/>
        </p:nvSpPr>
        <p:spPr>
          <a:xfrm>
            <a:off x="1847918" y="4925545"/>
            <a:ext cx="4225271" cy="408702"/>
          </a:xfrm>
          <a:prstGeom prst="rect">
            <a:avLst/>
          </a:prstGeom>
        </p:spPr>
        <p:txBody>
          <a:bodyPr wrap="square" lIns="0" tIns="0" rIns="0" bIns="0" rtlCol="0" anchor="t">
            <a:spAutoFit/>
          </a:bodyPr>
          <a:lstStyle/>
          <a:p>
            <a:pPr algn="ctr">
              <a:lnSpc>
                <a:spcPts val="3454"/>
              </a:lnSpc>
            </a:pPr>
            <a:r>
              <a:rPr lang="en-US" sz="2400" dirty="0">
                <a:solidFill>
                  <a:srgbClr val="000000"/>
                </a:solidFill>
                <a:latin typeface="Arial" panose="020B0604020202020204" pitchFamily="34" charset="0"/>
                <a:ea typeface="Bree Serif"/>
                <a:cs typeface="Arial" panose="020B0604020202020204" pitchFamily="34" charset="0"/>
                <a:sym typeface="Bree Serif"/>
              </a:rPr>
              <a:t>Pour l’obtention du diplôme</a:t>
            </a:r>
          </a:p>
        </p:txBody>
      </p:sp>
      <p:sp>
        <p:nvSpPr>
          <p:cNvPr id="25" name="Freeform 15">
            <a:extLst>
              <a:ext uri="{FF2B5EF4-FFF2-40B4-BE49-F238E27FC236}">
                <a16:creationId xmlns:a16="http://schemas.microsoft.com/office/drawing/2014/main" id="{BDCF3243-B548-B134-DD76-379F08DBBFD6}"/>
              </a:ext>
            </a:extLst>
          </p:cNvPr>
          <p:cNvSpPr/>
          <p:nvPr/>
        </p:nvSpPr>
        <p:spPr>
          <a:xfrm flipH="1">
            <a:off x="7033414" y="2683408"/>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pic>
        <p:nvPicPr>
          <p:cNvPr id="1026" name="Picture 2" descr="Appellation, logo et charte graphique : tout ce qu'il faut savoir | Université  Paris Cité">
            <a:extLst>
              <a:ext uri="{FF2B5EF4-FFF2-40B4-BE49-F238E27FC236}">
                <a16:creationId xmlns:a16="http://schemas.microsoft.com/office/drawing/2014/main" id="{15E86C84-DE99-4E15-AA16-A96F70F721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6090" y="847884"/>
            <a:ext cx="2986863" cy="1138782"/>
          </a:xfrm>
          <a:prstGeom prst="rect">
            <a:avLst/>
          </a:prstGeom>
          <a:noFill/>
          <a:extLst>
            <a:ext uri="{909E8E84-426E-40DD-AFC4-6F175D3DCCD1}">
              <a14:hiddenFill xmlns:a14="http://schemas.microsoft.com/office/drawing/2010/main">
                <a:solidFill>
                  <a:srgbClr val="FFFFFF"/>
                </a:solidFill>
              </a14:hiddenFill>
            </a:ext>
          </a:extLst>
        </p:spPr>
      </p:pic>
      <p:sp>
        <p:nvSpPr>
          <p:cNvPr id="29" name="ZoneTexte 28">
            <a:extLst>
              <a:ext uri="{FF2B5EF4-FFF2-40B4-BE49-F238E27FC236}">
                <a16:creationId xmlns:a16="http://schemas.microsoft.com/office/drawing/2014/main" id="{73FEC0DF-1046-4FF1-89D0-E756F89D5350}"/>
              </a:ext>
            </a:extLst>
          </p:cNvPr>
          <p:cNvSpPr txBox="1"/>
          <p:nvPr/>
        </p:nvSpPr>
        <p:spPr>
          <a:xfrm>
            <a:off x="796257" y="5453428"/>
            <a:ext cx="7385977" cy="379656"/>
          </a:xfrm>
          <a:prstGeom prst="rect">
            <a:avLst/>
          </a:prstGeom>
          <a:noFill/>
        </p:spPr>
        <p:txBody>
          <a:bodyPr wrap="square">
            <a:spAutoFit/>
          </a:bodyPr>
          <a:lstStyle>
            <a:defPPr>
              <a:defRPr lang="en-US"/>
            </a:defPPr>
            <a:lvl1pPr>
              <a:defRPr sz="4700">
                <a:solidFill>
                  <a:srgbClr val="000000"/>
                </a:solidFill>
                <a:latin typeface="ITC Benguiat Bold"/>
              </a:defRPr>
            </a:lvl1pPr>
          </a:lstStyle>
          <a:p>
            <a:r>
              <a:rPr lang="fr-FR" sz="1867" b="1" dirty="0">
                <a:latin typeface="Georgia" panose="02040502050405020303" pitchFamily="18" charset="0"/>
                <a:cs typeface="Arial" panose="020B0604020202020204" pitchFamily="34" charset="0"/>
              </a:rPr>
              <a:t>D’INGENIERIE MATHEMATIQUE ET BIOSTATISTIQUE</a:t>
            </a:r>
          </a:p>
        </p:txBody>
      </p:sp>
      <p:sp>
        <p:nvSpPr>
          <p:cNvPr id="8" name="Espace réservé du numéro de diapositive 7">
            <a:extLst>
              <a:ext uri="{FF2B5EF4-FFF2-40B4-BE49-F238E27FC236}">
                <a16:creationId xmlns:a16="http://schemas.microsoft.com/office/drawing/2014/main" id="{86217F8E-55DA-D919-B4E1-2431394AD796}"/>
              </a:ext>
            </a:extLst>
          </p:cNvPr>
          <p:cNvSpPr>
            <a:spLocks noGrp="1"/>
          </p:cNvSpPr>
          <p:nvPr>
            <p:ph type="sldNum" sz="quarter" idx="12"/>
          </p:nvPr>
        </p:nvSpPr>
        <p:spPr/>
        <p:txBody>
          <a:bodyPr/>
          <a:lstStyle/>
          <a:p>
            <a:fld id="{453A7091-84B4-4BFC-9E12-327F477830A7}" type="slidenum">
              <a:rPr lang="fr-FR" smtClean="0"/>
              <a:t>1</a:t>
            </a:fld>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grpSp>
        <p:nvGrpSpPr>
          <p:cNvPr id="4" name="Group 4"/>
          <p:cNvGrpSpPr/>
          <p:nvPr/>
        </p:nvGrpSpPr>
        <p:grpSpPr>
          <a:xfrm>
            <a:off x="-3464162" y="2916372"/>
            <a:ext cx="13288906" cy="91191"/>
            <a:chOff x="0" y="0"/>
            <a:chExt cx="5249938" cy="36026"/>
          </a:xfrm>
        </p:grpSpPr>
        <p:sp>
          <p:nvSpPr>
            <p:cNvPr id="5" name="Freeform 5"/>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rgbClr val="E78C3F"/>
            </a:solidFill>
          </p:spPr>
          <p:txBody>
            <a:bodyPr/>
            <a:lstStyle/>
            <a:p>
              <a:endParaRPr lang="fr-CM" sz="1200" dirty="0">
                <a:latin typeface="Arial" panose="020B0604020202020204" pitchFamily="34" charset="0"/>
                <a:cs typeface="Arial" panose="020B0604020202020204" pitchFamily="34" charset="0"/>
              </a:endParaRPr>
            </a:p>
          </p:txBody>
        </p:sp>
        <p:sp>
          <p:nvSpPr>
            <p:cNvPr id="6" name="TextBox 6"/>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grpSp>
        <p:nvGrpSpPr>
          <p:cNvPr id="7" name="Group 7"/>
          <p:cNvGrpSpPr/>
          <p:nvPr/>
        </p:nvGrpSpPr>
        <p:grpSpPr>
          <a:xfrm>
            <a:off x="3897166" y="4443358"/>
            <a:ext cx="9367846" cy="106330"/>
            <a:chOff x="0" y="0"/>
            <a:chExt cx="3700877" cy="42007"/>
          </a:xfrm>
        </p:grpSpPr>
        <p:sp>
          <p:nvSpPr>
            <p:cNvPr id="8" name="Freeform 8"/>
            <p:cNvSpPr/>
            <p:nvPr/>
          </p:nvSpPr>
          <p:spPr>
            <a:xfrm>
              <a:off x="0" y="0"/>
              <a:ext cx="3700877" cy="42007"/>
            </a:xfrm>
            <a:custGeom>
              <a:avLst/>
              <a:gdLst/>
              <a:ahLst/>
              <a:cxnLst/>
              <a:rect l="l" t="t" r="r" b="b"/>
              <a:pathLst>
                <a:path w="3700877" h="42007">
                  <a:moveTo>
                    <a:pt x="0" y="0"/>
                  </a:moveTo>
                  <a:lnTo>
                    <a:pt x="3700877" y="0"/>
                  </a:lnTo>
                  <a:lnTo>
                    <a:pt x="3700877" y="42007"/>
                  </a:lnTo>
                  <a:lnTo>
                    <a:pt x="0" y="42007"/>
                  </a:lnTo>
                  <a:close/>
                </a:path>
              </a:pathLst>
            </a:custGeom>
            <a:solidFill>
              <a:srgbClr val="012F7F"/>
            </a:solidFill>
          </p:spPr>
          <p:txBody>
            <a:bodyPr/>
            <a:lstStyle/>
            <a:p>
              <a:endParaRPr lang="fr-CM" sz="2000" dirty="0">
                <a:latin typeface="Georgia" panose="02040502050405020303" pitchFamily="18" charset="0"/>
                <a:cs typeface="Arial" panose="020B0604020202020204" pitchFamily="34" charset="0"/>
              </a:endParaRPr>
            </a:p>
          </p:txBody>
        </p:sp>
        <p:sp>
          <p:nvSpPr>
            <p:cNvPr id="9" name="TextBox 9"/>
            <p:cNvSpPr txBox="1"/>
            <p:nvPr/>
          </p:nvSpPr>
          <p:spPr>
            <a:xfrm>
              <a:off x="0" y="-38100"/>
              <a:ext cx="3700877" cy="80107"/>
            </a:xfrm>
            <a:prstGeom prst="rect">
              <a:avLst/>
            </a:prstGeom>
          </p:spPr>
          <p:txBody>
            <a:bodyPr lIns="33867" tIns="33867" rIns="33867" bIns="33867" rtlCol="0" anchor="ctr"/>
            <a:lstStyle/>
            <a:p>
              <a:pPr algn="ctr">
                <a:lnSpc>
                  <a:spcPts val="1773"/>
                </a:lnSpc>
              </a:pPr>
              <a:endParaRPr sz="2000" dirty="0">
                <a:latin typeface="Georgia" panose="02040502050405020303" pitchFamily="18" charset="0"/>
                <a:cs typeface="Arial" panose="020B0604020202020204" pitchFamily="34" charset="0"/>
              </a:endParaRPr>
            </a:p>
          </p:txBody>
        </p:sp>
      </p:grpSp>
      <p:sp>
        <p:nvSpPr>
          <p:cNvPr id="13" name="TextBox 13"/>
          <p:cNvSpPr txBox="1"/>
          <p:nvPr/>
        </p:nvSpPr>
        <p:spPr>
          <a:xfrm>
            <a:off x="758737" y="3078888"/>
            <a:ext cx="10747463" cy="1280800"/>
          </a:xfrm>
          <a:prstGeom prst="rect">
            <a:avLst/>
          </a:prstGeom>
        </p:spPr>
        <p:txBody>
          <a:bodyPr lIns="0" tIns="0" rIns="0" bIns="0" rtlCol="0" anchor="t">
            <a:spAutoFit/>
          </a:bodyPr>
          <a:lstStyle/>
          <a:p>
            <a:pPr algn="ctr">
              <a:lnSpc>
                <a:spcPts val="3360"/>
              </a:lnSpc>
            </a:pPr>
            <a:r>
              <a:rPr lang="en-US" sz="2800" dirty="0">
                <a:solidFill>
                  <a:schemeClr val="accent1"/>
                </a:solidFill>
                <a:latin typeface="Georgia" panose="02040502050405020303" pitchFamily="18" charset="0"/>
                <a:ea typeface="ITC Benguiat Bold"/>
                <a:cs typeface="Arial" panose="020B0604020202020204" pitchFamily="34" charset="0"/>
                <a:sym typeface="ITC Benguiat Bold"/>
              </a:rPr>
              <a:t>EVALUATION DES CARACTERISTIQUES DE TESTS DIAGNOSTIQUES PAR DES MODELES BAYESIENS A CLASSES LATENTES</a:t>
            </a:r>
          </a:p>
        </p:txBody>
      </p:sp>
      <p:sp>
        <p:nvSpPr>
          <p:cNvPr id="14" name="TextBox 14"/>
          <p:cNvSpPr txBox="1"/>
          <p:nvPr/>
        </p:nvSpPr>
        <p:spPr>
          <a:xfrm>
            <a:off x="1422400" y="2502876"/>
            <a:ext cx="9565409" cy="307777"/>
          </a:xfrm>
          <a:prstGeom prst="rect">
            <a:avLst/>
          </a:prstGeom>
        </p:spPr>
        <p:txBody>
          <a:bodyPr wrap="square" lIns="0" tIns="0" rIns="0" bIns="0" rtlCol="0" anchor="t">
            <a:spAutoFit/>
          </a:bodyPr>
          <a:lstStyle/>
          <a:p>
            <a:pPr>
              <a:lnSpc>
                <a:spcPts val="2400"/>
              </a:lnSpc>
            </a:pPr>
            <a:r>
              <a:rPr lang="en-US" sz="2000" dirty="0">
                <a:solidFill>
                  <a:srgbClr val="012F7F"/>
                </a:solidFill>
                <a:latin typeface="Georgia" panose="02040502050405020303" pitchFamily="18" charset="0"/>
                <a:ea typeface="ITC Benguiat Bold"/>
                <a:cs typeface="Arial" panose="020B0604020202020204" pitchFamily="34" charset="0"/>
                <a:sym typeface="ITC Benguiat Bold"/>
              </a:rPr>
              <a:t>MEMOIRE DE MASTER II INGENIERIE MATHEMATIQUE ET BIOSTATISTIQUE</a:t>
            </a:r>
          </a:p>
        </p:txBody>
      </p:sp>
      <p:sp>
        <p:nvSpPr>
          <p:cNvPr id="15" name="TextBox 15"/>
          <p:cNvSpPr txBox="1"/>
          <p:nvPr/>
        </p:nvSpPr>
        <p:spPr>
          <a:xfrm>
            <a:off x="758738" y="5234003"/>
            <a:ext cx="1563370" cy="328680"/>
          </a:xfrm>
          <a:prstGeom prst="rect">
            <a:avLst/>
          </a:prstGeom>
        </p:spPr>
        <p:txBody>
          <a:bodyPr lIns="0" tIns="0" rIns="0" bIns="0" rtlCol="0" anchor="t">
            <a:spAutoFit/>
          </a:bodyPr>
          <a:lstStyle/>
          <a:p>
            <a:pPr algn="ctr">
              <a:lnSpc>
                <a:spcPts val="2800"/>
              </a:lnSpc>
            </a:pPr>
            <a:r>
              <a:rPr lang="fr-FR" sz="2000" u="sng" dirty="0">
                <a:solidFill>
                  <a:srgbClr val="000000"/>
                </a:solidFill>
                <a:latin typeface="Georgia" panose="02040502050405020303" pitchFamily="18" charset="0"/>
                <a:ea typeface="Bree Serif"/>
                <a:cs typeface="Arial" panose="020B0604020202020204" pitchFamily="34" charset="0"/>
                <a:sym typeface="Bree Serif"/>
              </a:rPr>
              <a:t>Présenté</a:t>
            </a:r>
            <a:r>
              <a:rPr lang="en-US" sz="2000" u="sng" dirty="0">
                <a:solidFill>
                  <a:srgbClr val="000000"/>
                </a:solidFill>
                <a:latin typeface="Georgia" panose="02040502050405020303" pitchFamily="18" charset="0"/>
                <a:ea typeface="Bree Serif"/>
                <a:cs typeface="Arial" panose="020B0604020202020204" pitchFamily="34" charset="0"/>
                <a:sym typeface="Bree Serif"/>
              </a:rPr>
              <a:t> par :</a:t>
            </a:r>
          </a:p>
        </p:txBody>
      </p:sp>
      <p:sp>
        <p:nvSpPr>
          <p:cNvPr id="16" name="TextBox 16"/>
          <p:cNvSpPr txBox="1"/>
          <p:nvPr/>
        </p:nvSpPr>
        <p:spPr>
          <a:xfrm>
            <a:off x="5711395" y="5226368"/>
            <a:ext cx="3244505" cy="328680"/>
          </a:xfrm>
          <a:prstGeom prst="rect">
            <a:avLst/>
          </a:prstGeom>
        </p:spPr>
        <p:txBody>
          <a:bodyPr wrap="square" lIns="0" tIns="0" rIns="0" bIns="0" rtlCol="0" anchor="t">
            <a:spAutoFit/>
          </a:bodyPr>
          <a:lstStyle/>
          <a:p>
            <a:pPr algn="ctr">
              <a:lnSpc>
                <a:spcPts val="2800"/>
              </a:lnSpc>
            </a:pPr>
            <a:r>
              <a:rPr lang="en-US" sz="2000" u="sng" dirty="0">
                <a:solidFill>
                  <a:srgbClr val="000000"/>
                </a:solidFill>
                <a:latin typeface="Georgia" panose="02040502050405020303" pitchFamily="18" charset="0"/>
                <a:ea typeface="Bree Serif"/>
                <a:cs typeface="Arial" panose="020B0604020202020204" pitchFamily="34" charset="0"/>
                <a:sym typeface="Bree Serif"/>
              </a:rPr>
              <a:t>Sous la supervision de :</a:t>
            </a:r>
          </a:p>
        </p:txBody>
      </p:sp>
      <p:sp>
        <p:nvSpPr>
          <p:cNvPr id="17" name="TextBox 17"/>
          <p:cNvSpPr txBox="1"/>
          <p:nvPr/>
        </p:nvSpPr>
        <p:spPr>
          <a:xfrm>
            <a:off x="758738" y="5742849"/>
            <a:ext cx="4552905" cy="309444"/>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ELIE Kouldjim</a:t>
            </a:r>
          </a:p>
        </p:txBody>
      </p:sp>
      <p:sp>
        <p:nvSpPr>
          <p:cNvPr id="18" name="TextBox 18"/>
          <p:cNvSpPr txBox="1"/>
          <p:nvPr/>
        </p:nvSpPr>
        <p:spPr>
          <a:xfrm>
            <a:off x="5992191" y="5731075"/>
            <a:ext cx="3448815" cy="309444"/>
          </a:xfrm>
          <a:prstGeom prst="rect">
            <a:avLst/>
          </a:prstGeom>
        </p:spPr>
        <p:txBody>
          <a:bodyPr wrap="square" lIns="0" tIns="0" rIns="0" bIns="0" rtlCol="0" anchor="t">
            <a:spAutoFit/>
          </a:bodyPr>
          <a:lstStyle/>
          <a:p>
            <a:pPr>
              <a:lnSpc>
                <a:spcPts val="2640"/>
              </a:lnSpc>
            </a:pPr>
            <a:r>
              <a:rPr lang="en-US" sz="2000" dirty="0" err="1">
                <a:latin typeface="Georgia" panose="02040502050405020303" pitchFamily="18" charset="0"/>
                <a:ea typeface="ITC Benguiat Bold"/>
                <a:cs typeface="Arial" panose="020B0604020202020204" pitchFamily="34" charset="0"/>
                <a:sym typeface="ITC Benguiat Bold"/>
              </a:rPr>
              <a:t>Mme</a:t>
            </a:r>
            <a:r>
              <a:rPr lang="en-US" sz="2000" dirty="0">
                <a:latin typeface="Georgia" panose="02040502050405020303" pitchFamily="18" charset="0"/>
                <a:ea typeface="ITC Benguiat Bold"/>
                <a:cs typeface="Arial" panose="020B0604020202020204" pitchFamily="34" charset="0"/>
                <a:sym typeface="ITC Benguiat Bold"/>
              </a:rPr>
              <a:t> HENAUX Viviane</a:t>
            </a:r>
          </a:p>
        </p:txBody>
      </p:sp>
      <p:grpSp>
        <p:nvGrpSpPr>
          <p:cNvPr id="81" name="Groupe 80">
            <a:extLst>
              <a:ext uri="{FF2B5EF4-FFF2-40B4-BE49-F238E27FC236}">
                <a16:creationId xmlns:a16="http://schemas.microsoft.com/office/drawing/2014/main" id="{1C9A87BE-BC6B-9C5A-9B8E-A8B3F18B722A}"/>
              </a:ext>
            </a:extLst>
          </p:cNvPr>
          <p:cNvGrpSpPr/>
          <p:nvPr/>
        </p:nvGrpSpPr>
        <p:grpSpPr>
          <a:xfrm>
            <a:off x="5908922" y="3142475"/>
            <a:ext cx="752390" cy="1010232"/>
            <a:chOff x="10636359" y="1028700"/>
            <a:chExt cx="6622941" cy="7706695"/>
          </a:xfrm>
          <a:noFill/>
        </p:grpSpPr>
        <p:grpSp>
          <p:nvGrpSpPr>
            <p:cNvPr id="82" name="Group 2">
              <a:extLst>
                <a:ext uri="{FF2B5EF4-FFF2-40B4-BE49-F238E27FC236}">
                  <a16:creationId xmlns:a16="http://schemas.microsoft.com/office/drawing/2014/main" id="{621C7BA1-724C-DEB7-6D1A-2F463D851B79}"/>
                </a:ext>
              </a:extLst>
            </p:cNvPr>
            <p:cNvGrpSpPr/>
            <p:nvPr/>
          </p:nvGrpSpPr>
          <p:grpSpPr>
            <a:xfrm rot="-5400000">
              <a:off x="10094482" y="1570577"/>
              <a:ext cx="7706695" cy="6622941"/>
              <a:chOff x="0" y="0"/>
              <a:chExt cx="812800" cy="698500"/>
            </a:xfrm>
            <a:grpFill/>
          </p:grpSpPr>
          <p:sp>
            <p:nvSpPr>
              <p:cNvPr id="87" name="Freeform 3">
                <a:extLst>
                  <a:ext uri="{FF2B5EF4-FFF2-40B4-BE49-F238E27FC236}">
                    <a16:creationId xmlns:a16="http://schemas.microsoft.com/office/drawing/2014/main" id="{F61BD25B-8B65-9550-A2DA-FC1C495C2117}"/>
                  </a:ext>
                </a:extLst>
              </p:cNvPr>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pFill/>
              <a:ln>
                <a:noFill/>
              </a:ln>
            </p:spPr>
            <p:txBody>
              <a:bodyPr/>
              <a:lstStyle/>
              <a:p>
                <a:endParaRPr lang="fr-CM" sz="1200" dirty="0">
                  <a:latin typeface="Arial" panose="020B0604020202020204" pitchFamily="34" charset="0"/>
                  <a:cs typeface="Arial" panose="020B0604020202020204" pitchFamily="34" charset="0"/>
                </a:endParaRPr>
              </a:p>
            </p:txBody>
          </p:sp>
          <p:sp>
            <p:nvSpPr>
              <p:cNvPr id="88" name="TextBox 4">
                <a:extLst>
                  <a:ext uri="{FF2B5EF4-FFF2-40B4-BE49-F238E27FC236}">
                    <a16:creationId xmlns:a16="http://schemas.microsoft.com/office/drawing/2014/main" id="{E02ADA76-B038-BA91-4411-1E866B6B829F}"/>
                  </a:ext>
                </a:extLst>
              </p:cNvPr>
              <p:cNvSpPr txBox="1"/>
              <p:nvPr/>
            </p:nvSpPr>
            <p:spPr>
              <a:xfrm>
                <a:off x="114300" y="-38100"/>
                <a:ext cx="584200" cy="736600"/>
              </a:xfrm>
              <a:prstGeom prst="rect">
                <a:avLst/>
              </a:prstGeom>
              <a:grpFill/>
              <a:ln>
                <a:noFill/>
              </a:ln>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grpSp>
          <p:nvGrpSpPr>
            <p:cNvPr id="83" name="Group 17">
              <a:extLst>
                <a:ext uri="{FF2B5EF4-FFF2-40B4-BE49-F238E27FC236}">
                  <a16:creationId xmlns:a16="http://schemas.microsoft.com/office/drawing/2014/main" id="{389EF4EB-75FC-F74C-B854-A107034DA356}"/>
                </a:ext>
              </a:extLst>
            </p:cNvPr>
            <p:cNvGrpSpPr/>
            <p:nvPr/>
          </p:nvGrpSpPr>
          <p:grpSpPr>
            <a:xfrm rot="-5400000">
              <a:off x="10593203" y="1959497"/>
              <a:ext cx="6709253" cy="5845101"/>
              <a:chOff x="0" y="0"/>
              <a:chExt cx="6350000" cy="5532120"/>
            </a:xfrm>
            <a:grpFill/>
          </p:grpSpPr>
          <p:sp>
            <p:nvSpPr>
              <p:cNvPr id="86" name="Freeform 18">
                <a:extLst>
                  <a:ext uri="{FF2B5EF4-FFF2-40B4-BE49-F238E27FC236}">
                    <a16:creationId xmlns:a16="http://schemas.microsoft.com/office/drawing/2014/main" id="{F5EE432F-7797-8CF7-45EE-46DBB0B726F8}"/>
                  </a:ext>
                </a:extLst>
              </p:cNvPr>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noFill/>
              </a:ln>
            </p:spPr>
            <p:txBody>
              <a:bodyPr/>
              <a:lstStyle/>
              <a:p>
                <a:endParaRPr lang="fr-CM" sz="1200" dirty="0">
                  <a:latin typeface="Arial" panose="020B0604020202020204" pitchFamily="34" charset="0"/>
                  <a:cs typeface="Arial" panose="020B0604020202020204" pitchFamily="34" charset="0"/>
                </a:endParaRPr>
              </a:p>
            </p:txBody>
          </p:sp>
        </p:grpSp>
        <p:grpSp>
          <p:nvGrpSpPr>
            <p:cNvPr id="84" name="Group 21">
              <a:extLst>
                <a:ext uri="{FF2B5EF4-FFF2-40B4-BE49-F238E27FC236}">
                  <a16:creationId xmlns:a16="http://schemas.microsoft.com/office/drawing/2014/main" id="{800E44A6-F70C-F0DE-B348-6B031DB90BFD}"/>
                </a:ext>
              </a:extLst>
            </p:cNvPr>
            <p:cNvGrpSpPr>
              <a:grpSpLocks noChangeAspect="1"/>
            </p:cNvGrpSpPr>
            <p:nvPr/>
          </p:nvGrpSpPr>
          <p:grpSpPr>
            <a:xfrm>
              <a:off x="11369337" y="1904574"/>
              <a:ext cx="5156985" cy="5954948"/>
              <a:chOff x="0" y="0"/>
              <a:chExt cx="5499100" cy="6350000"/>
            </a:xfrm>
            <a:grpFill/>
          </p:grpSpPr>
          <p:sp>
            <p:nvSpPr>
              <p:cNvPr id="85" name="Freeform 22">
                <a:extLst>
                  <a:ext uri="{FF2B5EF4-FFF2-40B4-BE49-F238E27FC236}">
                    <a16:creationId xmlns:a16="http://schemas.microsoft.com/office/drawing/2014/main" id="{836F4552-2B3D-7653-833A-CB4839E94E57}"/>
                  </a:ext>
                </a:extLst>
              </p:cNvPr>
              <p:cNvSpPr/>
              <p:nvPr/>
            </p:nvSpPr>
            <p:spPr>
              <a:xfrm>
                <a:off x="0" y="0"/>
                <a:ext cx="5499100" cy="6350000"/>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grpFill/>
              <a:ln w="12700">
                <a:noFill/>
              </a:ln>
            </p:spPr>
            <p:txBody>
              <a:bodyPr/>
              <a:lstStyle/>
              <a:p>
                <a:endParaRPr lang="fr-CM" sz="1200" dirty="0">
                  <a:latin typeface="Arial" panose="020B0604020202020204" pitchFamily="34" charset="0"/>
                  <a:cs typeface="Arial" panose="020B0604020202020204" pitchFamily="34" charset="0"/>
                </a:endParaRPr>
              </a:p>
            </p:txBody>
          </p:sp>
        </p:grpSp>
      </p:grpSp>
      <p:pic>
        <p:nvPicPr>
          <p:cNvPr id="64" name="Picture 2" descr="Appellation, logo et charte graphique : tout ce qu'il faut savoir | Université  Paris Cité">
            <a:extLst>
              <a:ext uri="{FF2B5EF4-FFF2-40B4-BE49-F238E27FC236}">
                <a16:creationId xmlns:a16="http://schemas.microsoft.com/office/drawing/2014/main" id="{0524B1B6-DFF7-4863-A973-AA43836B72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0751" y="697598"/>
            <a:ext cx="3123249" cy="1190781"/>
          </a:xfrm>
          <a:prstGeom prst="rect">
            <a:avLst/>
          </a:prstGeom>
          <a:noFill/>
          <a:extLst>
            <a:ext uri="{909E8E84-426E-40DD-AFC4-6F175D3DCCD1}">
              <a14:hiddenFill xmlns:a14="http://schemas.microsoft.com/office/drawing/2010/main">
                <a:solidFill>
                  <a:srgbClr val="FFFFFF"/>
                </a:solidFill>
              </a14:hiddenFill>
            </a:ext>
          </a:extLst>
        </p:spPr>
      </p:pic>
      <p:pic>
        <p:nvPicPr>
          <p:cNvPr id="66" name="Image 65">
            <a:extLst>
              <a:ext uri="{FF2B5EF4-FFF2-40B4-BE49-F238E27FC236}">
                <a16:creationId xmlns:a16="http://schemas.microsoft.com/office/drawing/2014/main" id="{3EB8DEB3-9E9A-44BE-AD96-EB79227613C4}"/>
              </a:ext>
              <a:ext uri="{C183D7F6-B498-43B3-948B-1728B52AA6E4}">
                <adec:decorative xmlns:adec="http://schemas.microsoft.com/office/drawing/2017/decorative" val="0"/>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43693" y="256163"/>
            <a:ext cx="2310471" cy="1302038"/>
          </a:xfrm>
          <a:prstGeom prst="rect">
            <a:avLst/>
          </a:prstGeom>
          <a:noFill/>
        </p:spPr>
      </p:pic>
      <p:pic>
        <p:nvPicPr>
          <p:cNvPr id="67" name="Image 66" descr="Agence nationale de sécurité sanitaire de l'alimentation, de  l'environnement et du travail — Wikipédia">
            <a:extLst>
              <a:ext uri="{FF2B5EF4-FFF2-40B4-BE49-F238E27FC236}">
                <a16:creationId xmlns:a16="http://schemas.microsoft.com/office/drawing/2014/main" id="{2DDCB935-C529-4786-81EE-80C6699E91B2}"/>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9333857" y="529942"/>
            <a:ext cx="2183845" cy="1320184"/>
          </a:xfrm>
          <a:prstGeom prst="rect">
            <a:avLst/>
          </a:prstGeom>
          <a:noFill/>
          <a:ln>
            <a:noFill/>
          </a:ln>
        </p:spPr>
      </p:pic>
      <p:sp>
        <p:nvSpPr>
          <p:cNvPr id="68" name="TextBox 18">
            <a:extLst>
              <a:ext uri="{FF2B5EF4-FFF2-40B4-BE49-F238E27FC236}">
                <a16:creationId xmlns:a16="http://schemas.microsoft.com/office/drawing/2014/main" id="{F55E44F2-B11B-40E7-9E4C-F0C9DC3E9D06}"/>
              </a:ext>
            </a:extLst>
          </p:cNvPr>
          <p:cNvSpPr txBox="1"/>
          <p:nvPr/>
        </p:nvSpPr>
        <p:spPr>
          <a:xfrm>
            <a:off x="5992191" y="6115042"/>
            <a:ext cx="5133009" cy="308482"/>
          </a:xfrm>
          <a:prstGeom prst="rect">
            <a:avLst/>
          </a:prstGeom>
        </p:spPr>
        <p:txBody>
          <a:bodyPr wrap="square" lIns="0" tIns="0" rIns="0" bIns="0" rtlCol="0" anchor="t">
            <a:spAutoFit/>
          </a:bodyPr>
          <a:lstStyle/>
          <a:p>
            <a:pPr>
              <a:lnSpc>
                <a:spcPts val="2640"/>
              </a:lnSpc>
            </a:pPr>
            <a:r>
              <a:rPr lang="en-US" sz="2000" dirty="0" err="1">
                <a:latin typeface="Georgia" panose="02040502050405020303" pitchFamily="18" charset="0"/>
                <a:ea typeface="ITC Benguiat Bold"/>
                <a:cs typeface="Arial" panose="020B0604020202020204" pitchFamily="34" charset="0"/>
                <a:sym typeface="ITC Benguiat Bold"/>
              </a:rPr>
              <a:t>Mme</a:t>
            </a:r>
            <a:r>
              <a:rPr lang="en-US" sz="2000" dirty="0">
                <a:latin typeface="Georgia" panose="02040502050405020303" pitchFamily="18" charset="0"/>
                <a:ea typeface="ITC Benguiat Bold"/>
                <a:cs typeface="Arial" panose="020B0604020202020204" pitchFamily="34" charset="0"/>
                <a:sym typeface="ITC Benguiat Bold"/>
              </a:rPr>
              <a:t> FERREIRA VINCENTE Acacia</a:t>
            </a:r>
          </a:p>
        </p:txBody>
      </p:sp>
      <p:sp>
        <p:nvSpPr>
          <p:cNvPr id="79" name="TextBox 15">
            <a:extLst>
              <a:ext uri="{FF2B5EF4-FFF2-40B4-BE49-F238E27FC236}">
                <a16:creationId xmlns:a16="http://schemas.microsoft.com/office/drawing/2014/main" id="{4A5BE666-3E12-448B-BB2A-B83C0C404578}"/>
              </a:ext>
            </a:extLst>
          </p:cNvPr>
          <p:cNvSpPr txBox="1"/>
          <p:nvPr/>
        </p:nvSpPr>
        <p:spPr>
          <a:xfrm>
            <a:off x="3494249" y="4631919"/>
            <a:ext cx="1817653" cy="327718"/>
          </a:xfrm>
          <a:prstGeom prst="rect">
            <a:avLst/>
          </a:prstGeom>
        </p:spPr>
        <p:txBody>
          <a:bodyPr wrap="square" lIns="0" tIns="0" rIns="0" bIns="0" rtlCol="0" anchor="t">
            <a:spAutoFit/>
          </a:bodyPr>
          <a:lstStyle/>
          <a:p>
            <a:pPr algn="ctr">
              <a:lnSpc>
                <a:spcPts val="2800"/>
              </a:lnSpc>
            </a:pPr>
            <a:r>
              <a:rPr lang="en-US" sz="2000" u="sng" dirty="0">
                <a:solidFill>
                  <a:srgbClr val="000000"/>
                </a:solidFill>
                <a:latin typeface="Georgia" panose="02040502050405020303" pitchFamily="18" charset="0"/>
                <a:ea typeface="Bree Serif"/>
                <a:cs typeface="Arial" panose="020B0604020202020204" pitchFamily="34" charset="0"/>
                <a:sym typeface="Bree Serif"/>
              </a:rPr>
              <a:t>Referent UFR :</a:t>
            </a:r>
          </a:p>
        </p:txBody>
      </p:sp>
      <p:sp>
        <p:nvSpPr>
          <p:cNvPr id="80" name="TextBox 17">
            <a:extLst>
              <a:ext uri="{FF2B5EF4-FFF2-40B4-BE49-F238E27FC236}">
                <a16:creationId xmlns:a16="http://schemas.microsoft.com/office/drawing/2014/main" id="{CBF4EFA1-08A3-4AA6-B7A8-E58764BE0E10}"/>
              </a:ext>
            </a:extLst>
          </p:cNvPr>
          <p:cNvSpPr txBox="1"/>
          <p:nvPr/>
        </p:nvSpPr>
        <p:spPr>
          <a:xfrm>
            <a:off x="5401882" y="4663303"/>
            <a:ext cx="4552905" cy="309444"/>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Mme SABOURIN Anne</a:t>
            </a:r>
          </a:p>
        </p:txBody>
      </p:sp>
      <p:sp>
        <p:nvSpPr>
          <p:cNvPr id="30" name="Freeform 3">
            <a:extLst>
              <a:ext uri="{FF2B5EF4-FFF2-40B4-BE49-F238E27FC236}">
                <a16:creationId xmlns:a16="http://schemas.microsoft.com/office/drawing/2014/main" id="{82C25B23-48DD-42AD-B943-28F645D7FB96}"/>
              </a:ext>
            </a:extLst>
          </p:cNvPr>
          <p:cNvSpPr/>
          <p:nvPr/>
        </p:nvSpPr>
        <p:spPr>
          <a:xfrm rot="5400000" flipH="1">
            <a:off x="-1821171" y="277245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lvl="0"/>
            <a:endParaRPr lang="fr-CM" sz="1200" dirty="0">
              <a:latin typeface="Arial" panose="020B0604020202020204" pitchFamily="34" charset="0"/>
              <a:cs typeface="Arial" panose="020B0604020202020204" pitchFamily="34" charset="0"/>
            </a:endParaRPr>
          </a:p>
        </p:txBody>
      </p:sp>
      <p:sp>
        <p:nvSpPr>
          <p:cNvPr id="10" name="Espace réservé du numéro de diapositive 9">
            <a:extLst>
              <a:ext uri="{FF2B5EF4-FFF2-40B4-BE49-F238E27FC236}">
                <a16:creationId xmlns:a16="http://schemas.microsoft.com/office/drawing/2014/main" id="{89BE5844-5D21-4209-EEAD-D82ED4B72CB7}"/>
              </a:ext>
            </a:extLst>
          </p:cNvPr>
          <p:cNvSpPr>
            <a:spLocks noGrp="1"/>
          </p:cNvSpPr>
          <p:nvPr>
            <p:ph type="sldNum" sz="quarter" idx="12"/>
          </p:nvPr>
        </p:nvSpPr>
        <p:spPr/>
        <p:txBody>
          <a:bodyPr/>
          <a:lstStyle/>
          <a:p>
            <a:fld id="{453A7091-84B4-4BFC-9E12-327F477830A7}" type="slidenum">
              <a:rPr lang="fr-FR" smtClean="0"/>
              <a:t>2</a:t>
            </a:fld>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dirty="0">
              <a:latin typeface="Arial" panose="020B0604020202020204" pitchFamily="34" charset="0"/>
              <a:cs typeface="Arial" panose="020B0604020202020204" pitchFamily="34" charset="0"/>
            </a:endParaRPr>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1"/>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latin typeface="Arial" panose="020B0604020202020204" pitchFamily="34" charset="0"/>
              <a:cs typeface="Arial" panose="020B0604020202020204" pitchFamily="34" charset="0"/>
            </a:endParaRPr>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latin typeface="Arial" panose="020B0604020202020204" pitchFamily="34" charset="0"/>
                <a:cs typeface="Arial" panose="020B0604020202020204" pitchFamily="34" charset="0"/>
              </a:endParaRPr>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3" name="Freeform 3"/>
          <p:cNvSpPr/>
          <p:nvPr/>
        </p:nvSpPr>
        <p:spPr>
          <a:xfrm flipH="1">
            <a:off x="8080187" y="3425645"/>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pic>
        <p:nvPicPr>
          <p:cNvPr id="51" name="Image 50">
            <a:extLst>
              <a:ext uri="{FF2B5EF4-FFF2-40B4-BE49-F238E27FC236}">
                <a16:creationId xmlns:a16="http://schemas.microsoft.com/office/drawing/2014/main" id="{812A1279-CC5C-EDD9-B5A9-8B459282C90A}"/>
              </a:ext>
            </a:extLst>
          </p:cNvPr>
          <p:cNvPicPr>
            <a:picLocks noChangeAspect="1"/>
          </p:cNvPicPr>
          <p:nvPr/>
        </p:nvPicPr>
        <p:blipFill>
          <a:blip r:embed="rId5" cstate="print">
            <a:duotone>
              <a:prstClr val="black"/>
              <a:schemeClr val="tx2">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rot="5400000">
            <a:off x="628447" y="1111265"/>
            <a:ext cx="837030" cy="1038751"/>
          </a:xfrm>
          <a:prstGeom prst="rect">
            <a:avLst/>
          </a:prstGeom>
        </p:spPr>
      </p:pic>
      <p:sp>
        <p:nvSpPr>
          <p:cNvPr id="52" name="ZoneTexte 51">
            <a:extLst>
              <a:ext uri="{FF2B5EF4-FFF2-40B4-BE49-F238E27FC236}">
                <a16:creationId xmlns:a16="http://schemas.microsoft.com/office/drawing/2014/main" id="{C5D4E8DD-86F0-6946-D1FA-9B5DA98B08F0}"/>
              </a:ext>
            </a:extLst>
          </p:cNvPr>
          <p:cNvSpPr txBox="1"/>
          <p:nvPr/>
        </p:nvSpPr>
        <p:spPr>
          <a:xfrm>
            <a:off x="-2143979" y="28470025"/>
            <a:ext cx="83710" cy="4985980"/>
          </a:xfrm>
          <a:prstGeom prst="rect">
            <a:avLst/>
          </a:prstGeom>
          <a:noFill/>
        </p:spPr>
        <p:txBody>
          <a:bodyPr wrap="square" rtlCol="0">
            <a:spAutoFit/>
          </a:bodyPr>
          <a:lstStyle/>
          <a:p>
            <a:r>
              <a:rPr lang="fr-CM" sz="600" dirty="0">
                <a:latin typeface="Arial" panose="020B0604020202020204" pitchFamily="34" charset="0"/>
                <a:cs typeface="Arial" panose="020B0604020202020204" pitchFamily="34" charset="0"/>
                <a:hlinkClick r:id="rId6" tooltip="https://freepngimg.com/png/14614-presentation-download-png"/>
              </a:rPr>
              <a:t>Cette photo</a:t>
            </a:r>
            <a:r>
              <a:rPr lang="fr-CM" sz="600" dirty="0">
                <a:latin typeface="Arial" panose="020B0604020202020204" pitchFamily="34" charset="0"/>
                <a:cs typeface="Arial" panose="020B0604020202020204" pitchFamily="34" charset="0"/>
              </a:rPr>
              <a:t> par Auteur inconnu est soumise à la licence </a:t>
            </a:r>
            <a:r>
              <a:rPr lang="fr-CM" sz="600" dirty="0">
                <a:latin typeface="Arial" panose="020B0604020202020204" pitchFamily="34" charset="0"/>
                <a:cs typeface="Arial" panose="020B0604020202020204" pitchFamily="34" charset="0"/>
                <a:hlinkClick r:id="rId7" tooltip="https://creativecommons.org/licenses/by-nc/3.0/"/>
              </a:rPr>
              <a:t>CC BY-NC</a:t>
            </a:r>
            <a:endParaRPr lang="fr-CM" sz="600" dirty="0">
              <a:latin typeface="Arial" panose="020B0604020202020204" pitchFamily="34" charset="0"/>
              <a:cs typeface="Arial" panose="020B0604020202020204" pitchFamily="34" charset="0"/>
            </a:endParaRPr>
          </a:p>
        </p:txBody>
      </p:sp>
      <p:sp>
        <p:nvSpPr>
          <p:cNvPr id="53" name="TextBox 17">
            <a:extLst>
              <a:ext uri="{FF2B5EF4-FFF2-40B4-BE49-F238E27FC236}">
                <a16:creationId xmlns:a16="http://schemas.microsoft.com/office/drawing/2014/main" id="{DAB87F34-E647-4310-5559-5B18C71A02B2}"/>
              </a:ext>
            </a:extLst>
          </p:cNvPr>
          <p:cNvSpPr txBox="1"/>
          <p:nvPr/>
        </p:nvSpPr>
        <p:spPr>
          <a:xfrm rot="5400000">
            <a:off x="-1038524" y="4132833"/>
            <a:ext cx="3898435"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INTRODUCTION</a:t>
            </a:r>
          </a:p>
        </p:txBody>
      </p:sp>
      <p:sp>
        <p:nvSpPr>
          <p:cNvPr id="6" name="TextBox 17">
            <a:extLst>
              <a:ext uri="{FF2B5EF4-FFF2-40B4-BE49-F238E27FC236}">
                <a16:creationId xmlns:a16="http://schemas.microsoft.com/office/drawing/2014/main" id="{16D6F90F-6FDB-1E09-080E-42230FF1476B}"/>
              </a:ext>
            </a:extLst>
          </p:cNvPr>
          <p:cNvSpPr txBox="1"/>
          <p:nvPr/>
        </p:nvSpPr>
        <p:spPr>
          <a:xfrm>
            <a:off x="1959324" y="1691861"/>
            <a:ext cx="8043680" cy="5300105"/>
          </a:xfrm>
          <a:prstGeom prst="rect">
            <a:avLst/>
          </a:prstGeom>
        </p:spPr>
        <p:txBody>
          <a:bodyPr wrap="square" lIns="0" tIns="0" rIns="0" bIns="0" rtlCol="0" anchor="t">
            <a:spAutoFit/>
          </a:bodyPr>
          <a:lstStyle/>
          <a:p>
            <a:pPr marL="285750"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Enjeu de surveillance épidémiologique </a:t>
            </a:r>
            <a:r>
              <a:rPr lang="fr-FR" sz="2000" dirty="0">
                <a:latin typeface="Georgia" panose="02040502050405020303" pitchFamily="18" charset="0"/>
                <a:sym typeface="Wingdings" panose="05000000000000000000" pitchFamily="2" charset="2"/>
              </a:rPr>
              <a:t> nécessité de connaitre les performances des tests</a:t>
            </a:r>
            <a:endParaRPr lang="fr-FR" sz="2000" dirty="0">
              <a:latin typeface="Georgia" panose="02040502050405020303" pitchFamily="18" charset="0"/>
              <a:sym typeface="ITC Benguiat Bold"/>
            </a:endParaRPr>
          </a:p>
          <a:p>
            <a:pPr marL="285750" indent="-285750">
              <a:lnSpc>
                <a:spcPts val="2640"/>
              </a:lnSpc>
              <a:buFont typeface="Wingdings" panose="05000000000000000000" pitchFamily="2" charset="2"/>
              <a:buChar char="q"/>
            </a:pPr>
            <a:endParaRPr lang="fr-FR" sz="2000" dirty="0">
              <a:latin typeface="Georgia" panose="02040502050405020303" pitchFamily="18" charset="0"/>
              <a:sym typeface="ITC Benguiat Bold"/>
            </a:endParaRPr>
          </a:p>
          <a:p>
            <a:pPr marL="285750" indent="-285750">
              <a:lnSpc>
                <a:spcPts val="2640"/>
              </a:lnSpc>
              <a:buFont typeface="Wingdings" panose="05000000000000000000" pitchFamily="2" charset="2"/>
              <a:buChar char="q"/>
            </a:pPr>
            <a:r>
              <a:rPr lang="fr-FR" sz="2000" b="1" dirty="0">
                <a:latin typeface="Georgia" panose="02040502050405020303" pitchFamily="18" charset="0"/>
              </a:rPr>
              <a:t>Brucellose porcine </a:t>
            </a:r>
            <a:r>
              <a:rPr lang="fr-FR" sz="2000" dirty="0">
                <a:latin typeface="Georgia" panose="02040502050405020303" pitchFamily="18" charset="0"/>
              </a:rPr>
              <a:t>: Maladie zoonotique, enjeu de santé publique </a:t>
            </a:r>
          </a:p>
          <a:p>
            <a:pPr marL="285750" indent="-285750">
              <a:lnSpc>
                <a:spcPts val="2640"/>
              </a:lnSpc>
              <a:buFont typeface="Wingdings" panose="05000000000000000000" pitchFamily="2" charset="2"/>
              <a:buChar char="q"/>
            </a:pPr>
            <a:endParaRPr lang="fr-FR" sz="2000" dirty="0">
              <a:latin typeface="Georgia" panose="02040502050405020303" pitchFamily="18" charset="0"/>
            </a:endParaRPr>
          </a:p>
          <a:p>
            <a:pPr marL="285750" indent="-285750">
              <a:lnSpc>
                <a:spcPts val="2640"/>
              </a:lnSpc>
              <a:buFont typeface="Wingdings" panose="05000000000000000000" pitchFamily="2" charset="2"/>
              <a:buChar char="q"/>
            </a:pPr>
            <a:r>
              <a:rPr lang="fr-FR" sz="2000" b="1" dirty="0">
                <a:latin typeface="Georgia" panose="02040502050405020303" pitchFamily="18" charset="0"/>
                <a:sym typeface="ITC Benguiat Bold"/>
              </a:rPr>
              <a:t>Tests sérologiques </a:t>
            </a:r>
            <a:r>
              <a:rPr lang="fr-FR" sz="2000" dirty="0">
                <a:latin typeface="Georgia" panose="02040502050405020303" pitchFamily="18" charset="0"/>
                <a:sym typeface="ITC Benguiat Bold"/>
              </a:rPr>
              <a:t>: </a:t>
            </a:r>
          </a:p>
          <a:p>
            <a:pPr marL="742950" lvl="1"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Classiquement utilisés : </a:t>
            </a:r>
            <a:r>
              <a:rPr lang="fr-FR" sz="2000" dirty="0">
                <a:latin typeface="Georgia" panose="02040502050405020303" pitchFamily="18" charset="0"/>
              </a:rPr>
              <a:t>Epreuve à l’Antigène Tamponné (EAT) et Fixation du complément (FC)</a:t>
            </a:r>
          </a:p>
          <a:p>
            <a:pPr marL="742950" lvl="1" indent="-285750">
              <a:lnSpc>
                <a:spcPts val="2640"/>
              </a:lnSpc>
              <a:buFont typeface="Wingdings" panose="05000000000000000000" pitchFamily="2" charset="2"/>
              <a:buChar char="q"/>
            </a:pPr>
            <a:r>
              <a:rPr lang="fr-FR" sz="2000" dirty="0">
                <a:latin typeface="Georgia" panose="02040502050405020303" pitchFamily="18" charset="0"/>
              </a:rPr>
              <a:t>Nouveaux tests : ELISA (test immuno-enzymatique)  indirect, compétitif, blocking</a:t>
            </a:r>
          </a:p>
          <a:p>
            <a:pPr lvl="1">
              <a:lnSpc>
                <a:spcPts val="2640"/>
              </a:lnSpc>
            </a:pPr>
            <a:endParaRPr lang="fr-FR" sz="2000" dirty="0">
              <a:latin typeface="Georgia" panose="02040502050405020303" pitchFamily="18" charset="0"/>
            </a:endParaRPr>
          </a:p>
          <a:p>
            <a:pPr marL="342900" indent="-342900">
              <a:lnSpc>
                <a:spcPts val="2640"/>
              </a:lnSpc>
              <a:buFont typeface="Wingdings" panose="05000000000000000000" pitchFamily="2" charset="2"/>
              <a:buChar char="q"/>
            </a:pPr>
            <a:r>
              <a:rPr lang="fr-FR" sz="2000" b="1" dirty="0">
                <a:latin typeface="Georgia" panose="02040502050405020303" pitchFamily="18" charset="0"/>
                <a:sym typeface="ITC Benguiat Bold"/>
              </a:rPr>
              <a:t>Test bactériologique </a:t>
            </a:r>
            <a:r>
              <a:rPr lang="fr-FR" sz="2000" dirty="0">
                <a:latin typeface="Georgia" panose="02040502050405020303" pitchFamily="18" charset="0"/>
                <a:sym typeface="ITC Benguiat Bold"/>
              </a:rPr>
              <a:t>(culture)</a:t>
            </a:r>
            <a:r>
              <a:rPr lang="fr-FR" sz="2000" b="1" dirty="0">
                <a:latin typeface="Georgia" panose="02040502050405020303" pitchFamily="18" charset="0"/>
                <a:sym typeface="ITC Benguiat Bold"/>
              </a:rPr>
              <a:t> </a:t>
            </a:r>
            <a:r>
              <a:rPr lang="fr-FR" sz="2000" dirty="0">
                <a:latin typeface="Georgia" panose="02040502050405020303" pitchFamily="18" charset="0"/>
                <a:sym typeface="ITC Benguiat Bold"/>
              </a:rPr>
              <a:t>: test de référence mais non applicable en routine (car nécessite abattage diagnostique)</a:t>
            </a:r>
          </a:p>
          <a:p>
            <a:pPr>
              <a:lnSpc>
                <a:spcPts val="2640"/>
              </a:lnSpc>
            </a:pPr>
            <a:endParaRPr lang="fr-FR" sz="1667" dirty="0">
              <a:solidFill>
                <a:srgbClr val="000000"/>
              </a:solidFill>
              <a:latin typeface="Arial" panose="020B0604020202020204" pitchFamily="34" charset="0"/>
              <a:cs typeface="Arial" panose="020B0604020202020204" pitchFamily="34" charset="0"/>
            </a:endParaRPr>
          </a:p>
          <a:p>
            <a:pPr marL="304815" indent="-304815">
              <a:lnSpc>
                <a:spcPts val="2640"/>
              </a:lnSpc>
              <a:buFont typeface="Wingdings" panose="05000000000000000000" pitchFamily="2" charset="2"/>
              <a:buChar char="q"/>
            </a:pPr>
            <a:endParaRPr lang="fr-FR" sz="1667" dirty="0">
              <a:solidFill>
                <a:srgbClr val="000000"/>
              </a:solidFill>
              <a:latin typeface="Arial" panose="020B0604020202020204" pitchFamily="34" charset="0"/>
              <a:ea typeface="ITC Benguiat Bold"/>
              <a:cs typeface="Arial" panose="020B0604020202020204" pitchFamily="34" charset="0"/>
              <a:sym typeface="ITC Benguiat Bold"/>
            </a:endParaRPr>
          </a:p>
          <a:p>
            <a:pPr marL="304815" indent="-304815">
              <a:lnSpc>
                <a:spcPts val="2640"/>
              </a:lnSpc>
              <a:buFont typeface="Wingdings" panose="05000000000000000000" pitchFamily="2" charset="2"/>
              <a:buChar char="q"/>
            </a:pPr>
            <a:endParaRPr lang="en-US" sz="1667" dirty="0">
              <a:solidFill>
                <a:srgbClr val="012F7F"/>
              </a:solidFill>
              <a:latin typeface="Arial" panose="020B0604020202020204" pitchFamily="34" charset="0"/>
              <a:ea typeface="ITC Benguiat Bold"/>
              <a:cs typeface="Arial" panose="020B0604020202020204" pitchFamily="34" charset="0"/>
              <a:sym typeface="ITC Benguiat Bold"/>
            </a:endParaRPr>
          </a:p>
        </p:txBody>
      </p:sp>
      <p:pic>
        <p:nvPicPr>
          <p:cNvPr id="45" name="Image 44" descr="Un foyer de brucellose porcine dans les Pyrénées-Atlantiques">
            <a:extLst>
              <a:ext uri="{FF2B5EF4-FFF2-40B4-BE49-F238E27FC236}">
                <a16:creationId xmlns:a16="http://schemas.microsoft.com/office/drawing/2014/main" id="{F7B5ACC1-DA28-4E93-9F28-83C018220466}"/>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10423439" y="2355394"/>
            <a:ext cx="1622184" cy="1070251"/>
          </a:xfrm>
          <a:prstGeom prst="rect">
            <a:avLst/>
          </a:prstGeom>
          <a:noFill/>
          <a:ln>
            <a:noFill/>
          </a:ln>
        </p:spPr>
      </p:pic>
      <p:pic>
        <p:nvPicPr>
          <p:cNvPr id="46" name="Image 45">
            <a:extLst>
              <a:ext uri="{FF2B5EF4-FFF2-40B4-BE49-F238E27FC236}">
                <a16:creationId xmlns:a16="http://schemas.microsoft.com/office/drawing/2014/main" id="{DCA2FCA0-5478-4F91-B003-954B07A53906}"/>
              </a:ext>
            </a:extLst>
          </p:cNvPr>
          <p:cNvPicPr/>
          <p:nvPr/>
        </p:nvPicPr>
        <p:blipFill>
          <a:blip r:embed="rId9"/>
          <a:stretch>
            <a:fillRect/>
          </a:stretch>
        </p:blipFill>
        <p:spPr>
          <a:xfrm>
            <a:off x="10227191" y="3847180"/>
            <a:ext cx="1622184" cy="1207419"/>
          </a:xfrm>
          <a:prstGeom prst="rect">
            <a:avLst/>
          </a:prstGeom>
        </p:spPr>
      </p:pic>
      <p:sp>
        <p:nvSpPr>
          <p:cNvPr id="49" name="TextBox 13">
            <a:extLst>
              <a:ext uri="{FF2B5EF4-FFF2-40B4-BE49-F238E27FC236}">
                <a16:creationId xmlns:a16="http://schemas.microsoft.com/office/drawing/2014/main" id="{44D6733E-5852-4053-A8C8-88A1217FBA8F}"/>
              </a:ext>
            </a:extLst>
          </p:cNvPr>
          <p:cNvSpPr txBox="1"/>
          <p:nvPr/>
        </p:nvSpPr>
        <p:spPr>
          <a:xfrm>
            <a:off x="4083045" y="506497"/>
            <a:ext cx="6204658" cy="410177"/>
          </a:xfrm>
          <a:prstGeom prst="rect">
            <a:avLst/>
          </a:prstGeom>
        </p:spPr>
        <p:txBody>
          <a:bodyPr wrap="square" lIns="0" tIns="0" rIns="0" bIns="0" rtlCol="0" anchor="t">
            <a:spAutoFit/>
          </a:bodyPr>
          <a:lstStyle/>
          <a:p>
            <a:pPr algn="just">
              <a:lnSpc>
                <a:spcPts val="3360"/>
              </a:lnSpc>
            </a:pPr>
            <a:r>
              <a:rPr lang="en-US" sz="2800" dirty="0">
                <a:solidFill>
                  <a:schemeClr val="accent6"/>
                </a:solidFill>
                <a:latin typeface="Georgia" panose="02040502050405020303" pitchFamily="18" charset="0"/>
                <a:ea typeface="ITC Benguiat Bold"/>
                <a:cs typeface="ITC Benguiat Bold"/>
                <a:sym typeface="ITC Benguiat Bold"/>
              </a:rPr>
              <a:t>Contexte de l’étude</a:t>
            </a:r>
          </a:p>
        </p:txBody>
      </p:sp>
      <p:sp>
        <p:nvSpPr>
          <p:cNvPr id="4" name="Espace réservé du numéro de diapositive 3">
            <a:extLst>
              <a:ext uri="{FF2B5EF4-FFF2-40B4-BE49-F238E27FC236}">
                <a16:creationId xmlns:a16="http://schemas.microsoft.com/office/drawing/2014/main" id="{011D34B8-7DE6-06F2-3F0C-8829F1BC4835}"/>
              </a:ext>
            </a:extLst>
          </p:cNvPr>
          <p:cNvSpPr>
            <a:spLocks noGrp="1"/>
          </p:cNvSpPr>
          <p:nvPr>
            <p:ph type="sldNum" sz="quarter" idx="12"/>
          </p:nvPr>
        </p:nvSpPr>
        <p:spPr/>
        <p:txBody>
          <a:bodyPr/>
          <a:lstStyle/>
          <a:p>
            <a:fld id="{453A7091-84B4-4BFC-9E12-327F477830A7}" type="slidenum">
              <a:rPr lang="fr-FR" smtClean="0"/>
              <a:t>3</a:t>
            </a:fld>
            <a:endParaRPr lang="fr-FR"/>
          </a:p>
        </p:txBody>
      </p:sp>
    </p:spTree>
    <p:extLst>
      <p:ext uri="{BB962C8B-B14F-4D97-AF65-F5344CB8AC3E}">
        <p14:creationId xmlns:p14="http://schemas.microsoft.com/office/powerpoint/2010/main" val="3879429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8099398" y="344773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p>
        </p:txBody>
      </p:sp>
      <p:sp>
        <p:nvSpPr>
          <p:cNvPr id="30" name="AutoShape 61">
            <a:extLst>
              <a:ext uri="{FF2B5EF4-FFF2-40B4-BE49-F238E27FC236}">
                <a16:creationId xmlns:a16="http://schemas.microsoft.com/office/drawing/2014/main" id="{5E93A798-958F-F83C-8AF1-D14D761AD76D}"/>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dirty="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p>
        </p:txBody>
      </p:sp>
      <p:pic>
        <p:nvPicPr>
          <p:cNvPr id="51" name="Image 50">
            <a:extLst>
              <a:ext uri="{FF2B5EF4-FFF2-40B4-BE49-F238E27FC236}">
                <a16:creationId xmlns:a16="http://schemas.microsoft.com/office/drawing/2014/main" id="{812A1279-CC5C-EDD9-B5A9-8B459282C90A}"/>
              </a:ext>
            </a:extLst>
          </p:cNvPr>
          <p:cNvPicPr>
            <a:picLocks noChangeAspect="1"/>
          </p:cNvPicPr>
          <p:nvPr/>
        </p:nvPicPr>
        <p:blipFill>
          <a:blip r:embed="rId5" cstate="print">
            <a:duotone>
              <a:prstClr val="black"/>
              <a:schemeClr val="tx2">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rot="5400000">
            <a:off x="712788" y="1283297"/>
            <a:ext cx="837030" cy="1038751"/>
          </a:xfrm>
          <a:prstGeom prst="rect">
            <a:avLst/>
          </a:prstGeom>
        </p:spPr>
      </p:pic>
      <p:sp>
        <p:nvSpPr>
          <p:cNvPr id="52" name="ZoneTexte 51">
            <a:extLst>
              <a:ext uri="{FF2B5EF4-FFF2-40B4-BE49-F238E27FC236}">
                <a16:creationId xmlns:a16="http://schemas.microsoft.com/office/drawing/2014/main" id="{C5D4E8DD-86F0-6946-D1FA-9B5DA98B08F0}"/>
              </a:ext>
            </a:extLst>
          </p:cNvPr>
          <p:cNvSpPr txBox="1"/>
          <p:nvPr/>
        </p:nvSpPr>
        <p:spPr>
          <a:xfrm>
            <a:off x="-2143979" y="28470025"/>
            <a:ext cx="83710" cy="4985980"/>
          </a:xfrm>
          <a:prstGeom prst="rect">
            <a:avLst/>
          </a:prstGeom>
          <a:noFill/>
        </p:spPr>
        <p:txBody>
          <a:bodyPr wrap="square" rtlCol="0">
            <a:spAutoFit/>
          </a:bodyPr>
          <a:lstStyle/>
          <a:p>
            <a:r>
              <a:rPr lang="fr-CM" sz="600" dirty="0">
                <a:hlinkClick r:id="rId6" tooltip="https://freepngimg.com/png/14614-presentation-download-png"/>
              </a:rPr>
              <a:t>Cette photo</a:t>
            </a:r>
            <a:r>
              <a:rPr lang="fr-CM" sz="600" dirty="0"/>
              <a:t> par Auteur inconnu est soumise à la licence </a:t>
            </a:r>
            <a:r>
              <a:rPr lang="fr-CM" sz="600" dirty="0">
                <a:hlinkClick r:id="rId7" tooltip="https://creativecommons.org/licenses/by-nc/3.0/"/>
              </a:rPr>
              <a:t>CC BY-NC</a:t>
            </a:r>
            <a:endParaRPr lang="fr-CM" sz="600" dirty="0"/>
          </a:p>
        </p:txBody>
      </p:sp>
      <p:sp>
        <p:nvSpPr>
          <p:cNvPr id="53" name="TextBox 17">
            <a:extLst>
              <a:ext uri="{FF2B5EF4-FFF2-40B4-BE49-F238E27FC236}">
                <a16:creationId xmlns:a16="http://schemas.microsoft.com/office/drawing/2014/main" id="{DAB87F34-E647-4310-5559-5B18C71A02B2}"/>
              </a:ext>
            </a:extLst>
          </p:cNvPr>
          <p:cNvSpPr txBox="1"/>
          <p:nvPr/>
        </p:nvSpPr>
        <p:spPr>
          <a:xfrm rot="5400000">
            <a:off x="-891960" y="4170659"/>
            <a:ext cx="3898435"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INTRODUCTION</a:t>
            </a:r>
            <a:endParaRPr lang="en-US" sz="3000" dirty="0">
              <a:solidFill>
                <a:srgbClr val="012F7F"/>
              </a:solidFill>
              <a:latin typeface="Georgia" panose="02040502050405020303" pitchFamily="18" charset="0"/>
              <a:cs typeface="Arial" panose="020B0604020202020204" pitchFamily="34" charset="0"/>
              <a:sym typeface="ITC Benguiat Bold"/>
            </a:endParaRPr>
          </a:p>
        </p:txBody>
      </p:sp>
      <p:sp>
        <p:nvSpPr>
          <p:cNvPr id="45" name="TextBox 17">
            <a:extLst>
              <a:ext uri="{FF2B5EF4-FFF2-40B4-BE49-F238E27FC236}">
                <a16:creationId xmlns:a16="http://schemas.microsoft.com/office/drawing/2014/main" id="{76C4CC7C-7854-4976-8C61-A121F7548B22}"/>
              </a:ext>
            </a:extLst>
          </p:cNvPr>
          <p:cNvSpPr txBox="1"/>
          <p:nvPr/>
        </p:nvSpPr>
        <p:spPr>
          <a:xfrm>
            <a:off x="2186619" y="1297042"/>
            <a:ext cx="9755275" cy="5755165"/>
          </a:xfrm>
          <a:prstGeom prst="rect">
            <a:avLst/>
          </a:prstGeom>
        </p:spPr>
        <p:txBody>
          <a:bodyPr wrap="square" lIns="0" tIns="0" rIns="0" bIns="0" rtlCol="0" anchor="t">
            <a:spAutoFit/>
          </a:bodyPr>
          <a:lstStyle/>
          <a:p>
            <a:pPr marL="285750"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Evaluation des tests diagnostiques nécessite un test de référence parfait</a:t>
            </a:r>
          </a:p>
          <a:p>
            <a:pPr marL="285750" indent="-285750">
              <a:lnSpc>
                <a:spcPts val="2640"/>
              </a:lnSpc>
              <a:spcBef>
                <a:spcPts val="1200"/>
              </a:spcBef>
              <a:buFont typeface="Wingdings" panose="05000000000000000000" pitchFamily="2" charset="2"/>
              <a:buChar char="q"/>
            </a:pPr>
            <a:r>
              <a:rPr lang="fr-FR" sz="2000" dirty="0">
                <a:latin typeface="Georgia" panose="02040502050405020303" pitchFamily="18" charset="0"/>
                <a:sym typeface="ITC Benguiat Bold"/>
              </a:rPr>
              <a:t>Brucellose porcine : </a:t>
            </a:r>
            <a:r>
              <a:rPr lang="fr-FR" sz="2000" b="1" dirty="0">
                <a:latin typeface="Georgia" panose="02040502050405020303" pitchFamily="18" charset="0"/>
                <a:sym typeface="ITC Benguiat Bold"/>
              </a:rPr>
              <a:t>Comment estimer de manière fiable les performances  de plusieurs tests diagnostiques en l’absence d’un test de référence ?</a:t>
            </a:r>
          </a:p>
          <a:p>
            <a:pPr marL="285750" indent="-285750">
              <a:lnSpc>
                <a:spcPts val="2640"/>
              </a:lnSpc>
              <a:spcBef>
                <a:spcPts val="1200"/>
              </a:spcBef>
              <a:buFont typeface="Wingdings" panose="05000000000000000000" pitchFamily="2" charset="2"/>
              <a:buChar char="q"/>
            </a:pPr>
            <a:r>
              <a:rPr lang="fr-FR" sz="2000" dirty="0">
                <a:latin typeface="Georgia" panose="02040502050405020303" pitchFamily="18" charset="0"/>
                <a:sym typeface="ITC Benguiat Bold"/>
              </a:rPr>
              <a:t>Tests sérologiques avec</a:t>
            </a:r>
            <a:r>
              <a:rPr lang="fr-FR" sz="2000" dirty="0">
                <a:latin typeface="Georgia" panose="02040502050405020303" pitchFamily="18" charset="0"/>
                <a:sym typeface="Wingdings" panose="05000000000000000000" pitchFamily="2" charset="2"/>
              </a:rPr>
              <a:t> mêmes principes biologiques  résultats corrélés entre les tests selon le statut des individus</a:t>
            </a:r>
          </a:p>
          <a:p>
            <a:pPr marL="285750" indent="-285750">
              <a:lnSpc>
                <a:spcPts val="2640"/>
              </a:lnSpc>
              <a:spcBef>
                <a:spcPts val="1200"/>
              </a:spcBef>
              <a:buFont typeface="Wingdings" panose="05000000000000000000" pitchFamily="2" charset="2"/>
              <a:buChar char="q"/>
            </a:pPr>
            <a:r>
              <a:rPr lang="fr-FR" sz="2000" b="1" dirty="0">
                <a:latin typeface="Georgia" panose="02040502050405020303" pitchFamily="18" charset="0"/>
                <a:sym typeface="ITC Benguiat Bold"/>
              </a:rPr>
              <a:t>Quelle approche de modélisation offre le meilleur ajustement aux données ?</a:t>
            </a:r>
            <a:endParaRPr lang="en-US" sz="2000" b="1" dirty="0">
              <a:latin typeface="Georgia" panose="02040502050405020303" pitchFamily="18" charset="0"/>
              <a:sym typeface="ITC Benguiat Bold"/>
            </a:endParaRPr>
          </a:p>
          <a:p>
            <a:pPr marL="285750" indent="-285750">
              <a:lnSpc>
                <a:spcPts val="2640"/>
              </a:lnSpc>
              <a:spcBef>
                <a:spcPts val="1200"/>
              </a:spcBef>
              <a:buFont typeface="Wingdings" panose="05000000000000000000" pitchFamily="2" charset="2"/>
              <a:buChar char="q"/>
            </a:pPr>
            <a:endParaRPr lang="fr-FR" sz="2000" b="1" dirty="0">
              <a:latin typeface="Georgia" panose="02040502050405020303" pitchFamily="18" charset="0"/>
              <a:sym typeface="ITC Benguiat Bold"/>
            </a:endParaRPr>
          </a:p>
          <a:p>
            <a:pPr marL="285750" indent="-285750">
              <a:lnSpc>
                <a:spcPts val="2640"/>
              </a:lnSpc>
              <a:spcBef>
                <a:spcPts val="1200"/>
              </a:spcBef>
              <a:buFont typeface="Wingdings" panose="05000000000000000000" pitchFamily="2" charset="2"/>
              <a:buChar char="q"/>
            </a:pPr>
            <a:r>
              <a:rPr lang="fr-FR" sz="2000" b="1" dirty="0">
                <a:latin typeface="Georgia" panose="02040502050405020303" pitchFamily="18" charset="0"/>
                <a:sym typeface="ITC Benguiat Bold"/>
              </a:rPr>
              <a:t>Objectifs</a:t>
            </a:r>
          </a:p>
          <a:p>
            <a:pPr marL="742950" lvl="1" indent="-285750">
              <a:lnSpc>
                <a:spcPts val="2640"/>
              </a:lnSpc>
              <a:buFont typeface="Wingdings" panose="05000000000000000000" pitchFamily="2" charset="2"/>
              <a:buChar char="q"/>
            </a:pPr>
            <a:r>
              <a:rPr lang="fr-FR" sz="2000" dirty="0">
                <a:latin typeface="Georgia" panose="02040502050405020303" pitchFamily="18" charset="0"/>
              </a:rPr>
              <a:t>Estimer la sensibilité et la spécificité des tests diagnostiques pour la brucellose porcine en appliquant des modèles bayésiens à classes latentes</a:t>
            </a:r>
          </a:p>
          <a:p>
            <a:pPr marL="742950" lvl="1" indent="-285750">
              <a:lnSpc>
                <a:spcPts val="2640"/>
              </a:lnSpc>
              <a:buFont typeface="Wingdings" panose="05000000000000000000" pitchFamily="2" charset="2"/>
              <a:buChar char="q"/>
            </a:pPr>
            <a:r>
              <a:rPr lang="fr-FR" sz="2000" dirty="0">
                <a:latin typeface="Georgia" panose="02040502050405020303" pitchFamily="18" charset="0"/>
              </a:rPr>
              <a:t>Comparer différentes structures de modèles, en considérant à la fois des hypothèses d’indépendance et de dépendance des résultats entre les tests</a:t>
            </a:r>
            <a:endParaRPr lang="fr-FR" sz="2000" dirty="0">
              <a:latin typeface="Georgia" panose="02040502050405020303" pitchFamily="18" charset="0"/>
              <a:sym typeface="ITC Benguiat Bold"/>
            </a:endParaRPr>
          </a:p>
          <a:p>
            <a:pPr marL="304815" indent="-304815" algn="just">
              <a:lnSpc>
                <a:spcPts val="2640"/>
              </a:lnSpc>
              <a:buFont typeface="Wingdings" panose="05000000000000000000" pitchFamily="2" charset="2"/>
              <a:buChar char="q"/>
            </a:pPr>
            <a:endParaRPr lang="en-US" sz="2000" dirty="0">
              <a:solidFill>
                <a:srgbClr val="000000"/>
              </a:solidFill>
              <a:latin typeface="Bree Serif"/>
              <a:sym typeface="ITC Benguiat Bold"/>
            </a:endParaRPr>
          </a:p>
          <a:p>
            <a:pPr algn="just">
              <a:lnSpc>
                <a:spcPts val="2640"/>
              </a:lnSpc>
            </a:pPr>
            <a:endParaRPr lang="en-US" sz="2000" dirty="0">
              <a:solidFill>
                <a:srgbClr val="000000"/>
              </a:solidFill>
              <a:latin typeface="Bree Serif"/>
              <a:sym typeface="ITC Benguiat Bold"/>
            </a:endParaRPr>
          </a:p>
        </p:txBody>
      </p:sp>
      <p:sp>
        <p:nvSpPr>
          <p:cNvPr id="46" name="TextBox 13">
            <a:extLst>
              <a:ext uri="{FF2B5EF4-FFF2-40B4-BE49-F238E27FC236}">
                <a16:creationId xmlns:a16="http://schemas.microsoft.com/office/drawing/2014/main" id="{2851843E-954E-4BCF-B65D-4FD9AC7A946D}"/>
              </a:ext>
            </a:extLst>
          </p:cNvPr>
          <p:cNvSpPr txBox="1"/>
          <p:nvPr/>
        </p:nvSpPr>
        <p:spPr>
          <a:xfrm>
            <a:off x="4398618" y="379850"/>
            <a:ext cx="5898968" cy="410177"/>
          </a:xfrm>
          <a:prstGeom prst="rect">
            <a:avLst/>
          </a:prstGeom>
        </p:spPr>
        <p:txBody>
          <a:bodyPr wrap="square" lIns="0" tIns="0" rIns="0" bIns="0" rtlCol="0" anchor="t">
            <a:spAutoFit/>
          </a:bodyPr>
          <a:lstStyle/>
          <a:p>
            <a:pPr algn="just">
              <a:lnSpc>
                <a:spcPts val="3360"/>
              </a:lnSpc>
            </a:pPr>
            <a:r>
              <a:rPr lang="fr-FR" sz="2800" dirty="0">
                <a:solidFill>
                  <a:schemeClr val="accent6"/>
                </a:solidFill>
                <a:latin typeface="Georgia" panose="02040502050405020303" pitchFamily="18" charset="0"/>
                <a:sym typeface="ITC Benguiat Bold"/>
              </a:rPr>
              <a:t>Problématique</a:t>
            </a:r>
            <a:r>
              <a:rPr lang="en-US" sz="2800" dirty="0">
                <a:solidFill>
                  <a:schemeClr val="accent6"/>
                </a:solidFill>
                <a:latin typeface="Georgia" panose="02040502050405020303" pitchFamily="18" charset="0"/>
                <a:sym typeface="ITC Benguiat Bold"/>
              </a:rPr>
              <a:t> et Objectifs</a:t>
            </a:r>
          </a:p>
        </p:txBody>
      </p:sp>
      <p:sp>
        <p:nvSpPr>
          <p:cNvPr id="4" name="Espace réservé du numéro de diapositive 3">
            <a:extLst>
              <a:ext uri="{FF2B5EF4-FFF2-40B4-BE49-F238E27FC236}">
                <a16:creationId xmlns:a16="http://schemas.microsoft.com/office/drawing/2014/main" id="{31AB53B3-4BD9-9FC3-3681-ABE91B3B28AC}"/>
              </a:ext>
            </a:extLst>
          </p:cNvPr>
          <p:cNvSpPr>
            <a:spLocks noGrp="1"/>
          </p:cNvSpPr>
          <p:nvPr>
            <p:ph type="sldNum" sz="quarter" idx="12"/>
          </p:nvPr>
        </p:nvSpPr>
        <p:spPr/>
        <p:txBody>
          <a:bodyPr/>
          <a:lstStyle/>
          <a:p>
            <a:fld id="{453A7091-84B4-4BFC-9E12-327F477830A7}" type="slidenum">
              <a:rPr lang="fr-FR" smtClean="0"/>
              <a:t>4</a:t>
            </a:fld>
            <a:endParaRPr lang="fr-FR"/>
          </a:p>
        </p:txBody>
      </p:sp>
    </p:spTree>
    <p:extLst>
      <p:ext uri="{BB962C8B-B14F-4D97-AF65-F5344CB8AC3E}">
        <p14:creationId xmlns:p14="http://schemas.microsoft.com/office/powerpoint/2010/main" val="2241810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391125" y="4163181"/>
            <a:ext cx="10003955" cy="1194"/>
          </a:xfrm>
          <a:prstGeom prst="line">
            <a:avLst/>
          </a:prstGeom>
          <a:ln w="57150" cap="flat">
            <a:solidFill>
              <a:srgbClr val="CD7638"/>
            </a:solidFill>
            <a:prstDash val="solid"/>
            <a:headEnd type="none" w="sm" len="sm"/>
            <a:tailEnd type="none" w="sm" len="sm"/>
          </a:ln>
        </p:spPr>
        <p:txBody>
          <a:bodyPr/>
          <a:lstStyle/>
          <a:p>
            <a:endParaRPr lang="fr-CM" sz="1200" dirty="0">
              <a:latin typeface="Arial" panose="020B0604020202020204" pitchFamily="34" charset="0"/>
              <a:cs typeface="Arial" panose="020B0604020202020204" pitchFamily="34" charset="0"/>
            </a:endParaRPr>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latin typeface="Arial" panose="020B0604020202020204" pitchFamily="34" charset="0"/>
              <a:cs typeface="Arial" panose="020B0604020202020204" pitchFamily="34" charset="0"/>
            </a:endParaRPr>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384676"/>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latin typeface="Arial" panose="020B0604020202020204" pitchFamily="34" charset="0"/>
                <a:cs typeface="Arial" panose="020B0604020202020204" pitchFamily="34" charset="0"/>
              </a:endParaRPr>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21" name="TextBox 13">
            <a:extLst>
              <a:ext uri="{FF2B5EF4-FFF2-40B4-BE49-F238E27FC236}">
                <a16:creationId xmlns:a16="http://schemas.microsoft.com/office/drawing/2014/main" id="{1F418A37-11BA-005E-08D5-3E3D9410E8B9}"/>
              </a:ext>
            </a:extLst>
          </p:cNvPr>
          <p:cNvSpPr txBox="1"/>
          <p:nvPr/>
        </p:nvSpPr>
        <p:spPr>
          <a:xfrm>
            <a:off x="2261387" y="423786"/>
            <a:ext cx="8972069" cy="410177"/>
          </a:xfrm>
          <a:prstGeom prst="rect">
            <a:avLst/>
          </a:prstGeom>
        </p:spPr>
        <p:txBody>
          <a:bodyPr wrap="square" lIns="0" tIns="0" rIns="0" bIns="0" rtlCol="0" anchor="t">
            <a:spAutoFit/>
          </a:bodyPr>
          <a:lstStyle/>
          <a:p>
            <a:pPr algn="ctr">
              <a:lnSpc>
                <a:spcPts val="3360"/>
              </a:lnSpc>
            </a:pPr>
            <a:r>
              <a:rPr lang="fr-FR" sz="2800" dirty="0">
                <a:solidFill>
                  <a:schemeClr val="accent6"/>
                </a:solidFill>
                <a:latin typeface="Georgia" panose="02040502050405020303" pitchFamily="18" charset="0"/>
                <a:sym typeface="ITC Benguiat Bold"/>
              </a:rPr>
              <a:t>Approche Bayésienne</a:t>
            </a:r>
          </a:p>
        </p:txBody>
      </p:sp>
      <p:sp>
        <p:nvSpPr>
          <p:cNvPr id="29" name="TextBox 17">
            <a:extLst>
              <a:ext uri="{FF2B5EF4-FFF2-40B4-BE49-F238E27FC236}">
                <a16:creationId xmlns:a16="http://schemas.microsoft.com/office/drawing/2014/main" id="{8ED4BBA5-B588-9FD8-2268-65AF2EEB301C}"/>
              </a:ext>
            </a:extLst>
          </p:cNvPr>
          <p:cNvSpPr txBox="1"/>
          <p:nvPr/>
        </p:nvSpPr>
        <p:spPr>
          <a:xfrm rot="5400000">
            <a:off x="-663318" y="3886831"/>
            <a:ext cx="3548276"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Arial" panose="020B0604020202020204" pitchFamily="34" charset="0"/>
                <a:ea typeface="ITC Benguiat Bold"/>
                <a:cs typeface="Arial" panose="020B0604020202020204" pitchFamily="34" charset="0"/>
                <a:sym typeface="ITC Benguiat Bold"/>
              </a:rPr>
              <a:t>METHODOLOGIE</a:t>
            </a:r>
          </a:p>
        </p:txBody>
      </p:sp>
      <p:pic>
        <p:nvPicPr>
          <p:cNvPr id="32" name="Graphique 77" descr="Recherches">
            <a:extLst>
              <a:ext uri="{FF2B5EF4-FFF2-40B4-BE49-F238E27FC236}">
                <a16:creationId xmlns:a16="http://schemas.microsoft.com/office/drawing/2014/main" id="{A422E8EC-89D7-5DF4-B0FF-225A72FA90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042" y="1491023"/>
            <a:ext cx="609600" cy="609600"/>
          </a:xfrm>
          <a:prstGeom prst="rect">
            <a:avLst/>
          </a:prstGeom>
        </p:spPr>
      </p:pic>
      <p:sp>
        <p:nvSpPr>
          <p:cNvPr id="34" name="TextBox 13">
            <a:extLst>
              <a:ext uri="{FF2B5EF4-FFF2-40B4-BE49-F238E27FC236}">
                <a16:creationId xmlns:a16="http://schemas.microsoft.com/office/drawing/2014/main" id="{7980D576-FE04-70C0-C71A-1727C695C86E}"/>
              </a:ext>
            </a:extLst>
          </p:cNvPr>
          <p:cNvSpPr txBox="1"/>
          <p:nvPr/>
        </p:nvSpPr>
        <p:spPr>
          <a:xfrm>
            <a:off x="5370516" y="529127"/>
            <a:ext cx="552764" cy="436017"/>
          </a:xfrm>
          <a:prstGeom prst="rect">
            <a:avLst/>
          </a:prstGeom>
        </p:spPr>
        <p:txBody>
          <a:bodyPr wrap="square" lIns="0" tIns="0" rIns="0" bIns="0" rtlCol="0" anchor="t">
            <a:spAutoFit/>
          </a:bodyPr>
          <a:lstStyle/>
          <a:p>
            <a:pPr algn="just">
              <a:lnSpc>
                <a:spcPts val="3360"/>
              </a:lnSpc>
            </a:pPr>
            <a:endParaRPr lang="en-US" sz="3200" dirty="0">
              <a:solidFill>
                <a:schemeClr val="tx2">
                  <a:lumMod val="75000"/>
                </a:schemeClr>
              </a:solidFill>
              <a:latin typeface="Arial" panose="020B0604020202020204" pitchFamily="34" charset="0"/>
              <a:ea typeface="ITC Benguiat Bold"/>
              <a:cs typeface="Arial" panose="020B0604020202020204" pitchFamily="34" charset="0"/>
              <a:sym typeface="ITC Benguiat Bold"/>
            </a:endParaRPr>
          </a:p>
        </p:txBody>
      </p:sp>
      <p:pic>
        <p:nvPicPr>
          <p:cNvPr id="23" name="Image 22">
            <a:extLst>
              <a:ext uri="{FF2B5EF4-FFF2-40B4-BE49-F238E27FC236}">
                <a16:creationId xmlns:a16="http://schemas.microsoft.com/office/drawing/2014/main" id="{DBBBAA3A-11CC-473C-9F9B-624F8AF0C758}"/>
              </a:ext>
            </a:extLst>
          </p:cNvPr>
          <p:cNvPicPr>
            <a:picLocks noChangeAspect="1"/>
          </p:cNvPicPr>
          <p:nvPr/>
        </p:nvPicPr>
        <p:blipFill>
          <a:blip r:embed="rId6"/>
          <a:stretch>
            <a:fillRect/>
          </a:stretch>
        </p:blipFill>
        <p:spPr>
          <a:xfrm>
            <a:off x="4248208" y="1711383"/>
            <a:ext cx="4279515" cy="2131921"/>
          </a:xfrm>
          <a:prstGeom prst="rect">
            <a:avLst/>
          </a:prstGeom>
        </p:spPr>
      </p:pic>
      <p:sp>
        <p:nvSpPr>
          <p:cNvPr id="4" name="Espace réservé du numéro de diapositive 3">
            <a:extLst>
              <a:ext uri="{FF2B5EF4-FFF2-40B4-BE49-F238E27FC236}">
                <a16:creationId xmlns:a16="http://schemas.microsoft.com/office/drawing/2014/main" id="{02ECDE3D-CFF7-DD84-E6B3-89E7D90253F8}"/>
              </a:ext>
            </a:extLst>
          </p:cNvPr>
          <p:cNvSpPr>
            <a:spLocks noGrp="1"/>
          </p:cNvSpPr>
          <p:nvPr>
            <p:ph type="sldNum" sz="quarter" idx="12"/>
          </p:nvPr>
        </p:nvSpPr>
        <p:spPr/>
        <p:txBody>
          <a:bodyPr/>
          <a:lstStyle/>
          <a:p>
            <a:fld id="{453A7091-84B4-4BFC-9E12-327F477830A7}" type="slidenum">
              <a:rPr lang="fr-FR" smtClean="0"/>
              <a:t>5</a:t>
            </a:fld>
            <a:endParaRPr lang="fr-FR"/>
          </a:p>
        </p:txBody>
      </p:sp>
      <p:sp>
        <p:nvSpPr>
          <p:cNvPr id="6" name="TextBox 17">
            <a:extLst>
              <a:ext uri="{FF2B5EF4-FFF2-40B4-BE49-F238E27FC236}">
                <a16:creationId xmlns:a16="http://schemas.microsoft.com/office/drawing/2014/main" id="{8660B762-F7C2-E2DA-7CC0-F60442557CC0}"/>
              </a:ext>
            </a:extLst>
          </p:cNvPr>
          <p:cNvSpPr txBox="1"/>
          <p:nvPr/>
        </p:nvSpPr>
        <p:spPr>
          <a:xfrm>
            <a:off x="2149207" y="4751847"/>
            <a:ext cx="9755275" cy="641201"/>
          </a:xfrm>
          <a:prstGeom prst="rect">
            <a:avLst/>
          </a:prstGeom>
        </p:spPr>
        <p:txBody>
          <a:bodyPr wrap="square" lIns="0" tIns="0" rIns="0" bIns="0" rtlCol="0" anchor="t">
            <a:spAutoFit/>
          </a:bodyPr>
          <a:lstStyle/>
          <a:p>
            <a:pPr marL="285750"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Modèle bayésien à </a:t>
            </a:r>
            <a:r>
              <a:rPr lang="fr-FR" sz="2000" b="1" dirty="0">
                <a:latin typeface="Georgia" panose="02040502050405020303" pitchFamily="18" charset="0"/>
                <a:sym typeface="ITC Benguiat Bold"/>
              </a:rPr>
              <a:t>classe latente</a:t>
            </a:r>
          </a:p>
          <a:p>
            <a:pPr algn="just">
              <a:lnSpc>
                <a:spcPct val="100000"/>
              </a:lnSpc>
            </a:pPr>
            <a:r>
              <a:rPr lang="fr-FR" sz="2000" dirty="0">
                <a:solidFill>
                  <a:srgbClr val="000000"/>
                </a:solidFill>
                <a:latin typeface="Bree Serif"/>
                <a:sym typeface="ITC Benguiat Bold"/>
              </a:rPr>
              <a:t> statut réel des individus (infecté ou non)  = variable non observée</a:t>
            </a:r>
            <a:endParaRPr lang="en-US" sz="2000" dirty="0">
              <a:solidFill>
                <a:srgbClr val="000000"/>
              </a:solidFill>
              <a:latin typeface="Bree Serif"/>
              <a:sym typeface="ITC Benguiat Bold"/>
            </a:endParaRPr>
          </a:p>
        </p:txBody>
      </p:sp>
    </p:spTree>
    <p:extLst>
      <p:ext uri="{BB962C8B-B14F-4D97-AF65-F5344CB8AC3E}">
        <p14:creationId xmlns:p14="http://schemas.microsoft.com/office/powerpoint/2010/main" val="3872695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391125" y="4163181"/>
            <a:ext cx="10003955" cy="1194"/>
          </a:xfrm>
          <a:prstGeom prst="line">
            <a:avLst/>
          </a:prstGeom>
          <a:ln w="57150" cap="flat">
            <a:solidFill>
              <a:srgbClr val="CD7638"/>
            </a:solidFill>
            <a:prstDash val="solid"/>
            <a:headEnd type="none" w="sm" len="sm"/>
            <a:tailEnd type="none" w="sm" len="sm"/>
          </a:ln>
        </p:spPr>
        <p:txBody>
          <a:bodyPr/>
          <a:lstStyle/>
          <a:p>
            <a:endParaRPr lang="fr-CM" sz="1200" dirty="0">
              <a:latin typeface="Arial" panose="020B0604020202020204" pitchFamily="34" charset="0"/>
              <a:cs typeface="Arial" panose="020B0604020202020204" pitchFamily="34" charset="0"/>
            </a:endParaRPr>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latin typeface="Arial" panose="020B0604020202020204" pitchFamily="34" charset="0"/>
              <a:cs typeface="Arial" panose="020B0604020202020204" pitchFamily="34" charset="0"/>
            </a:endParaRPr>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384676"/>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latin typeface="Arial" panose="020B0604020202020204" pitchFamily="34" charset="0"/>
                <a:cs typeface="Arial" panose="020B0604020202020204" pitchFamily="34" charset="0"/>
              </a:endParaRPr>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sp>
        <p:nvSpPr>
          <p:cNvPr id="2" name="Freeform 2"/>
          <p:cNvSpPr/>
          <p:nvPr/>
        </p:nvSpPr>
        <p:spPr>
          <a:xfrm rot="10733564" flipH="1">
            <a:off x="-757471" y="-123201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21" name="TextBox 13">
            <a:extLst>
              <a:ext uri="{FF2B5EF4-FFF2-40B4-BE49-F238E27FC236}">
                <a16:creationId xmlns:a16="http://schemas.microsoft.com/office/drawing/2014/main" id="{1F418A37-11BA-005E-08D5-3E3D9410E8B9}"/>
              </a:ext>
            </a:extLst>
          </p:cNvPr>
          <p:cNvSpPr txBox="1"/>
          <p:nvPr/>
        </p:nvSpPr>
        <p:spPr>
          <a:xfrm>
            <a:off x="3219931" y="453631"/>
            <a:ext cx="8972069" cy="410177"/>
          </a:xfrm>
          <a:prstGeom prst="rect">
            <a:avLst/>
          </a:prstGeom>
        </p:spPr>
        <p:txBody>
          <a:bodyPr wrap="square" lIns="0" tIns="0" rIns="0" bIns="0" rtlCol="0" anchor="t">
            <a:spAutoFit/>
          </a:bodyPr>
          <a:lstStyle/>
          <a:p>
            <a:pPr algn="just">
              <a:lnSpc>
                <a:spcPts val="3360"/>
              </a:lnSpc>
            </a:pPr>
            <a:r>
              <a:rPr lang="fr-FR" sz="2800" dirty="0">
                <a:solidFill>
                  <a:schemeClr val="accent6"/>
                </a:solidFill>
                <a:latin typeface="Georgia" panose="02040502050405020303" pitchFamily="18" charset="0"/>
                <a:sym typeface="ITC Benguiat Bold"/>
              </a:rPr>
              <a:t>Approche multinomiale</a:t>
            </a:r>
          </a:p>
        </p:txBody>
      </p:sp>
      <p:sp>
        <p:nvSpPr>
          <p:cNvPr id="29" name="TextBox 17">
            <a:extLst>
              <a:ext uri="{FF2B5EF4-FFF2-40B4-BE49-F238E27FC236}">
                <a16:creationId xmlns:a16="http://schemas.microsoft.com/office/drawing/2014/main" id="{8ED4BBA5-B588-9FD8-2268-65AF2EEB301C}"/>
              </a:ext>
            </a:extLst>
          </p:cNvPr>
          <p:cNvSpPr txBox="1"/>
          <p:nvPr/>
        </p:nvSpPr>
        <p:spPr>
          <a:xfrm rot="5400000">
            <a:off x="-663318" y="3886831"/>
            <a:ext cx="3548276"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Arial" panose="020B0604020202020204" pitchFamily="34" charset="0"/>
                <a:ea typeface="ITC Benguiat Bold"/>
                <a:cs typeface="Arial" panose="020B0604020202020204" pitchFamily="34" charset="0"/>
                <a:sym typeface="ITC Benguiat Bold"/>
              </a:rPr>
              <a:t>METHODOLOGIE</a:t>
            </a:r>
          </a:p>
        </p:txBody>
      </p:sp>
      <p:pic>
        <p:nvPicPr>
          <p:cNvPr id="32" name="Graphique 77" descr="Recherches">
            <a:extLst>
              <a:ext uri="{FF2B5EF4-FFF2-40B4-BE49-F238E27FC236}">
                <a16:creationId xmlns:a16="http://schemas.microsoft.com/office/drawing/2014/main" id="{A422E8EC-89D7-5DF4-B0FF-225A72FA90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042" y="1491023"/>
            <a:ext cx="609600" cy="609600"/>
          </a:xfrm>
          <a:prstGeom prst="rect">
            <a:avLst/>
          </a:prstGeom>
        </p:spPr>
      </p:pic>
      <p:sp>
        <p:nvSpPr>
          <p:cNvPr id="34" name="TextBox 13">
            <a:extLst>
              <a:ext uri="{FF2B5EF4-FFF2-40B4-BE49-F238E27FC236}">
                <a16:creationId xmlns:a16="http://schemas.microsoft.com/office/drawing/2014/main" id="{7980D576-FE04-70C0-C71A-1727C695C86E}"/>
              </a:ext>
            </a:extLst>
          </p:cNvPr>
          <p:cNvSpPr txBox="1"/>
          <p:nvPr/>
        </p:nvSpPr>
        <p:spPr>
          <a:xfrm>
            <a:off x="5370516" y="529127"/>
            <a:ext cx="552764" cy="436017"/>
          </a:xfrm>
          <a:prstGeom prst="rect">
            <a:avLst/>
          </a:prstGeom>
        </p:spPr>
        <p:txBody>
          <a:bodyPr wrap="square" lIns="0" tIns="0" rIns="0" bIns="0" rtlCol="0" anchor="t">
            <a:spAutoFit/>
          </a:bodyPr>
          <a:lstStyle/>
          <a:p>
            <a:pPr algn="just">
              <a:lnSpc>
                <a:spcPts val="3360"/>
              </a:lnSpc>
            </a:pPr>
            <a:endParaRPr lang="en-US" sz="3200" dirty="0">
              <a:solidFill>
                <a:schemeClr val="tx2">
                  <a:lumMod val="75000"/>
                </a:schemeClr>
              </a:solidFill>
              <a:latin typeface="Arial" panose="020B0604020202020204" pitchFamily="34" charset="0"/>
              <a:ea typeface="ITC Benguiat Bold"/>
              <a:cs typeface="Arial" panose="020B0604020202020204" pitchFamily="34" charset="0"/>
              <a:sym typeface="ITC Benguiat Bold"/>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9A7D9B76-3221-4DEB-9730-8BCC2B9E83F4}"/>
                  </a:ext>
                </a:extLst>
              </p:cNvPr>
              <p:cNvSpPr txBox="1"/>
              <p:nvPr/>
            </p:nvSpPr>
            <p:spPr>
              <a:xfrm>
                <a:off x="1979881" y="4833070"/>
                <a:ext cx="8760258" cy="1985736"/>
              </a:xfrm>
              <a:prstGeom prst="rect">
                <a:avLst/>
              </a:prstGeom>
              <a:noFill/>
            </p:spPr>
            <p:txBody>
              <a:bodyPr wrap="square">
                <a:spAutoFit/>
              </a:bodyPr>
              <a:lstStyle/>
              <a:p>
                <a:pPr algn="just">
                  <a:lnSpc>
                    <a:spcPct val="107000"/>
                  </a:lnSpc>
                  <a:spcAft>
                    <a:spcPts val="800"/>
                  </a:spcAft>
                </a:pPr>
                <a14:m>
                  <m:oMathPara xmlns:m="http://schemas.openxmlformats.org/officeDocument/2006/math">
                    <m:oMath>
                      <m:sSub>
                        <m:sSubPr>
                          <m:ctrlPr>
                            <a:rPr lang="fr-FR" i="1">
                              <a:latin typeface="Cambria Math" panose="02040503050406030204" pitchFamily="18" charset="0"/>
                            </a:rPr>
                          </m:ctrlPr>
                        </m:sSubPr>
                        <m:e>
                          <m:r>
                            <a:rPr lang="fr-FR" i="1">
                              <a:latin typeface="Cambria Math" panose="02040503050406030204" pitchFamily="18" charset="0"/>
                            </a:rPr>
                            <m:t>𝑝</m:t>
                          </m:r>
                        </m:e>
                        <m:sub>
                          <m:r>
                            <a:rPr lang="fr-FR" i="1">
                              <a:latin typeface="Cambria Math" panose="02040503050406030204" pitchFamily="18" charset="0"/>
                            </a:rPr>
                            <m:t>1</m:t>
                          </m:r>
                        </m:sub>
                      </m:sSub>
                      <m:r>
                        <a:rPr lang="fr-FR" i="1">
                          <a:latin typeface="Cambria Math" panose="02040503050406030204" pitchFamily="18" charset="0"/>
                        </a:rPr>
                        <m:t>=</m:t>
                      </m:r>
                      <m:r>
                        <a:rPr lang="fr-FR" i="1">
                          <a:latin typeface="Cambria Math" panose="02040503050406030204" pitchFamily="18" charset="0"/>
                        </a:rPr>
                        <m:t>𝑃</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panose="02040503050406030204" pitchFamily="18" charset="0"/>
                                </a:rPr>
                                <m:t>𝑇</m:t>
                              </m:r>
                            </m:e>
                            <m:sub>
                              <m:r>
                                <a:rPr lang="fr-FR" i="1">
                                  <a:latin typeface="Cambria Math" panose="02040503050406030204" pitchFamily="18" charset="0"/>
                                </a:rPr>
                                <m:t>1</m:t>
                              </m:r>
                            </m:sub>
                          </m:sSub>
                          <m:r>
                            <a:rPr lang="fr-FR" i="1">
                              <a:latin typeface="Cambria Math" panose="02040503050406030204" pitchFamily="18" charset="0"/>
                            </a:rPr>
                            <m:t>=1,</m:t>
                          </m:r>
                          <m:sSub>
                            <m:sSubPr>
                              <m:ctrlPr>
                                <a:rPr lang="fr-FR" i="1">
                                  <a:latin typeface="Cambria Math" panose="02040503050406030204" pitchFamily="18" charset="0"/>
                                </a:rPr>
                              </m:ctrlPr>
                            </m:sSubPr>
                            <m:e>
                              <m:r>
                                <a:rPr lang="fr-FR" i="1">
                                  <a:latin typeface="Cambria Math" panose="02040503050406030204" pitchFamily="18" charset="0"/>
                                </a:rPr>
                                <m:t>𝑇</m:t>
                              </m:r>
                            </m:e>
                            <m:sub>
                              <m:r>
                                <a:rPr lang="fr-FR" i="1">
                                  <a:latin typeface="Cambria Math" panose="02040503050406030204" pitchFamily="18" charset="0"/>
                                </a:rPr>
                                <m:t>2</m:t>
                              </m:r>
                            </m:sub>
                          </m:sSub>
                          <m:r>
                            <a:rPr lang="fr-FR" i="1">
                              <a:latin typeface="Cambria Math" panose="02040503050406030204" pitchFamily="18" charset="0"/>
                            </a:rPr>
                            <m:t>=1</m:t>
                          </m:r>
                        </m:e>
                      </m:d>
                      <m:r>
                        <a:rPr lang="fr-FR" i="1">
                          <a:latin typeface="Cambria Math" panose="02040503050406030204" pitchFamily="18" charset="0"/>
                        </a:rPr>
                        <m:t>=</m:t>
                      </m:r>
                      <m:r>
                        <a:rPr lang="fr-FR" i="1">
                          <a:latin typeface="Cambria Math" panose="02040503050406030204" pitchFamily="18" charset="0"/>
                        </a:rPr>
                        <m:t>𝜋</m:t>
                      </m:r>
                      <m:r>
                        <a:rPr lang="fr-FR" i="1">
                          <a:latin typeface="Cambria Math" panose="02040503050406030204" pitchFamily="18" charset="0"/>
                        </a:rPr>
                        <m:t>[</m:t>
                      </m:r>
                      <m:r>
                        <a:rPr lang="fr-FR" i="1" smtClean="0">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1</m:t>
                          </m:r>
                        </m:sub>
                      </m:sSub>
                      <m:r>
                        <a:rPr lang="fr-FR" i="1">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2</m:t>
                          </m:r>
                        </m:sub>
                      </m:sSub>
                      <m:r>
                        <a:rPr lang="fr-FR" i="1">
                          <a:latin typeface="Cambria Math" panose="02040503050406030204" pitchFamily="18" charset="0"/>
                        </a:rPr>
                        <m:t>+</m:t>
                      </m:r>
                      <m:sSubSup>
                        <m:sSubSupPr>
                          <m:ctrlPr>
                            <a:rPr lang="fr-FR" b="1" i="1">
                              <a:latin typeface="Cambria Math" panose="02040503050406030204" pitchFamily="18" charset="0"/>
                            </a:rPr>
                          </m:ctrlPr>
                        </m:sSubSupPr>
                        <m:e>
                          <m:r>
                            <a:rPr lang="fr-FR" b="1" i="1">
                              <a:latin typeface="Cambria Math" panose="02040503050406030204" pitchFamily="18" charset="0"/>
                            </a:rPr>
                            <m:t>𝑪</m:t>
                          </m:r>
                        </m:e>
                        <m:sub>
                          <m:r>
                            <a:rPr lang="fr-FR" b="1" i="1">
                              <a:latin typeface="Cambria Math" panose="02040503050406030204" pitchFamily="18" charset="0"/>
                            </a:rPr>
                            <m:t>𝟏𝟐</m:t>
                          </m:r>
                        </m:sub>
                        <m:sup>
                          <m:r>
                            <a:rPr lang="fr-FR" b="1" i="1">
                              <a:latin typeface="Cambria Math" panose="02040503050406030204" pitchFamily="18" charset="0"/>
                            </a:rPr>
                            <m:t>+</m:t>
                          </m:r>
                        </m:sup>
                      </m:sSubSup>
                      <m:r>
                        <a:rPr lang="fr-FR" i="1">
                          <a:latin typeface="Cambria Math" panose="02040503050406030204" pitchFamily="18" charset="0"/>
                        </a:rPr>
                        <m:t>]+</m:t>
                      </m:r>
                      <m:d>
                        <m:dPr>
                          <m:ctrlPr>
                            <a:rPr lang="fr-FR" i="1">
                              <a:latin typeface="Cambria Math" panose="02040503050406030204" pitchFamily="18" charset="0"/>
                            </a:rPr>
                          </m:ctrlPr>
                        </m:dPr>
                        <m:e>
                          <m:r>
                            <a:rPr lang="fr-FR" i="1">
                              <a:latin typeface="Cambria Math" panose="02040503050406030204" pitchFamily="18" charset="0"/>
                            </a:rPr>
                            <m:t>1−</m:t>
                          </m:r>
                          <m:r>
                            <a:rPr lang="fr-FR" i="1">
                              <a:latin typeface="Cambria Math" panose="02040503050406030204" pitchFamily="18" charset="0"/>
                            </a:rPr>
                            <m:t>𝜋</m:t>
                          </m:r>
                        </m:e>
                      </m:d>
                      <m:r>
                        <a:rPr lang="fr-FR" i="1">
                          <a:latin typeface="Cambria Math" panose="02040503050406030204" pitchFamily="18" charset="0"/>
                        </a:rPr>
                        <m:t>[</m:t>
                      </m:r>
                      <m:d>
                        <m:dPr>
                          <m:ctrlPr>
                            <a:rPr lang="fr-FR" i="1">
                              <a:solidFill>
                                <a:schemeClr val="accent2"/>
                              </a:solidFill>
                              <a:latin typeface="Cambria Math" panose="02040503050406030204" pitchFamily="18" charset="0"/>
                            </a:rPr>
                          </m:ctrlPr>
                        </m:dPr>
                        <m:e>
                          <m:r>
                            <a:rPr lang="fr-FR"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1</m:t>
                              </m:r>
                            </m:sub>
                          </m:sSub>
                        </m:e>
                      </m:d>
                      <m:d>
                        <m:dPr>
                          <m:ctrlPr>
                            <a:rPr lang="fr-FR" i="1">
                              <a:solidFill>
                                <a:schemeClr val="accent2"/>
                              </a:solidFill>
                              <a:latin typeface="Cambria Math" panose="02040503050406030204" pitchFamily="18" charset="0"/>
                            </a:rPr>
                          </m:ctrlPr>
                        </m:dPr>
                        <m:e>
                          <m:r>
                            <a:rPr lang="fr-FR"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2</m:t>
                              </m:r>
                            </m:sub>
                          </m:sSub>
                        </m:e>
                      </m:d>
                      <m:r>
                        <a:rPr lang="fr-FR" i="1">
                          <a:latin typeface="Cambria Math" panose="02040503050406030204" pitchFamily="18" charset="0"/>
                        </a:rPr>
                        <m:t>+</m:t>
                      </m:r>
                      <m:sSubSup>
                        <m:sSubSupPr>
                          <m:ctrlPr>
                            <a:rPr lang="fr-FR" b="1" i="1">
                              <a:latin typeface="Cambria Math" panose="02040503050406030204" pitchFamily="18" charset="0"/>
                            </a:rPr>
                          </m:ctrlPr>
                        </m:sSubSupPr>
                        <m:e>
                          <m:r>
                            <a:rPr lang="fr-FR" b="1" i="1">
                              <a:latin typeface="Cambria Math" panose="02040503050406030204" pitchFamily="18" charset="0"/>
                            </a:rPr>
                            <m:t>𝑪</m:t>
                          </m:r>
                        </m:e>
                        <m:sub>
                          <m:r>
                            <a:rPr lang="fr-FR" b="1" i="1">
                              <a:latin typeface="Cambria Math" panose="02040503050406030204" pitchFamily="18" charset="0"/>
                            </a:rPr>
                            <m:t>𝟏𝟐</m:t>
                          </m:r>
                        </m:sub>
                        <m:sup>
                          <m:r>
                            <a:rPr lang="fr-FR" b="1" i="1">
                              <a:latin typeface="Cambria Math" panose="02040503050406030204" pitchFamily="18" charset="0"/>
                            </a:rPr>
                            <m:t>−</m:t>
                          </m:r>
                        </m:sup>
                      </m:sSubSup>
                      <m:r>
                        <a:rPr lang="fr-FR" i="1">
                          <a:latin typeface="Cambria Math" panose="02040503050406030204" pitchFamily="18" charset="0"/>
                        </a:rPr>
                        <m:t>]</m:t>
                      </m:r>
                    </m:oMath>
                  </m:oMathPara>
                </a14:m>
                <a:endParaRPr lang="fr-FR"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i="1">
                              <a:latin typeface="Cambria Math" panose="02040503050406030204" pitchFamily="18" charset="0"/>
                            </a:rPr>
                          </m:ctrlPr>
                        </m:sSubPr>
                        <m:e>
                          <m:r>
                            <a:rPr lang="fr-FR" i="1">
                              <a:latin typeface="Cambria Math" panose="02040503050406030204" pitchFamily="18" charset="0"/>
                            </a:rPr>
                            <m:t>𝑝</m:t>
                          </m:r>
                        </m:e>
                        <m:sub>
                          <m:r>
                            <a:rPr lang="fr-FR" i="1">
                              <a:latin typeface="Cambria Math" panose="02040503050406030204" pitchFamily="18" charset="0"/>
                            </a:rPr>
                            <m:t>2</m:t>
                          </m:r>
                        </m:sub>
                      </m:sSub>
                      <m:r>
                        <a:rPr lang="fr-FR" i="1">
                          <a:latin typeface="Cambria Math" panose="02040503050406030204" pitchFamily="18" charset="0"/>
                        </a:rPr>
                        <m:t>=</m:t>
                      </m:r>
                      <m:r>
                        <a:rPr lang="fr-FR" i="1">
                          <a:latin typeface="Cambria Math" panose="02040503050406030204" pitchFamily="18" charset="0"/>
                        </a:rPr>
                        <m:t>𝑃</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panose="02040503050406030204" pitchFamily="18" charset="0"/>
                                </a:rPr>
                                <m:t>𝑇</m:t>
                              </m:r>
                            </m:e>
                            <m:sub>
                              <m:r>
                                <a:rPr lang="fr-FR" i="1">
                                  <a:latin typeface="Cambria Math" panose="02040503050406030204" pitchFamily="18" charset="0"/>
                                </a:rPr>
                                <m:t>1</m:t>
                              </m:r>
                            </m:sub>
                          </m:sSub>
                          <m:r>
                            <a:rPr lang="fr-FR" i="1">
                              <a:latin typeface="Cambria Math" panose="02040503050406030204" pitchFamily="18" charset="0"/>
                            </a:rPr>
                            <m:t>=1,</m:t>
                          </m:r>
                          <m:sSub>
                            <m:sSubPr>
                              <m:ctrlPr>
                                <a:rPr lang="fr-FR" i="1">
                                  <a:latin typeface="Cambria Math" panose="02040503050406030204" pitchFamily="18" charset="0"/>
                                </a:rPr>
                              </m:ctrlPr>
                            </m:sSubPr>
                            <m:e>
                              <m:r>
                                <a:rPr lang="fr-FR" i="1">
                                  <a:latin typeface="Cambria Math" panose="02040503050406030204" pitchFamily="18" charset="0"/>
                                </a:rPr>
                                <m:t>𝑇</m:t>
                              </m:r>
                            </m:e>
                            <m:sub>
                              <m:r>
                                <a:rPr lang="fr-FR" i="1">
                                  <a:latin typeface="Cambria Math" panose="02040503050406030204" pitchFamily="18" charset="0"/>
                                </a:rPr>
                                <m:t>2</m:t>
                              </m:r>
                            </m:sub>
                          </m:sSub>
                          <m:r>
                            <a:rPr lang="fr-FR" i="1">
                              <a:latin typeface="Cambria Math" panose="02040503050406030204" pitchFamily="18" charset="0"/>
                            </a:rPr>
                            <m:t>=0</m:t>
                          </m:r>
                        </m:e>
                      </m:d>
                      <m:r>
                        <a:rPr lang="fr-FR" i="1">
                          <a:latin typeface="Cambria Math" panose="02040503050406030204" pitchFamily="18" charset="0"/>
                        </a:rPr>
                        <m:t>=</m:t>
                      </m:r>
                      <m:r>
                        <a:rPr lang="fr-FR" i="1">
                          <a:latin typeface="Cambria Math" panose="02040503050406030204" pitchFamily="18" charset="0"/>
                        </a:rPr>
                        <m:t>𝜋</m:t>
                      </m:r>
                      <m:r>
                        <a:rPr lang="fr-FR" i="1">
                          <a:latin typeface="Cambria Math" panose="02040503050406030204" pitchFamily="18" charset="0"/>
                        </a:rPr>
                        <m:t>[</m:t>
                      </m:r>
                      <m:r>
                        <a:rPr lang="fr-FR" i="1" smtClean="0">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1</m:t>
                          </m:r>
                        </m:sub>
                      </m:sSub>
                      <m:d>
                        <m:dPr>
                          <m:ctrlPr>
                            <a:rPr lang="fr-FR" i="1">
                              <a:solidFill>
                                <a:schemeClr val="accent1"/>
                              </a:solidFill>
                              <a:latin typeface="Cambria Math" panose="02040503050406030204" pitchFamily="18" charset="0"/>
                            </a:rPr>
                          </m:ctrlPr>
                        </m:dPr>
                        <m:e>
                          <m:r>
                            <a:rPr lang="fr-FR" i="1">
                              <a:solidFill>
                                <a:schemeClr val="accent1"/>
                              </a:solidFill>
                              <a:latin typeface="Cambria Math" panose="02040503050406030204" pitchFamily="18" charset="0"/>
                            </a:rPr>
                            <m:t>1−</m:t>
                          </m:r>
                          <m:r>
                            <a:rPr lang="fr-FR" i="1">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2</m:t>
                              </m:r>
                            </m:sub>
                          </m:sSub>
                        </m:e>
                      </m:d>
                      <m:r>
                        <a:rPr lang="fr-FR" i="1">
                          <a:latin typeface="Cambria Math" panose="02040503050406030204" pitchFamily="18" charset="0"/>
                        </a:rPr>
                        <m:t> −</m:t>
                      </m:r>
                      <m:sSubSup>
                        <m:sSubSupPr>
                          <m:ctrlPr>
                            <a:rPr lang="fr-FR" b="1" i="1">
                              <a:latin typeface="Cambria Math" panose="02040503050406030204" pitchFamily="18" charset="0"/>
                            </a:rPr>
                          </m:ctrlPr>
                        </m:sSubSupPr>
                        <m:e>
                          <m:r>
                            <a:rPr lang="fr-FR" b="1" i="1">
                              <a:latin typeface="Cambria Math" panose="02040503050406030204" pitchFamily="18" charset="0"/>
                            </a:rPr>
                            <m:t>𝑪</m:t>
                          </m:r>
                        </m:e>
                        <m:sub>
                          <m:r>
                            <a:rPr lang="fr-FR" b="1" i="1">
                              <a:latin typeface="Cambria Math" panose="02040503050406030204" pitchFamily="18" charset="0"/>
                            </a:rPr>
                            <m:t>𝟏𝟐</m:t>
                          </m:r>
                        </m:sub>
                        <m:sup>
                          <m:r>
                            <a:rPr lang="fr-FR" b="1" i="1">
                              <a:latin typeface="Cambria Math" panose="02040503050406030204" pitchFamily="18" charset="0"/>
                            </a:rPr>
                            <m:t>+</m:t>
                          </m:r>
                        </m:sup>
                      </m:sSubSup>
                      <m:r>
                        <a:rPr lang="fr-FR" i="1">
                          <a:latin typeface="Cambria Math" panose="02040503050406030204" pitchFamily="18" charset="0"/>
                        </a:rPr>
                        <m:t>]+</m:t>
                      </m:r>
                      <m:d>
                        <m:dPr>
                          <m:ctrlPr>
                            <a:rPr lang="fr-FR" i="1">
                              <a:latin typeface="Cambria Math" panose="02040503050406030204" pitchFamily="18" charset="0"/>
                            </a:rPr>
                          </m:ctrlPr>
                        </m:dPr>
                        <m:e>
                          <m:r>
                            <a:rPr lang="fr-FR" i="1">
                              <a:latin typeface="Cambria Math" panose="02040503050406030204" pitchFamily="18" charset="0"/>
                            </a:rPr>
                            <m:t>1−</m:t>
                          </m:r>
                          <m:r>
                            <a:rPr lang="fr-FR" i="1">
                              <a:latin typeface="Cambria Math" panose="02040503050406030204" pitchFamily="18" charset="0"/>
                            </a:rPr>
                            <m:t>𝜋</m:t>
                          </m:r>
                        </m:e>
                      </m:d>
                      <m:r>
                        <a:rPr lang="fr-FR" i="1">
                          <a:latin typeface="Cambria Math" panose="02040503050406030204" pitchFamily="18" charset="0"/>
                        </a:rPr>
                        <m:t>[</m:t>
                      </m:r>
                      <m:d>
                        <m:dPr>
                          <m:ctrlPr>
                            <a:rPr lang="fr-FR" i="1">
                              <a:solidFill>
                                <a:schemeClr val="accent2"/>
                              </a:solidFill>
                              <a:latin typeface="Cambria Math" panose="02040503050406030204" pitchFamily="18" charset="0"/>
                            </a:rPr>
                          </m:ctrlPr>
                        </m:dPr>
                        <m:e>
                          <m:r>
                            <a:rPr lang="fr-FR"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1</m:t>
                              </m:r>
                            </m:sub>
                          </m:sSub>
                        </m:e>
                      </m:d>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2</m:t>
                          </m:r>
                        </m:sub>
                      </m:sSub>
                      <m:r>
                        <a:rPr lang="fr-FR" i="1">
                          <a:latin typeface="Cambria Math" panose="02040503050406030204" pitchFamily="18" charset="0"/>
                        </a:rPr>
                        <m:t>−</m:t>
                      </m:r>
                      <m:sSubSup>
                        <m:sSubSupPr>
                          <m:ctrlPr>
                            <a:rPr lang="fr-FR" b="1" i="1">
                              <a:latin typeface="Cambria Math" panose="02040503050406030204" pitchFamily="18" charset="0"/>
                            </a:rPr>
                          </m:ctrlPr>
                        </m:sSubSupPr>
                        <m:e>
                          <m:r>
                            <a:rPr lang="fr-FR" b="1" i="1">
                              <a:latin typeface="Cambria Math" panose="02040503050406030204" pitchFamily="18" charset="0"/>
                            </a:rPr>
                            <m:t>𝑪</m:t>
                          </m:r>
                        </m:e>
                        <m:sub>
                          <m:r>
                            <a:rPr lang="fr-FR" b="1" i="1">
                              <a:latin typeface="Cambria Math" panose="02040503050406030204" pitchFamily="18" charset="0"/>
                            </a:rPr>
                            <m:t>𝟏𝟐</m:t>
                          </m:r>
                        </m:sub>
                        <m:sup>
                          <m:r>
                            <a:rPr lang="fr-FR" b="1" i="1">
                              <a:latin typeface="Cambria Math" panose="02040503050406030204" pitchFamily="18" charset="0"/>
                            </a:rPr>
                            <m:t>−</m:t>
                          </m:r>
                        </m:sup>
                      </m:sSubSup>
                      <m:r>
                        <m:rPr>
                          <m:nor/>
                        </m:rPr>
                        <a:rPr lang="fr-FR" i="0"/>
                        <m:t>]</m:t>
                      </m:r>
                    </m:oMath>
                  </m:oMathPara>
                </a14:m>
                <a:endParaRPr lang="fr-FR" dirty="0">
                  <a:latin typeface="Calibri" panose="020F0502020204030204" pitchFamily="34" charset="0"/>
                </a:endParaRPr>
              </a:p>
              <a:p>
                <a:pPr algn="just">
                  <a:lnSpc>
                    <a:spcPct val="107000"/>
                  </a:lnSpc>
                  <a:spcAft>
                    <a:spcPts val="800"/>
                  </a:spcAft>
                </a:pPr>
                <a14:m>
                  <m:oMathPara xmlns:m="http://schemas.openxmlformats.org/officeDocument/2006/math">
                    <m:oMath>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2 </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𝑪</m:t>
                          </m:r>
                        </m:e>
                        <m:sub>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𝟏𝟐</m:t>
                          </m:r>
                        </m:sub>
                        <m:sup>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smtClean="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𝑪</m:t>
                          </m:r>
                        </m:e>
                        <m:sub>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𝟏𝟐</m:t>
                          </m:r>
                        </m:sub>
                        <m:sup>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 </m:t>
                      </m:r>
                      <m:sSubSup>
                        <m:sSubSupPr>
                          <m:ctrlP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𝑪</m:t>
                          </m:r>
                        </m:e>
                        <m:sub>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𝟏𝟐</m:t>
                          </m:r>
                        </m:sub>
                        <m:sup>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smtClean="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𝑪</m:t>
                          </m:r>
                        </m:e>
                        <m:sub>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𝟏𝟐</m:t>
                          </m:r>
                        </m:sub>
                        <m:sup>
                          <m:r>
                            <a:rPr lang="fr-FR" sz="1800" b="1" i="1">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 name="ZoneTexte 18">
                <a:extLst>
                  <a:ext uri="{FF2B5EF4-FFF2-40B4-BE49-F238E27FC236}">
                    <a16:creationId xmlns:a16="http://schemas.microsoft.com/office/drawing/2014/main" id="{9A7D9B76-3221-4DEB-9730-8BCC2B9E83F4}"/>
                  </a:ext>
                </a:extLst>
              </p:cNvPr>
              <p:cNvSpPr txBox="1">
                <a:spLocks noRot="1" noChangeAspect="1" noMove="1" noResize="1" noEditPoints="1" noAdjustHandles="1" noChangeArrowheads="1" noChangeShapeType="1" noTextEdit="1"/>
              </p:cNvSpPr>
              <p:nvPr/>
            </p:nvSpPr>
            <p:spPr>
              <a:xfrm>
                <a:off x="1979881" y="4833070"/>
                <a:ext cx="8760258" cy="1985736"/>
              </a:xfrm>
              <a:prstGeom prst="rect">
                <a:avLst/>
              </a:prstGeom>
              <a:blipFill>
                <a:blip r:embed="rId6"/>
                <a:stretch>
                  <a:fillRect/>
                </a:stretch>
              </a:blipFill>
            </p:spPr>
            <p:txBody>
              <a:bodyPr/>
              <a:lstStyle/>
              <a:p>
                <a:r>
                  <a:rPr lang="fr-FR">
                    <a:noFill/>
                  </a:rPr>
                  <a:t> </a:t>
                </a:r>
              </a:p>
            </p:txBody>
          </p:sp>
        </mc:Fallback>
      </mc:AlternateContent>
      <p:sp>
        <p:nvSpPr>
          <p:cNvPr id="20" name="ZoneTexte 19">
            <a:extLst>
              <a:ext uri="{FF2B5EF4-FFF2-40B4-BE49-F238E27FC236}">
                <a16:creationId xmlns:a16="http://schemas.microsoft.com/office/drawing/2014/main" id="{3F2F1D2B-FE33-4D6E-8ECA-B7998750E89F}"/>
              </a:ext>
            </a:extLst>
          </p:cNvPr>
          <p:cNvSpPr txBox="1"/>
          <p:nvPr/>
        </p:nvSpPr>
        <p:spPr>
          <a:xfrm>
            <a:off x="1548642" y="4018477"/>
            <a:ext cx="10469183" cy="735201"/>
          </a:xfrm>
          <a:prstGeom prst="rect">
            <a:avLst/>
          </a:prstGeom>
          <a:noFill/>
        </p:spPr>
        <p:txBody>
          <a:bodyPr wrap="square" rtlCol="0">
            <a:spAutoFit/>
          </a:bodyPr>
          <a:lstStyle/>
          <a:p>
            <a:pPr marL="285750" indent="-285750">
              <a:lnSpc>
                <a:spcPts val="2640"/>
              </a:lnSpc>
              <a:buFont typeface="Wingdings" panose="05000000000000000000" pitchFamily="2" charset="2"/>
              <a:buChar char="q"/>
            </a:pPr>
            <a:r>
              <a:rPr lang="fr-FR" sz="2000" b="1" dirty="0">
                <a:latin typeface="Georgia" panose="02040502050405020303" pitchFamily="18" charset="0"/>
              </a:rPr>
              <a:t>Prise en compte corrélation entre les 2 tests </a:t>
            </a:r>
            <a:r>
              <a:rPr lang="fr-FR" sz="2000" dirty="0">
                <a:latin typeface="Georgia" panose="02040502050405020303" pitchFamily="18" charset="0"/>
                <a:sym typeface="Wingdings" panose="05000000000000000000" pitchFamily="2" charset="2"/>
              </a:rPr>
              <a:t> </a:t>
            </a:r>
            <a:r>
              <a:rPr lang="fr-FR" sz="2000" dirty="0">
                <a:latin typeface="Georgia" panose="02040502050405020303" pitchFamily="18" charset="0"/>
              </a:rPr>
              <a:t>Covariances chez les animaux positifs et chez les négatifs </a:t>
            </a:r>
          </a:p>
        </p:txBody>
      </p:sp>
      <p:sp>
        <p:nvSpPr>
          <p:cNvPr id="4" name="Espace réservé du numéro de diapositive 3">
            <a:extLst>
              <a:ext uri="{FF2B5EF4-FFF2-40B4-BE49-F238E27FC236}">
                <a16:creationId xmlns:a16="http://schemas.microsoft.com/office/drawing/2014/main" id="{1AE43056-3EED-5864-EB9A-062F3A7379A5}"/>
              </a:ext>
            </a:extLst>
          </p:cNvPr>
          <p:cNvSpPr>
            <a:spLocks noGrp="1"/>
          </p:cNvSpPr>
          <p:nvPr>
            <p:ph type="sldNum" sz="quarter" idx="12"/>
          </p:nvPr>
        </p:nvSpPr>
        <p:spPr/>
        <p:txBody>
          <a:bodyPr/>
          <a:lstStyle/>
          <a:p>
            <a:fld id="{453A7091-84B4-4BFC-9E12-327F477830A7}" type="slidenum">
              <a:rPr lang="fr-FR" smtClean="0"/>
              <a:t>6</a:t>
            </a:fld>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3D57B75C-57F8-77CD-6467-BD7EA7FBCD0A}"/>
                  </a:ext>
                </a:extLst>
              </p:cNvPr>
              <p:cNvSpPr txBox="1"/>
              <p:nvPr/>
            </p:nvSpPr>
            <p:spPr>
              <a:xfrm>
                <a:off x="2055848" y="1916951"/>
                <a:ext cx="7179385" cy="2083327"/>
              </a:xfrm>
              <a:prstGeom prst="rect">
                <a:avLst/>
              </a:prstGeom>
              <a:noFill/>
            </p:spPr>
            <p:txBody>
              <a:bodyPr wrap="square">
                <a:spAutoFit/>
              </a:bodyPr>
              <a:lstStyle/>
              <a:p>
                <a:pPr algn="just">
                  <a:lnSpc>
                    <a:spcPct val="107000"/>
                  </a:lnSpc>
                  <a:spcAft>
                    <a:spcPts val="800"/>
                  </a:spcAft>
                </a:pPr>
                <a14:m>
                  <m:oMathPara xmlns:m="http://schemas.openxmlformats.org/officeDocument/2006/math">
                    <m:oMath>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fr-FR" sz="2400" i="1">
                              <a:effectLst/>
                              <a:latin typeface="Cambria Math" panose="02040503050406030204" pitchFamily="18" charset="0"/>
                              <a:ea typeface="Calibri" panose="020F0502020204030204" pitchFamily="34" charset="0"/>
                              <a:cs typeface="Times New Roman" panose="02020603050405020304" pitchFamily="18" charset="0"/>
                            </a:rPr>
                            <m:t>11</m:t>
                          </m:r>
                        </m:sub>
                      </m:sSub>
                      <m:r>
                        <a:rPr lang="fr-FR"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fr-FR" sz="2400" i="1">
                              <a:effectLst/>
                              <a:latin typeface="Cambria Math" panose="02040503050406030204" pitchFamily="18" charset="0"/>
                              <a:ea typeface="Calibri" panose="020F0502020204030204" pitchFamily="34" charset="0"/>
                              <a:cs typeface="Times New Roman" panose="02020603050405020304" pitchFamily="18" charset="0"/>
                            </a:rPr>
                            <m:t>10</m:t>
                          </m:r>
                        </m:sub>
                      </m:sSub>
                      <m:r>
                        <a:rPr lang="fr-FR"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fr-FR" sz="2400" i="1">
                              <a:effectLst/>
                              <a:latin typeface="Cambria Math" panose="02040503050406030204" pitchFamily="18" charset="0"/>
                              <a:ea typeface="Calibri" panose="020F0502020204030204" pitchFamily="34" charset="0"/>
                              <a:cs typeface="Times New Roman" panose="02020603050405020304" pitchFamily="18" charset="0"/>
                            </a:rPr>
                            <m:t>01</m:t>
                          </m:r>
                        </m:sub>
                      </m:sSub>
                      <m:r>
                        <a:rPr lang="fr-FR" sz="2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fr-FR"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fr-FR" sz="2400" i="1">
                              <a:effectLst/>
                              <a:latin typeface="Cambria Math" panose="02040503050406030204" pitchFamily="18" charset="0"/>
                              <a:ea typeface="Calibri" panose="020F0502020204030204" pitchFamily="34" charset="0"/>
                              <a:cs typeface="Times New Roman" panose="02020603050405020304" pitchFamily="18" charset="0"/>
                            </a:rPr>
                            <m:t>00</m:t>
                          </m:r>
                        </m:sub>
                      </m:sSub>
                      <m:r>
                        <a:rPr lang="fr-FR" sz="2400">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r>
                        <m:rPr>
                          <m:nor/>
                        </m:rPr>
                        <a:rPr lang="fr-FR" sz="2400" i="0">
                          <a:solidFill>
                            <a:srgbClr val="131417"/>
                          </a:solidFill>
                          <a:effectLst/>
                          <a:latin typeface="Times New Roman" panose="02020603050405020304" pitchFamily="18" charset="0"/>
                          <a:ea typeface="Calibri" panose="020F0502020204030204" pitchFamily="34" charset="0"/>
                          <a:cs typeface="Times New Roman" panose="02020603050405020304" pitchFamily="18" charset="0"/>
                        </a:rPr>
                        <m:t>Multinomial</m:t>
                      </m:r>
                      <m:d>
                        <m:dPr>
                          <m:ctrlP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𝑁</m:t>
                          </m:r>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4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4</m:t>
                              </m:r>
                            </m:sub>
                          </m:sSub>
                        </m:e>
                      </m:d>
                    </m:oMath>
                  </m:oMathPara>
                </a14:m>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e>
                      </m:d>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𝜋</m:t>
                      </m:r>
                      <m:r>
                        <a:rPr lang="fr-FR" sz="1800" i="1" smtClean="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1800" i="1">
                              <a:solidFill>
                                <a:srgbClr val="131417"/>
                              </a:solidFill>
                              <a:effectLst/>
                              <a:latin typeface="Cambria Math" panose="02040503050406030204" pitchFamily="18" charset="0"/>
                              <a:ea typeface="Calibri" panose="020F0502020204030204" pitchFamily="34" charset="0"/>
                              <a:cs typeface="Times New Roman" panose="02020603050405020304" pitchFamily="18" charset="0"/>
                            </a:rPr>
                            <m:t>𝜋</m:t>
                          </m:r>
                        </m:e>
                      </m:d>
                      <m:d>
                        <m:dPr>
                          <m:ctrlP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sub>
                          </m:sSub>
                        </m:e>
                      </m:d>
                      <m:d>
                        <m:dPr>
                          <m:ctrlP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2</m:t>
                              </m:r>
                            </m:sub>
                          </m:sSub>
                        </m:e>
                      </m:d>
                    </m:oMath>
                  </m:oMathPara>
                </a14:m>
                <a:endParaRPr lang="fr-FR"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fr-FR" sz="1800" i="1" smtClean="0">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e>
                      </m:d>
                      <m:d>
                        <m:d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fr-FR" sz="18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e>
                      </m:d>
                      <m:r>
                        <a:rPr lang="fr-FR" sz="1800" i="1" smtClean="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d>
                    </m:oMath>
                  </m:oMathPara>
                </a14:m>
                <a:endParaRPr lang="fr-FR" dirty="0">
                  <a:solidFill>
                    <a:schemeClr val="accent2"/>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d>
                        <m:d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𝜋</m:t>
                          </m:r>
                        </m:e>
                      </m:d>
                      <m:r>
                        <a:rPr lang="fr-FR" sz="1800" i="1" smtClean="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fr-FR" sz="18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ZoneTexte 5">
                <a:extLst>
                  <a:ext uri="{FF2B5EF4-FFF2-40B4-BE49-F238E27FC236}">
                    <a16:creationId xmlns:a16="http://schemas.microsoft.com/office/drawing/2014/main" id="{3D57B75C-57F8-77CD-6467-BD7EA7FBCD0A}"/>
                  </a:ext>
                </a:extLst>
              </p:cNvPr>
              <p:cNvSpPr txBox="1">
                <a:spLocks noRot="1" noChangeAspect="1" noMove="1" noResize="1" noEditPoints="1" noAdjustHandles="1" noChangeArrowheads="1" noChangeShapeType="1" noTextEdit="1"/>
              </p:cNvSpPr>
              <p:nvPr/>
            </p:nvSpPr>
            <p:spPr>
              <a:xfrm>
                <a:off x="2055848" y="1916951"/>
                <a:ext cx="7179385" cy="2083327"/>
              </a:xfrm>
              <a:prstGeom prst="rect">
                <a:avLst/>
              </a:prstGeom>
              <a:blipFill>
                <a:blip r:embed="rId7"/>
                <a:stretch>
                  <a:fillRect/>
                </a:stretch>
              </a:blipFill>
            </p:spPr>
            <p:txBody>
              <a:bodyPr/>
              <a:lstStyle/>
              <a:p>
                <a:r>
                  <a:rPr lang="fr-FR">
                    <a:noFill/>
                  </a:rPr>
                  <a:t> </a:t>
                </a:r>
              </a:p>
            </p:txBody>
          </p:sp>
        </mc:Fallback>
      </mc:AlternateContent>
      <p:sp>
        <p:nvSpPr>
          <p:cNvPr id="8" name="ZoneTexte 7">
            <a:extLst>
              <a:ext uri="{FF2B5EF4-FFF2-40B4-BE49-F238E27FC236}">
                <a16:creationId xmlns:a16="http://schemas.microsoft.com/office/drawing/2014/main" id="{4D36C763-4B36-50A8-437B-5F9EC25326EA}"/>
              </a:ext>
            </a:extLst>
          </p:cNvPr>
          <p:cNvSpPr txBox="1"/>
          <p:nvPr/>
        </p:nvSpPr>
        <p:spPr>
          <a:xfrm>
            <a:off x="1673063" y="1518252"/>
            <a:ext cx="9365331" cy="398699"/>
          </a:xfrm>
          <a:prstGeom prst="rect">
            <a:avLst/>
          </a:prstGeom>
          <a:noFill/>
        </p:spPr>
        <p:txBody>
          <a:bodyPr wrap="square">
            <a:spAutoFit/>
          </a:bodyPr>
          <a:lstStyle/>
          <a:p>
            <a:pPr marL="285750" indent="-285750" algn="just">
              <a:lnSpc>
                <a:spcPct val="107000"/>
              </a:lnSpc>
              <a:spcAft>
                <a:spcPts val="800"/>
              </a:spcAft>
              <a:buFont typeface="Wingdings" panose="05000000000000000000" pitchFamily="2" charset="2"/>
              <a:buChar char="q"/>
            </a:pPr>
            <a:r>
              <a:rPr lang="fr-FR" sz="2000" b="1" dirty="0">
                <a:latin typeface="Georgia" panose="02040502050405020303" pitchFamily="18" charset="0"/>
              </a:rPr>
              <a:t>Vraisemblance du modèle (2 tests indépendants)</a:t>
            </a: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B24B1B21-5329-EBB8-47C2-E982BAFC8794}"/>
                  </a:ext>
                </a:extLst>
              </p:cNvPr>
              <p:cNvSpPr txBox="1"/>
              <p:nvPr/>
            </p:nvSpPr>
            <p:spPr>
              <a:xfrm>
                <a:off x="8831747" y="2370499"/>
                <a:ext cx="3499995" cy="1007455"/>
              </a:xfrm>
              <a:prstGeom prst="rect">
                <a:avLst/>
              </a:prstGeom>
              <a:noFill/>
            </p:spPr>
            <p:txBody>
              <a:bodyPr wrap="square">
                <a:spAutoFit/>
              </a:bodyPr>
              <a:lstStyle/>
              <a:p>
                <a:pPr algn="ctr"/>
                <a:r>
                  <a:rPr lang="fr-FR" sz="1800" dirty="0">
                    <a:effectLst/>
                    <a:latin typeface="Times New Roman" panose="02020603050405020304" pitchFamily="18" charset="0"/>
                    <a:ea typeface="Times New Roman" panose="02020603050405020304" pitchFamily="18" charset="0"/>
                  </a:rPr>
                  <a:t> </a:t>
                </a:r>
                <a14:m>
                  <m:oMath xmlns:m="http://schemas.openxmlformats.org/officeDocument/2006/math">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sepChr m:val="∣"/>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𝐷</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=1</m:t>
                        </m:r>
                      </m:e>
                    </m:d>
                  </m:oMath>
                </a14:m>
                <a:endParaRPr lang="fr-FR" dirty="0"/>
              </a:p>
              <a:p>
                <a:pPr/>
                <a14:m>
                  <m:oMathPara xmlns:m="http://schemas.openxmlformats.org/officeDocument/2006/math">
                    <m:oMath>
                      <m:r>
                        <a:rPr lang="fr-FR" sz="1800" i="1" smtClean="0">
                          <a:effectLst/>
                          <a:latin typeface="Cambria Math" panose="02040503050406030204" pitchFamily="18" charset="0"/>
                          <a:ea typeface="Times New Roman" panose="02020603050405020304" pitchFamily="18" charset="0"/>
                          <a:cs typeface="Times New Roman" panose="02020603050405020304" pitchFamily="18" charset="0"/>
                        </a:rPr>
                        <m:t>𝑆</m:t>
                      </m:r>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𝑃</m:t>
                      </m:r>
                      <m:d>
                        <m:dPr>
                          <m:sepChr m:val="∣"/>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𝐷</m:t>
                          </m:r>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=0</m:t>
                          </m:r>
                        </m:e>
                      </m:d>
                    </m:oMath>
                  </m:oMathPara>
                </a14:m>
                <a:endParaRPr lang="fr-FR" sz="1800" dirty="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
                    </m:oMathParaPr>
                    <m:oMath>
                      <m:r>
                        <a:rPr lang="fr-FR" sz="1800" i="1" smtClean="0">
                          <a:effectLst/>
                          <a:latin typeface="Cambria Math" panose="02040503050406030204" pitchFamily="18" charset="0"/>
                          <a:ea typeface="Calibri" panose="020F0502020204030204" pitchFamily="34" charset="0"/>
                          <a:cs typeface="Times New Roman" panose="02020603050405020304" pitchFamily="18" charset="0"/>
                        </a:rPr>
                        <m:t>𝜋</m:t>
                      </m:r>
                      <m:r>
                        <a:rPr lang="fr-FR" sz="1800" i="1" smtClean="0">
                          <a:effectLst/>
                          <a:latin typeface="Cambria Math" panose="02040503050406030204" pitchFamily="18" charset="0"/>
                          <a:ea typeface="Calibri" panose="020F0502020204030204" pitchFamily="34" charset="0"/>
                          <a:cs typeface="Times New Roman" panose="02020603050405020304" pitchFamily="18" charset="0"/>
                        </a:rPr>
                        <m:t>=</m:t>
                      </m:r>
                      <m:r>
                        <a:rPr lang="fr-FR" sz="180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FR"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fr-FR" sz="1800" i="1">
                              <a:effectLst/>
                              <a:latin typeface="Cambria Math" panose="02040503050406030204" pitchFamily="18" charset="0"/>
                              <a:ea typeface="Calibri" panose="020F0502020204030204" pitchFamily="34" charset="0"/>
                              <a:cs typeface="Times New Roman" panose="02020603050405020304" pitchFamily="18" charset="0"/>
                            </a:rPr>
                            <m:t>𝐷</m:t>
                          </m:r>
                          <m:r>
                            <a:rPr lang="fr-FR" sz="1800" i="1">
                              <a:effectLst/>
                              <a:latin typeface="Cambria Math" panose="02040503050406030204" pitchFamily="18" charset="0"/>
                              <a:ea typeface="Calibri" panose="020F0502020204030204" pitchFamily="34" charset="0"/>
                              <a:cs typeface="Times New Roman" panose="02020603050405020304" pitchFamily="18" charset="0"/>
                            </a:rPr>
                            <m:t>=1</m:t>
                          </m:r>
                        </m:e>
                      </m:d>
                    </m:oMath>
                  </m:oMathPara>
                </a14:m>
                <a:endParaRPr lang="fr-FR" dirty="0"/>
              </a:p>
            </p:txBody>
          </p:sp>
        </mc:Choice>
        <mc:Fallback xmlns="">
          <p:sp>
            <p:nvSpPr>
              <p:cNvPr id="10" name="ZoneTexte 9">
                <a:extLst>
                  <a:ext uri="{FF2B5EF4-FFF2-40B4-BE49-F238E27FC236}">
                    <a16:creationId xmlns:a16="http://schemas.microsoft.com/office/drawing/2014/main" id="{B24B1B21-5329-EBB8-47C2-E982BAFC8794}"/>
                  </a:ext>
                </a:extLst>
              </p:cNvPr>
              <p:cNvSpPr txBox="1">
                <a:spLocks noRot="1" noChangeAspect="1" noMove="1" noResize="1" noEditPoints="1" noAdjustHandles="1" noChangeArrowheads="1" noChangeShapeType="1" noTextEdit="1"/>
              </p:cNvSpPr>
              <p:nvPr/>
            </p:nvSpPr>
            <p:spPr>
              <a:xfrm>
                <a:off x="8831747" y="2370499"/>
                <a:ext cx="3499995" cy="1007455"/>
              </a:xfrm>
              <a:prstGeom prst="rect">
                <a:avLst/>
              </a:prstGeom>
              <a:blipFill>
                <a:blip r:embed="rId8"/>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19738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391125" y="4163181"/>
            <a:ext cx="10003955" cy="1194"/>
          </a:xfrm>
          <a:prstGeom prst="line">
            <a:avLst/>
          </a:prstGeom>
          <a:ln w="57150" cap="flat">
            <a:solidFill>
              <a:srgbClr val="CD7638"/>
            </a:solidFill>
            <a:prstDash val="solid"/>
            <a:headEnd type="none" w="sm" len="sm"/>
            <a:tailEnd type="none" w="sm" len="sm"/>
          </a:ln>
        </p:spPr>
        <p:txBody>
          <a:bodyPr/>
          <a:lstStyle/>
          <a:p>
            <a:endParaRPr lang="fr-CM" sz="1200" dirty="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825876"/>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p>
        </p:txBody>
      </p:sp>
      <p:sp>
        <p:nvSpPr>
          <p:cNvPr id="21" name="TextBox 13">
            <a:extLst>
              <a:ext uri="{FF2B5EF4-FFF2-40B4-BE49-F238E27FC236}">
                <a16:creationId xmlns:a16="http://schemas.microsoft.com/office/drawing/2014/main" id="{1F418A37-11BA-005E-08D5-3E3D9410E8B9}"/>
              </a:ext>
            </a:extLst>
          </p:cNvPr>
          <p:cNvSpPr txBox="1"/>
          <p:nvPr/>
        </p:nvSpPr>
        <p:spPr>
          <a:xfrm>
            <a:off x="5045281" y="199631"/>
            <a:ext cx="5043599" cy="419282"/>
          </a:xfrm>
          <a:prstGeom prst="rect">
            <a:avLst/>
          </a:prstGeom>
        </p:spPr>
        <p:txBody>
          <a:bodyPr wrap="square" lIns="0" tIns="0" rIns="0" bIns="0" rtlCol="0" anchor="t">
            <a:spAutoFit/>
          </a:bodyPr>
          <a:lstStyle/>
          <a:p>
            <a:pPr algn="just">
              <a:lnSpc>
                <a:spcPts val="3360"/>
              </a:lnSpc>
            </a:pPr>
            <a:r>
              <a:rPr lang="fr-FR" sz="2800" dirty="0">
                <a:solidFill>
                  <a:schemeClr val="accent6"/>
                </a:solidFill>
                <a:latin typeface="Georgia" panose="02040502050405020303" pitchFamily="18" charset="0"/>
                <a:sym typeface="ITC Benguiat Bold"/>
              </a:rPr>
              <a:t>Modélisation</a:t>
            </a:r>
            <a:r>
              <a:rPr lang="en-US" sz="2800" dirty="0">
                <a:solidFill>
                  <a:schemeClr val="tx2">
                    <a:lumMod val="75000"/>
                  </a:schemeClr>
                </a:solidFill>
                <a:latin typeface="ITC Benguiat Bold"/>
                <a:ea typeface="ITC Benguiat Bold"/>
                <a:cs typeface="ITC Benguiat Bold"/>
                <a:sym typeface="ITC Benguiat Bold"/>
              </a:rPr>
              <a:t> </a:t>
            </a:r>
            <a:r>
              <a:rPr lang="fr-FR" sz="2800" dirty="0">
                <a:solidFill>
                  <a:schemeClr val="accent6"/>
                </a:solidFill>
                <a:latin typeface="Georgia" panose="02040502050405020303" pitchFamily="18" charset="0"/>
                <a:sym typeface="ITC Benguiat Bold"/>
              </a:rPr>
              <a:t>individuelle</a:t>
            </a:r>
          </a:p>
        </p:txBody>
      </p:sp>
      <p:sp>
        <p:nvSpPr>
          <p:cNvPr id="29" name="TextBox 17">
            <a:extLst>
              <a:ext uri="{FF2B5EF4-FFF2-40B4-BE49-F238E27FC236}">
                <a16:creationId xmlns:a16="http://schemas.microsoft.com/office/drawing/2014/main" id="{8ED4BBA5-B588-9FD8-2268-65AF2EEB301C}"/>
              </a:ext>
            </a:extLst>
          </p:cNvPr>
          <p:cNvSpPr txBox="1"/>
          <p:nvPr/>
        </p:nvSpPr>
        <p:spPr>
          <a:xfrm rot="5400000">
            <a:off x="-616224" y="3859398"/>
            <a:ext cx="3548276"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ea typeface="ITC Benguiat Bold"/>
                <a:cs typeface="ITC Benguiat Bold"/>
                <a:sym typeface="ITC Benguiat Bold"/>
              </a:rPr>
              <a:t>METHODOLOGIE</a:t>
            </a:r>
            <a:endParaRPr lang="en-US" sz="3200" dirty="0">
              <a:solidFill>
                <a:srgbClr val="012F7F"/>
              </a:solidFill>
              <a:latin typeface="Georgia" panose="02040502050405020303" pitchFamily="18" charset="0"/>
              <a:ea typeface="ITC Benguiat Bold"/>
              <a:cs typeface="ITC Benguiat Bold"/>
              <a:sym typeface="ITC Benguiat Bold"/>
            </a:endParaRPr>
          </a:p>
        </p:txBody>
      </p:sp>
      <p:pic>
        <p:nvPicPr>
          <p:cNvPr id="32" name="Graphique 77" descr="Recherches">
            <a:extLst>
              <a:ext uri="{FF2B5EF4-FFF2-40B4-BE49-F238E27FC236}">
                <a16:creationId xmlns:a16="http://schemas.microsoft.com/office/drawing/2014/main" id="{A422E8EC-89D7-5DF4-B0FF-225A72FA90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042" y="1491023"/>
            <a:ext cx="609600" cy="609600"/>
          </a:xfrm>
          <a:prstGeom prst="rect">
            <a:avLst/>
          </a:prstGeom>
        </p:spPr>
      </p:pic>
      <p:sp>
        <p:nvSpPr>
          <p:cNvPr id="34" name="TextBox 13">
            <a:extLst>
              <a:ext uri="{FF2B5EF4-FFF2-40B4-BE49-F238E27FC236}">
                <a16:creationId xmlns:a16="http://schemas.microsoft.com/office/drawing/2014/main" id="{7980D576-FE04-70C0-C71A-1727C695C86E}"/>
              </a:ext>
            </a:extLst>
          </p:cNvPr>
          <p:cNvSpPr txBox="1"/>
          <p:nvPr/>
        </p:nvSpPr>
        <p:spPr>
          <a:xfrm>
            <a:off x="5370516" y="529127"/>
            <a:ext cx="552764" cy="436017"/>
          </a:xfrm>
          <a:prstGeom prst="rect">
            <a:avLst/>
          </a:prstGeom>
        </p:spPr>
        <p:txBody>
          <a:bodyPr wrap="square" lIns="0" tIns="0" rIns="0" bIns="0" rtlCol="0" anchor="t">
            <a:spAutoFit/>
          </a:bodyPr>
          <a:lstStyle/>
          <a:p>
            <a:pPr algn="just">
              <a:lnSpc>
                <a:spcPts val="3360"/>
              </a:lnSpc>
            </a:pPr>
            <a:endParaRPr lang="en-US" sz="3200" dirty="0">
              <a:solidFill>
                <a:schemeClr val="tx2">
                  <a:lumMod val="75000"/>
                </a:schemeClr>
              </a:solidFill>
              <a:latin typeface="ITC Benguiat Bold"/>
              <a:ea typeface="ITC Benguiat Bold"/>
              <a:cs typeface="ITC Benguiat Bold"/>
              <a:sym typeface="ITC Benguiat Bold"/>
            </a:endParaRPr>
          </a:p>
        </p:txBody>
      </p:sp>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4E327F95-20E9-4EB9-B650-268ADE2AABAB}"/>
                  </a:ext>
                </a:extLst>
              </p:cNvPr>
              <p:cNvSpPr txBox="1"/>
              <p:nvPr/>
            </p:nvSpPr>
            <p:spPr>
              <a:xfrm>
                <a:off x="1581914" y="934719"/>
                <a:ext cx="10833431" cy="5859361"/>
              </a:xfrm>
              <a:prstGeom prst="rect">
                <a:avLst/>
              </a:prstGeom>
              <a:noFill/>
            </p:spPr>
            <p:txBody>
              <a:bodyPr wrap="square">
                <a:spAutoFit/>
              </a:bodyPr>
              <a:lstStyle/>
              <a:p>
                <a:pPr marL="285750" indent="-285750" algn="just">
                  <a:lnSpc>
                    <a:spcPct val="107000"/>
                  </a:lnSpc>
                  <a:spcAft>
                    <a:spcPts val="800"/>
                  </a:spcAft>
                  <a:buFont typeface="Wingdings" panose="05000000000000000000" pitchFamily="2" charset="2"/>
                  <a:buChar char="q"/>
                </a:pPr>
                <a14:m>
                  <m:oMath xmlns:m="http://schemas.openxmlformats.org/officeDocument/2006/math">
                    <m:r>
                      <a:rPr lang="fr-FR" sz="2000" b="1" smtClean="0">
                        <a:latin typeface="Cambria Math" panose="02040503050406030204" pitchFamily="18" charset="0"/>
                      </a:rPr>
                      <m:t>𝐾</m:t>
                    </m:r>
                    <m:r>
                      <m:rPr>
                        <m:nor/>
                      </m:rPr>
                      <a:rPr lang="fr-FR" sz="2000" b="1" i="0">
                        <a:latin typeface="Georgia" panose="02040502050405020303" pitchFamily="18" charset="0"/>
                      </a:rPr>
                      <m:t> tests diagnostiques dichotomiques</m:t>
                    </m:r>
                  </m:oMath>
                </a14:m>
                <a:r>
                  <a:rPr lang="fr-FR" sz="2000" b="1" dirty="0">
                    <a:latin typeface="Georgia" panose="02040502050405020303" pitchFamily="18" charset="0"/>
                  </a:rPr>
                  <a:t> </a:t>
                </a:r>
                <a14:m>
                  <m:oMath xmlns:m="http://schemas.openxmlformats.org/officeDocument/2006/math">
                    <m:sSub>
                      <m:sSubPr>
                        <m:ctrlPr>
                          <a:rPr lang="fr-FR" sz="2000" i="1">
                            <a:latin typeface="Cambria Math" panose="02040503050406030204" pitchFamily="18" charset="0"/>
                          </a:rPr>
                        </m:ctrlPr>
                      </m:sSubPr>
                      <m:e>
                        <m:r>
                          <a:rPr lang="fr-FR" sz="2000" i="1">
                            <a:latin typeface="Cambria Math" panose="02040503050406030204" pitchFamily="18" charset="0"/>
                          </a:rPr>
                          <m:t>𝑇</m:t>
                        </m:r>
                      </m:e>
                      <m:sub>
                        <m:r>
                          <a:rPr lang="fr-FR" sz="2000" i="1">
                            <a:latin typeface="Cambria Math" panose="02040503050406030204" pitchFamily="18" charset="0"/>
                          </a:rPr>
                          <m:t>𝑗</m:t>
                        </m:r>
                      </m:sub>
                    </m:sSub>
                  </m:oMath>
                </a14:m>
                <a:r>
                  <a:rPr lang="fr-FR" sz="2000" dirty="0"/>
                  <a:t> pour </a:t>
                </a:r>
                <a14:m>
                  <m:oMath xmlns:m="http://schemas.openxmlformats.org/officeDocument/2006/math">
                    <m:r>
                      <a:rPr lang="fr-FR" sz="2000" i="1">
                        <a:latin typeface="Cambria Math" panose="02040503050406030204" pitchFamily="18" charset="0"/>
                      </a:rPr>
                      <m:t>𝑗</m:t>
                    </m:r>
                    <m:r>
                      <a:rPr lang="fr-FR" sz="2000" i="1">
                        <a:latin typeface="Cambria Math" panose="02040503050406030204" pitchFamily="18" charset="0"/>
                      </a:rPr>
                      <m:t>=1, 2, …, </m:t>
                    </m:r>
                    <m:r>
                      <a:rPr lang="fr-FR" sz="2000" i="1">
                        <a:latin typeface="Cambria Math" panose="02040503050406030204" pitchFamily="18" charset="0"/>
                      </a:rPr>
                      <m:t>𝐾</m:t>
                    </m:r>
                  </m:oMath>
                </a14:m>
                <a:endParaRPr lang="fr-FR" dirty="0"/>
              </a:p>
              <a:p>
                <a:pPr algn="ctr">
                  <a:lnSpc>
                    <a:spcPct val="107000"/>
                  </a:lnSpc>
                  <a:spcAft>
                    <a:spcPts val="800"/>
                  </a:spcAft>
                </a:pP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𝑡</m:t>
                        </m:r>
                      </m:e>
                      <m:sub>
                        <m:r>
                          <a:rPr lang="fr-FR" i="1">
                            <a:latin typeface="Cambria Math" panose="02040503050406030204" pitchFamily="18" charset="0"/>
                          </a:rPr>
                          <m:t>𝑗</m:t>
                        </m:r>
                      </m:sub>
                    </m:sSub>
                    <m:r>
                      <a:rPr lang="fr-FR" i="1">
                        <a:latin typeface="Cambria Math" panose="02040503050406030204" pitchFamily="18" charset="0"/>
                      </a:rPr>
                      <m:t>=0</m:t>
                    </m:r>
                    <m:r>
                      <m:rPr>
                        <m:nor/>
                      </m:rPr>
                      <a:rPr lang="fr-FR" i="0"/>
                      <m:t> en cas de résultat négatif et  </m:t>
                    </m:r>
                    <m:sSub>
                      <m:sSubPr>
                        <m:ctrlPr>
                          <a:rPr lang="fr-FR" i="1">
                            <a:latin typeface="Cambria Math" panose="02040503050406030204" pitchFamily="18" charset="0"/>
                          </a:rPr>
                        </m:ctrlPr>
                      </m:sSubPr>
                      <m:e>
                        <m:r>
                          <a:rPr lang="fr-FR" i="1">
                            <a:latin typeface="Cambria Math" panose="02040503050406030204" pitchFamily="18" charset="0"/>
                          </a:rPr>
                          <m:t>𝑡</m:t>
                        </m:r>
                      </m:e>
                      <m:sub>
                        <m:r>
                          <a:rPr lang="fr-FR" i="1">
                            <a:latin typeface="Cambria Math" panose="02040503050406030204" pitchFamily="18" charset="0"/>
                          </a:rPr>
                          <m:t>𝑗</m:t>
                        </m:r>
                      </m:sub>
                    </m:sSub>
                    <m:r>
                      <a:rPr lang="fr-FR" i="1">
                        <a:latin typeface="Cambria Math" panose="02040503050406030204" pitchFamily="18" charset="0"/>
                      </a:rPr>
                      <m:t>=</m:t>
                    </m:r>
                  </m:oMath>
                </a14:m>
                <a:r>
                  <a:rPr lang="fr-FR" dirty="0"/>
                  <a:t> 1 en cas de résultat positif</a:t>
                </a:r>
              </a:p>
              <a:p>
                <a:pPr marL="285750" indent="-285750" algn="just">
                  <a:lnSpc>
                    <a:spcPct val="107000"/>
                  </a:lnSpc>
                  <a:spcAft>
                    <a:spcPts val="800"/>
                  </a:spcAft>
                  <a:buFont typeface="Wingdings" panose="05000000000000000000" pitchFamily="2" charset="2"/>
                  <a:buChar char="q"/>
                </a:pPr>
                <a:r>
                  <a:rPr lang="fr-FR" sz="2000" b="1" i="1" dirty="0">
                    <a:solidFill>
                      <a:srgbClr val="131417"/>
                    </a:solidFill>
                    <a:latin typeface="Cambria Math" panose="02040503050406030204" pitchFamily="18" charset="0"/>
                    <a:cs typeface="Times New Roman" panose="02020603050405020304" pitchFamily="18" charset="0"/>
                  </a:rPr>
                  <a:t>Hypothèses les tests diagnostiques supposés indépendants : Vraisemblance</a:t>
                </a:r>
              </a:p>
              <a:p>
                <a:pPr algn="ctr">
                  <a:lnSpc>
                    <a:spcPct val="107000"/>
                  </a:lnSpc>
                  <a:spcAft>
                    <a:spcPts val="800"/>
                  </a:spcAft>
                </a:pPr>
                <a14:m>
                  <m:oMath xmlns:m="http://schemas.openxmlformats.org/officeDocument/2006/math">
                    <m:sSub>
                      <m:sSubPr>
                        <m:ctrlPr>
                          <a:rPr lang="fr-FR"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fr-FR" sz="2000" i="1" smtClean="0">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sepChr m:val="∣"/>
                        <m:ctrlP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e>
                        <m:sSub>
                          <m:sSubPr>
                            <m:ctrlP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fr-FR" sz="2000" i="1">
                            <a:solidFill>
                              <a:schemeClr val="accent1"/>
                            </a:solidFill>
                            <a:effectLst/>
                            <a:latin typeface="Cambria Math" panose="02040503050406030204" pitchFamily="18" charset="0"/>
                            <a:ea typeface="Times New Roman" panose="02020603050405020304" pitchFamily="18" charset="0"/>
                            <a:cs typeface="Times New Roman" panose="02020603050405020304" pitchFamily="18" charset="0"/>
                          </a:rPr>
                          <m:t>=1</m:t>
                        </m:r>
                      </m:e>
                    </m:d>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1−</m:t>
                        </m:r>
                        <m:r>
                          <a:rPr lang="fr-FR" sz="2000" i="1">
                            <a:effectLst/>
                            <a:latin typeface="Cambria Math" panose="02040503050406030204" pitchFamily="18" charset="0"/>
                            <a:ea typeface="Times New Roman" panose="02020603050405020304" pitchFamily="18" charset="0"/>
                            <a:cs typeface="Times New Roman" panose="02020603050405020304" pitchFamily="18" charset="0"/>
                          </a:rPr>
                          <m:t>𝜋</m:t>
                        </m:r>
                      </m:e>
                    </m:d>
                    <m:r>
                      <a:rPr lang="fr-FR" sz="2000" i="1" smtClean="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sepChr m:val="∣"/>
                        <m:ctrlP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e>
                        <m:sSub>
                          <m:sSubPr>
                            <m:ctrlP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fr-FR" sz="2000" i="1">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rPr>
                          <m:t>=0</m:t>
                        </m:r>
                      </m:e>
                    </m:d>
                  </m:oMath>
                </a14:m>
                <a:r>
                  <a:rPr lang="fr-FR" sz="20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14:m>
                  <m:oMath xmlns:m="http://schemas.openxmlformats.org/officeDocument/2006/math">
                    <m:sSub>
                      <m:sSubPr>
                        <m:ctrlPr>
                          <a:rPr lang="fr-FR"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fr-FR" sz="20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fr-FR" sz="2000">
                        <a:effectLst/>
                        <a:latin typeface="Cambria Math" panose="02040503050406030204" pitchFamily="18" charset="0"/>
                        <a:ea typeface="Calibri" panose="020F0502020204030204" pitchFamily="34" charset="0"/>
                        <a:cs typeface="Times New Roman" panose="02020603050405020304" pitchFamily="18" charset="0"/>
                      </a:rPr>
                      <m:t>=</m:t>
                    </m:r>
                    <m:r>
                      <a:rPr lang="fr-FR" sz="2000" i="1">
                        <a:effectLst/>
                        <a:latin typeface="Cambria Math" panose="02040503050406030204" pitchFamily="18" charset="0"/>
                        <a:ea typeface="Calibri" panose="020F0502020204030204" pitchFamily="34" charset="0"/>
                        <a:cs typeface="Times New Roman" panose="02020603050405020304" pitchFamily="18" charset="0"/>
                      </a:rPr>
                      <m:t>𝜋</m:t>
                    </m:r>
                    <m:r>
                      <a:rPr lang="fr-FR" sz="2000" smtClean="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m:t>
                    </m:r>
                    <m:nary>
                      <m:naryPr>
                        <m:chr m:val="∏"/>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𝑗</m:t>
                        </m:r>
                        <m:r>
                          <a:rPr lang="fr-FR" sz="200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𝐾</m:t>
                        </m:r>
                      </m:sup>
                      <m:e>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𝑆</m:t>
                        </m:r>
                        <m:sSubSup>
                          <m:sSubSupPr>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𝑗</m:t>
                            </m:r>
                          </m:sub>
                          <m:sup>
                            <m:sSub>
                              <m:sSubPr>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𝑡</m:t>
                                </m:r>
                              </m:e>
                              <m:sub>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𝑖𝑗</m:t>
                                </m:r>
                              </m:sub>
                            </m:sSub>
                          </m:sup>
                        </m:sSubSup>
                        <m:sSup>
                          <m:sSupPr>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fr-FR" sz="200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200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𝑗</m:t>
                                    </m:r>
                                  </m:sub>
                                </m:sSub>
                              </m:e>
                            </m:d>
                          </m:e>
                          <m:sup>
                            <m:r>
                              <a:rPr lang="fr-FR" sz="200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𝑡</m:t>
                                </m:r>
                              </m:e>
                              <m:sub>
                                <m:r>
                                  <a:rPr lang="fr-FR" sz="2000" i="1">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𝑖𝑗</m:t>
                                </m:r>
                              </m:sub>
                            </m:sSub>
                          </m:sup>
                        </m:sSup>
                      </m:e>
                    </m:nary>
                    <m:r>
                      <a:rPr lang="fr-FR" sz="2000">
                        <a:solidFill>
                          <a:schemeClr val="accent1"/>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2000">
                        <a:effectLst/>
                        <a:latin typeface="Cambria Math" panose="02040503050406030204" pitchFamily="18" charset="0"/>
                        <a:ea typeface="Calibri" panose="020F0502020204030204" pitchFamily="34" charset="0"/>
                        <a:cs typeface="Times New Roman" panose="02020603050405020304" pitchFamily="18" charset="0"/>
                      </a:rPr>
                      <m:t>+</m:t>
                    </m:r>
                    <m:d>
                      <m:dPr>
                        <m:ctrlPr>
                          <a:rPr lang="fr-FR" sz="2000">
                            <a:effectLst/>
                            <a:latin typeface="Cambria Math" panose="02040503050406030204" pitchFamily="18" charset="0"/>
                            <a:ea typeface="Calibri" panose="020F0502020204030204" pitchFamily="34" charset="0"/>
                            <a:cs typeface="Times New Roman" panose="02020603050405020304" pitchFamily="18" charset="0"/>
                          </a:rPr>
                        </m:ctrlPr>
                      </m:dPr>
                      <m:e>
                        <m:r>
                          <a:rPr lang="fr-FR" sz="2000">
                            <a:effectLst/>
                            <a:latin typeface="Cambria Math" panose="02040503050406030204" pitchFamily="18" charset="0"/>
                            <a:ea typeface="Calibri" panose="020F0502020204030204" pitchFamily="34" charset="0"/>
                            <a:cs typeface="Times New Roman" panose="02020603050405020304" pitchFamily="18" charset="0"/>
                          </a:rPr>
                          <m:t>1</m:t>
                        </m:r>
                        <m:r>
                          <a:rPr lang="fr-FR" sz="2000" i="1">
                            <a:effectLst/>
                            <a:latin typeface="Cambria Math" panose="02040503050406030204" pitchFamily="18" charset="0"/>
                            <a:ea typeface="Calibri" panose="020F0502020204030204" pitchFamily="34" charset="0"/>
                            <a:cs typeface="Times New Roman" panose="02020603050405020304" pitchFamily="18" charset="0"/>
                          </a:rPr>
                          <m:t>−</m:t>
                        </m:r>
                        <m:r>
                          <a:rPr lang="fr-FR" sz="2000" i="1">
                            <a:effectLst/>
                            <a:latin typeface="Cambria Math" panose="02040503050406030204" pitchFamily="18" charset="0"/>
                            <a:ea typeface="Calibri" panose="020F0502020204030204" pitchFamily="34" charset="0"/>
                            <a:cs typeface="Times New Roman" panose="02020603050405020304" pitchFamily="18" charset="0"/>
                          </a:rPr>
                          <m:t>𝜋</m:t>
                        </m:r>
                      </m:e>
                    </m:d>
                    <m:r>
                      <a:rPr lang="fr-FR" sz="2000" smtClean="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m:t>
                    </m:r>
                    <m:nary>
                      <m:naryPr>
                        <m:chr m:val="∏"/>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𝑗</m:t>
                        </m:r>
                        <m:r>
                          <a:rPr lang="fr-FR" sz="200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𝐾</m:t>
                        </m:r>
                      </m:sup>
                      <m:e>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𝑆</m:t>
                        </m:r>
                        <m:sSubSup>
                          <m:sSubSupPr>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𝑗</m:t>
                            </m:r>
                          </m:sub>
                          <m:sup>
                            <m:r>
                              <a:rPr lang="fr-FR" sz="200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𝑡</m:t>
                                </m:r>
                              </m:e>
                              <m:sub>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𝑖𝑗</m:t>
                                </m:r>
                              </m:sub>
                            </m:sSub>
                          </m:sup>
                        </m:sSubSup>
                        <m:sSup>
                          <m:sSupPr>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fr-FR" sz="200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fr-FR" sz="200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1</m:t>
                                </m:r>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𝑆</m:t>
                                </m:r>
                                <m:sSub>
                                  <m:sSubPr>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𝑝</m:t>
                                    </m:r>
                                  </m:e>
                                  <m:sub>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𝑗</m:t>
                                    </m:r>
                                  </m:sub>
                                </m:sSub>
                              </m:e>
                            </m:d>
                          </m:e>
                          <m:sup>
                            <m:sSub>
                              <m:sSubPr>
                                <m:ctrlP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𝑡</m:t>
                                </m:r>
                              </m:e>
                              <m:sub>
                                <m:r>
                                  <a:rPr lang="fr-FR" sz="2000"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𝑖𝑗</m:t>
                                </m:r>
                              </m:sub>
                            </m:sSub>
                          </m:sup>
                        </m:sSup>
                      </m:e>
                    </m:nary>
                    <m:r>
                      <a:rPr lang="fr-FR" sz="2000">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fr-FR" sz="2000" dirty="0">
                    <a:ea typeface="Calibri" panose="020F0502020204030204" pitchFamily="34" charset="0"/>
                  </a:rPr>
                  <a:t>	 </a:t>
                </a:r>
                <a14:m>
                  <m:oMath xmlns:m="http://schemas.openxmlformats.org/officeDocument/2006/math">
                    <m:r>
                      <a:rPr lang="fr-FR" sz="2000" i="1">
                        <a:latin typeface="Cambria Math" panose="02040503050406030204" pitchFamily="18" charset="0"/>
                        <a:ea typeface="Calibri" panose="020F0502020204030204" pitchFamily="34" charset="0"/>
                      </a:rPr>
                      <m:t>𝐿</m:t>
                    </m:r>
                    <m:r>
                      <a:rPr lang="fr-FR" sz="2000">
                        <a:latin typeface="Cambria Math" panose="02040503050406030204" pitchFamily="18" charset="0"/>
                        <a:ea typeface="Calibri" panose="020F0502020204030204" pitchFamily="34" charset="0"/>
                      </a:rPr>
                      <m:t>=</m:t>
                    </m:r>
                    <m:nary>
                      <m:naryPr>
                        <m:chr m:val="∏"/>
                        <m:ctrlPr>
                          <a:rPr lang="fr-FR" sz="2000" i="1">
                            <a:latin typeface="Cambria Math" panose="02040503050406030204" pitchFamily="18" charset="0"/>
                            <a:ea typeface="Calibri" panose="020F0502020204030204" pitchFamily="34" charset="0"/>
                          </a:rPr>
                        </m:ctrlPr>
                      </m:naryPr>
                      <m:sub>
                        <m:r>
                          <a:rPr lang="fr-FR" sz="2000" i="1">
                            <a:latin typeface="Cambria Math" panose="02040503050406030204" pitchFamily="18" charset="0"/>
                            <a:ea typeface="Calibri" panose="020F0502020204030204" pitchFamily="34" charset="0"/>
                          </a:rPr>
                          <m:t>𝑖</m:t>
                        </m:r>
                        <m:r>
                          <a:rPr lang="fr-FR" sz="2000">
                            <a:latin typeface="Cambria Math" panose="02040503050406030204" pitchFamily="18" charset="0"/>
                            <a:ea typeface="Calibri" panose="020F0502020204030204" pitchFamily="34" charset="0"/>
                          </a:rPr>
                          <m:t>=1</m:t>
                        </m:r>
                      </m:sub>
                      <m:sup>
                        <m:r>
                          <a:rPr lang="fr-FR" sz="2000" i="1">
                            <a:latin typeface="Cambria Math" panose="02040503050406030204" pitchFamily="18" charset="0"/>
                            <a:ea typeface="Calibri" panose="020F0502020204030204" pitchFamily="34" charset="0"/>
                          </a:rPr>
                          <m:t>𝑛</m:t>
                        </m:r>
                      </m:sup>
                      <m:e>
                        <m:sSub>
                          <m:sSubPr>
                            <m:ctrlPr>
                              <a:rPr lang="fr-FR" sz="2000" i="1">
                                <a:latin typeface="Cambria Math" panose="02040503050406030204" pitchFamily="18" charset="0"/>
                                <a:ea typeface="Calibri" panose="020F0502020204030204" pitchFamily="34" charset="0"/>
                              </a:rPr>
                            </m:ctrlPr>
                          </m:sSubPr>
                          <m:e>
                            <m:r>
                              <a:rPr lang="fr-FR" sz="2000" i="1">
                                <a:latin typeface="Cambria Math" panose="02040503050406030204" pitchFamily="18" charset="0"/>
                                <a:ea typeface="Calibri" panose="020F0502020204030204" pitchFamily="34" charset="0"/>
                              </a:rPr>
                              <m:t>𝐿</m:t>
                            </m:r>
                          </m:e>
                          <m:sub>
                            <m:r>
                              <a:rPr lang="fr-FR" sz="2000" i="1">
                                <a:latin typeface="Cambria Math" panose="02040503050406030204" pitchFamily="18" charset="0"/>
                                <a:ea typeface="Calibri" panose="020F0502020204030204" pitchFamily="34" charset="0"/>
                              </a:rPr>
                              <m:t>𝑖</m:t>
                            </m:r>
                          </m:sub>
                        </m:sSub>
                      </m:e>
                    </m:nary>
                  </m:oMath>
                </a14:m>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Wingdings" panose="05000000000000000000" pitchFamily="2" charset="2"/>
                  <a:buChar char="q"/>
                </a:pPr>
                <a:r>
                  <a:rPr lang="fr-FR" sz="2000" b="1" i="1" dirty="0">
                    <a:solidFill>
                      <a:srgbClr val="131417"/>
                    </a:solidFill>
                    <a:latin typeface="Cambria Math" panose="02040503050406030204" pitchFamily="18" charset="0"/>
                    <a:cs typeface="Times New Roman" panose="02020603050405020304" pitchFamily="18" charset="0"/>
                  </a:rPr>
                  <a:t>Hypothèses les tests diagnostiques supposés dépendants : Vraisemblance</a:t>
                </a:r>
              </a:p>
              <a:p>
                <a:pPr>
                  <a:lnSpc>
                    <a:spcPct val="107000"/>
                  </a:lnSpc>
                  <a:spcAft>
                    <a:spcPts val="800"/>
                  </a:spcAft>
                </a:pPr>
                <a14:m>
                  <m:oMathPara xmlns:m="http://schemas.openxmlformats.org/officeDocument/2006/math">
                    <m:oMath>
                      <m:r>
                        <a:rPr lang="fr-FR" i="1" smtClean="0">
                          <a:solidFill>
                            <a:schemeClr val="accent1"/>
                          </a:solidFill>
                          <a:latin typeface="Cambria Math" panose="02040503050406030204" pitchFamily="18" charset="0"/>
                        </a:rPr>
                        <m:t>𝑃</m:t>
                      </m:r>
                      <m:d>
                        <m:dPr>
                          <m:sepChr m:val="∣"/>
                          <m:ctrlPr>
                            <a:rPr lang="fr-FR" i="1">
                              <a:solidFill>
                                <a:schemeClr val="accent1"/>
                              </a:solidFill>
                              <a:latin typeface="Cambria Math" panose="02040503050406030204" pitchFamily="18" charset="0"/>
                            </a:rPr>
                          </m:ctrlPr>
                        </m:dPr>
                        <m:e>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𝑇</m:t>
                              </m:r>
                            </m:e>
                            <m:sub>
                              <m:r>
                                <a:rPr lang="fr-FR" i="1">
                                  <a:solidFill>
                                    <a:schemeClr val="accent1"/>
                                  </a:solidFill>
                                  <a:latin typeface="Cambria Math" panose="02040503050406030204" pitchFamily="18" charset="0"/>
                                </a:rPr>
                                <m:t>𝑖</m:t>
                              </m:r>
                            </m:sub>
                          </m:sSub>
                          <m:r>
                            <a:rPr lang="en-GB" i="1">
                              <a:solidFill>
                                <a:schemeClr val="accent1"/>
                              </a:solidFill>
                              <a:latin typeface="Cambria Math" panose="02040503050406030204" pitchFamily="18" charset="0"/>
                            </a:rPr>
                            <m:t>=</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m:t>
                              </m:r>
                            </m:sub>
                          </m:sSub>
                        </m:e>
                        <m:e>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𝐷</m:t>
                              </m:r>
                            </m:e>
                            <m:sub>
                              <m:r>
                                <a:rPr lang="fr-FR" i="1">
                                  <a:solidFill>
                                    <a:schemeClr val="accent1"/>
                                  </a:solidFill>
                                  <a:latin typeface="Cambria Math" panose="02040503050406030204" pitchFamily="18" charset="0"/>
                                </a:rPr>
                                <m:t>𝑖</m:t>
                              </m:r>
                            </m:sub>
                          </m:sSub>
                          <m:r>
                            <a:rPr lang="en-GB" i="1">
                              <a:solidFill>
                                <a:schemeClr val="accent1"/>
                              </a:solidFill>
                              <a:latin typeface="Cambria Math" panose="02040503050406030204" pitchFamily="18" charset="0"/>
                            </a:rPr>
                            <m:t>=1</m:t>
                          </m:r>
                        </m:e>
                      </m:d>
                      <m:r>
                        <a:rPr lang="en-GB" i="1">
                          <a:solidFill>
                            <a:schemeClr val="accent1"/>
                          </a:solidFill>
                          <a:latin typeface="Cambria Math" panose="02040503050406030204" pitchFamily="18" charset="0"/>
                        </a:rPr>
                        <m:t>=</m:t>
                      </m:r>
                      <m:nary>
                        <m:naryPr>
                          <m:chr m:val="∏"/>
                          <m:ctrlPr>
                            <a:rPr lang="fr-FR" i="1">
                              <a:solidFill>
                                <a:schemeClr val="accent1"/>
                              </a:solidFill>
                              <a:latin typeface="Cambria Math" panose="02040503050406030204" pitchFamily="18" charset="0"/>
                            </a:rPr>
                          </m:ctrlPr>
                        </m:naryPr>
                        <m:sub>
                          <m:r>
                            <a:rPr lang="fr-FR" i="1">
                              <a:solidFill>
                                <a:schemeClr val="accent1"/>
                              </a:solidFill>
                              <a:latin typeface="Cambria Math" panose="02040503050406030204" pitchFamily="18" charset="0"/>
                            </a:rPr>
                            <m:t>𝑘</m:t>
                          </m:r>
                          <m:r>
                            <a:rPr lang="en-GB" i="1">
                              <a:solidFill>
                                <a:schemeClr val="accent1"/>
                              </a:solidFill>
                              <a:latin typeface="Cambria Math" panose="02040503050406030204" pitchFamily="18" charset="0"/>
                            </a:rPr>
                            <m:t>=1</m:t>
                          </m:r>
                        </m:sub>
                        <m:sup>
                          <m:r>
                            <a:rPr lang="fr-FR" i="1">
                              <a:solidFill>
                                <a:schemeClr val="accent1"/>
                              </a:solidFill>
                              <a:latin typeface="Cambria Math" panose="02040503050406030204" pitchFamily="18" charset="0"/>
                            </a:rPr>
                            <m:t>𝐾</m:t>
                          </m:r>
                        </m:sup>
                        <m:e>
                          <m:r>
                            <a:rPr lang="fr-FR" i="1">
                              <a:solidFill>
                                <a:schemeClr val="accent1"/>
                              </a:solidFill>
                              <a:latin typeface="Cambria Math" panose="02040503050406030204" pitchFamily="18" charset="0"/>
                            </a:rPr>
                            <m:t>𝑆</m:t>
                          </m:r>
                          <m:sSubSup>
                            <m:sSubSupPr>
                              <m:ctrlPr>
                                <a:rPr lang="fr-FR" i="1">
                                  <a:solidFill>
                                    <a:schemeClr val="accent1"/>
                                  </a:solidFill>
                                  <a:latin typeface="Cambria Math" panose="02040503050406030204" pitchFamily="18" charset="0"/>
                                </a:rPr>
                              </m:ctrlPr>
                            </m:sSubSup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𝑘</m:t>
                              </m:r>
                            </m:sub>
                            <m:sup>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𝑖𝑘</m:t>
                                  </m:r>
                                </m:sub>
                              </m:sSub>
                            </m:sup>
                          </m:sSubSup>
                          <m:sSup>
                            <m:sSupPr>
                              <m:ctrlPr>
                                <a:rPr lang="en-GB" i="1">
                                  <a:solidFill>
                                    <a:schemeClr val="accent1"/>
                                  </a:solidFill>
                                  <a:latin typeface="Cambria Math" panose="02040503050406030204" pitchFamily="18" charset="0"/>
                                </a:rPr>
                              </m:ctrlPr>
                            </m:sSupPr>
                            <m:e>
                              <m:d>
                                <m:dPr>
                                  <m:ctrlPr>
                                    <a:rPr lang="en-GB" i="1">
                                      <a:solidFill>
                                        <a:schemeClr val="accent1"/>
                                      </a:solidFill>
                                      <a:latin typeface="Cambria Math" panose="02040503050406030204" pitchFamily="18" charset="0"/>
                                    </a:rPr>
                                  </m:ctrlPr>
                                </m:dPr>
                                <m:e>
                                  <m:r>
                                    <a:rPr lang="en-GB" i="1">
                                      <a:solidFill>
                                        <a:schemeClr val="accent1"/>
                                      </a:solidFill>
                                      <a:latin typeface="Cambria Math" panose="02040503050406030204" pitchFamily="18" charset="0"/>
                                    </a:rPr>
                                    <m:t>1−</m:t>
                                  </m:r>
                                  <m:r>
                                    <a:rPr lang="fr-FR" i="1">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𝑘</m:t>
                                      </m:r>
                                    </m:sub>
                                  </m:sSub>
                                </m:e>
                              </m:d>
                            </m:e>
                            <m:sup>
                              <m:r>
                                <a:rPr lang="en-GB" i="1">
                                  <a:solidFill>
                                    <a:schemeClr val="accent1"/>
                                  </a:solidFill>
                                  <a:latin typeface="Cambria Math" panose="02040503050406030204" pitchFamily="18" charset="0"/>
                                </a:rPr>
                                <m:t>1−</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𝑖𝑘</m:t>
                                  </m:r>
                                </m:sub>
                              </m:sSub>
                            </m:sup>
                          </m:sSup>
                        </m:e>
                      </m:nary>
                      <m:r>
                        <a:rPr lang="en-GB" i="1">
                          <a:solidFill>
                            <a:schemeClr val="accent1"/>
                          </a:solidFill>
                          <a:latin typeface="Cambria Math" panose="02040503050406030204" pitchFamily="18" charset="0"/>
                        </a:rPr>
                        <m:t>+</m:t>
                      </m:r>
                      <m:nary>
                        <m:naryPr>
                          <m:chr m:val="∑"/>
                          <m:ctrlPr>
                            <a:rPr lang="fr-FR" i="1">
                              <a:solidFill>
                                <a:schemeClr val="accent1"/>
                              </a:solidFill>
                              <a:latin typeface="Cambria Math" panose="02040503050406030204" pitchFamily="18" charset="0"/>
                            </a:rPr>
                          </m:ctrlPr>
                        </m:naryPr>
                        <m:sub>
                          <m:r>
                            <a:rPr lang="fr-FR" i="1">
                              <a:solidFill>
                                <a:schemeClr val="accent1"/>
                              </a:solidFill>
                              <a:latin typeface="Cambria Math" panose="02040503050406030204" pitchFamily="18" charset="0"/>
                            </a:rPr>
                            <m:t>𝑢</m:t>
                          </m:r>
                          <m:r>
                            <a:rPr lang="en-GB" i="1">
                              <a:solidFill>
                                <a:schemeClr val="accent1"/>
                              </a:solidFill>
                              <a:latin typeface="Cambria Math" panose="02040503050406030204" pitchFamily="18" charset="0"/>
                            </a:rPr>
                            <m:t>=1</m:t>
                          </m:r>
                        </m:sub>
                        <m:sup>
                          <m:r>
                            <a:rPr lang="fr-FR" i="1">
                              <a:solidFill>
                                <a:schemeClr val="accent1"/>
                              </a:solidFill>
                              <a:latin typeface="Cambria Math" panose="02040503050406030204" pitchFamily="18" charset="0"/>
                            </a:rPr>
                            <m:t>𝐾</m:t>
                          </m:r>
                          <m:r>
                            <a:rPr lang="en-GB" i="1">
                              <a:solidFill>
                                <a:schemeClr val="accent1"/>
                              </a:solidFill>
                              <a:latin typeface="Cambria Math" panose="02040503050406030204" pitchFamily="18" charset="0"/>
                            </a:rPr>
                            <m:t>−1</m:t>
                          </m:r>
                        </m:sup>
                        <m:e>
                          <m:nary>
                            <m:naryPr>
                              <m:chr m:val="∑"/>
                              <m:ctrlPr>
                                <a:rPr lang="fr-FR" i="1">
                                  <a:solidFill>
                                    <a:schemeClr val="accent1"/>
                                  </a:solidFill>
                                  <a:latin typeface="Cambria Math" panose="02040503050406030204" pitchFamily="18" charset="0"/>
                                </a:rPr>
                              </m:ctrlPr>
                            </m:naryPr>
                            <m:sub>
                              <m:r>
                                <a:rPr lang="fr-FR" i="1">
                                  <a:solidFill>
                                    <a:schemeClr val="accent1"/>
                                  </a:solidFill>
                                  <a:latin typeface="Cambria Math" panose="02040503050406030204" pitchFamily="18" charset="0"/>
                                </a:rPr>
                                <m:t>𝑣</m:t>
                              </m:r>
                              <m:r>
                                <a:rPr lang="en-GB" i="1">
                                  <a:solidFill>
                                    <a:schemeClr val="accent1"/>
                                  </a:solidFill>
                                  <a:latin typeface="Cambria Math" panose="02040503050406030204" pitchFamily="18" charset="0"/>
                                </a:rPr>
                                <m:t>=</m:t>
                              </m:r>
                              <m:r>
                                <a:rPr lang="fr-FR" i="1">
                                  <a:solidFill>
                                    <a:schemeClr val="accent1"/>
                                  </a:solidFill>
                                  <a:latin typeface="Cambria Math" panose="02040503050406030204" pitchFamily="18" charset="0"/>
                                </a:rPr>
                                <m:t>𝑢</m:t>
                              </m:r>
                              <m:r>
                                <a:rPr lang="en-GB" i="1">
                                  <a:solidFill>
                                    <a:schemeClr val="accent1"/>
                                  </a:solidFill>
                                  <a:latin typeface="Cambria Math" panose="02040503050406030204" pitchFamily="18" charset="0"/>
                                </a:rPr>
                                <m:t>+1</m:t>
                              </m:r>
                            </m:sub>
                            <m:sup>
                              <m:r>
                                <a:rPr lang="fr-FR" i="1">
                                  <a:solidFill>
                                    <a:schemeClr val="accent1"/>
                                  </a:solidFill>
                                  <a:latin typeface="Cambria Math" panose="02040503050406030204" pitchFamily="18" charset="0"/>
                                </a:rPr>
                                <m:t>𝐾</m:t>
                              </m:r>
                            </m:sup>
                            <m:e>
                              <m:sSubSup>
                                <m:sSubSupPr>
                                  <m:ctrlPr>
                                    <a:rPr lang="en-GB" i="1">
                                      <a:solidFill>
                                        <a:schemeClr val="accent1"/>
                                      </a:solidFill>
                                      <a:latin typeface="Cambria Math" panose="02040503050406030204" pitchFamily="18" charset="0"/>
                                    </a:rPr>
                                  </m:ctrlPr>
                                </m:sSubSupPr>
                                <m:e>
                                  <m:sSup>
                                    <m:sSupPr>
                                      <m:ctrlPr>
                                        <a:rPr lang="en-GB" i="1">
                                          <a:solidFill>
                                            <a:schemeClr val="accent1"/>
                                          </a:solidFill>
                                          <a:latin typeface="Cambria Math" panose="02040503050406030204" pitchFamily="18" charset="0"/>
                                        </a:rPr>
                                      </m:ctrlPr>
                                    </m:sSupPr>
                                    <m:e>
                                      <m:d>
                                        <m:dPr>
                                          <m:ctrlPr>
                                            <a:rPr lang="en-GB" i="1">
                                              <a:solidFill>
                                                <a:schemeClr val="accent1"/>
                                              </a:solidFill>
                                              <a:latin typeface="Cambria Math" panose="02040503050406030204" pitchFamily="18" charset="0"/>
                                            </a:rPr>
                                          </m:ctrlPr>
                                        </m:dPr>
                                        <m:e>
                                          <m:r>
                                            <a:rPr lang="en-GB" i="1">
                                              <a:solidFill>
                                                <a:schemeClr val="accent1"/>
                                              </a:solidFill>
                                              <a:latin typeface="Cambria Math" panose="02040503050406030204" pitchFamily="18" charset="0"/>
                                            </a:rPr>
                                            <m:t>−1</m:t>
                                          </m:r>
                                        </m:e>
                                      </m:d>
                                    </m:e>
                                    <m:sup>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𝑖𝑢</m:t>
                                          </m:r>
                                        </m:sub>
                                      </m:sSub>
                                      <m:r>
                                        <a:rPr lang="en-GB" i="1">
                                          <a:solidFill>
                                            <a:schemeClr val="accent1"/>
                                          </a:solidFill>
                                          <a:latin typeface="Cambria Math" panose="02040503050406030204" pitchFamily="18" charset="0"/>
                                        </a:rPr>
                                        <m:t>+</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𝑖𝑣</m:t>
                                          </m:r>
                                        </m:sub>
                                      </m:sSub>
                                    </m:sup>
                                  </m:sSup>
                                  <m:r>
                                    <m:rPr>
                                      <m:nor/>
                                    </m:rPr>
                                    <a:rPr lang="en-GB" i="0">
                                      <a:solidFill>
                                        <a:schemeClr val="accent1"/>
                                      </a:solidFill>
                                    </a:rPr>
                                    <m:t>cov</m:t>
                                  </m:r>
                                </m:e>
                                <m:sub>
                                  <m:r>
                                    <a:rPr lang="fr-FR" i="1">
                                      <a:solidFill>
                                        <a:schemeClr val="accent1"/>
                                      </a:solidFill>
                                      <a:latin typeface="Cambria Math" panose="02040503050406030204" pitchFamily="18" charset="0"/>
                                    </a:rPr>
                                    <m:t>𝑢𝑣</m:t>
                                  </m:r>
                                </m:sub>
                                <m:sup>
                                  <m:r>
                                    <a:rPr lang="en-GB" i="1">
                                      <a:solidFill>
                                        <a:schemeClr val="accent1"/>
                                      </a:solidFill>
                                      <a:latin typeface="Cambria Math" panose="02040503050406030204" pitchFamily="18" charset="0"/>
                                    </a:rPr>
                                    <m:t>+</m:t>
                                  </m:r>
                                </m:sup>
                              </m:sSubSup>
                            </m:e>
                          </m:nary>
                          <m:nary>
                            <m:naryPr>
                              <m:chr m:val="∏"/>
                              <m:ctrlPr>
                                <a:rPr lang="fr-FR" i="1">
                                  <a:solidFill>
                                    <a:schemeClr val="accent1"/>
                                  </a:solidFill>
                                  <a:latin typeface="Cambria Math" panose="02040503050406030204" pitchFamily="18" charset="0"/>
                                </a:rPr>
                              </m:ctrlPr>
                            </m:naryPr>
                            <m:sub>
                              <m:r>
                                <a:rPr lang="fr-FR" i="1">
                                  <a:solidFill>
                                    <a:schemeClr val="accent1"/>
                                  </a:solidFill>
                                  <a:latin typeface="Cambria Math" panose="02040503050406030204" pitchFamily="18" charset="0"/>
                                </a:rPr>
                                <m:t>𝑘</m:t>
                              </m:r>
                              <m:r>
                                <a:rPr lang="en-GB">
                                  <a:solidFill>
                                    <a:schemeClr val="accent1"/>
                                  </a:solidFill>
                                  <a:latin typeface="Cambria Math" panose="02040503050406030204" pitchFamily="18" charset="0"/>
                                </a:rPr>
                                <m:t>≠</m:t>
                              </m:r>
                              <m:r>
                                <a:rPr lang="fr-FR" i="1">
                                  <a:solidFill>
                                    <a:schemeClr val="accent1"/>
                                  </a:solidFill>
                                  <a:latin typeface="Cambria Math" panose="02040503050406030204" pitchFamily="18" charset="0"/>
                                </a:rPr>
                                <m:t>𝑢</m:t>
                              </m:r>
                              <m:r>
                                <a:rPr lang="en-GB" i="1">
                                  <a:solidFill>
                                    <a:schemeClr val="accent1"/>
                                  </a:solidFill>
                                  <a:latin typeface="Cambria Math" panose="02040503050406030204" pitchFamily="18" charset="0"/>
                                </a:rPr>
                                <m:t>,</m:t>
                              </m:r>
                              <m:r>
                                <a:rPr lang="fr-FR" i="1">
                                  <a:solidFill>
                                    <a:schemeClr val="accent1"/>
                                  </a:solidFill>
                                  <a:latin typeface="Cambria Math" panose="02040503050406030204" pitchFamily="18" charset="0"/>
                                </a:rPr>
                                <m:t>𝑣</m:t>
                              </m:r>
                            </m:sub>
                            <m:sup>
                              <m:r>
                                <a:rPr lang="fr-FR" i="1">
                                  <a:solidFill>
                                    <a:schemeClr val="accent1"/>
                                  </a:solidFill>
                                  <a:latin typeface="Cambria Math" panose="02040503050406030204" pitchFamily="18" charset="0"/>
                                </a:rPr>
                                <m:t>𝐾</m:t>
                              </m:r>
                            </m:sup>
                            <m:e>
                              <m:r>
                                <a:rPr lang="fr-FR" i="1">
                                  <a:solidFill>
                                    <a:schemeClr val="accent1"/>
                                  </a:solidFill>
                                  <a:latin typeface="Cambria Math" panose="02040503050406030204" pitchFamily="18" charset="0"/>
                                </a:rPr>
                                <m:t>𝑆</m:t>
                              </m:r>
                              <m:sSubSup>
                                <m:sSubSupPr>
                                  <m:ctrlPr>
                                    <a:rPr lang="fr-FR" i="1">
                                      <a:solidFill>
                                        <a:schemeClr val="accent1"/>
                                      </a:solidFill>
                                      <a:latin typeface="Cambria Math" panose="02040503050406030204" pitchFamily="18" charset="0"/>
                                    </a:rPr>
                                  </m:ctrlPr>
                                </m:sSubSup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𝑘</m:t>
                                  </m:r>
                                </m:sub>
                                <m:sup>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𝑖𝑘</m:t>
                                      </m:r>
                                    </m:sub>
                                  </m:sSub>
                                </m:sup>
                              </m:sSubSup>
                              <m:sSup>
                                <m:sSupPr>
                                  <m:ctrlPr>
                                    <a:rPr lang="en-GB" i="1">
                                      <a:solidFill>
                                        <a:schemeClr val="accent1"/>
                                      </a:solidFill>
                                      <a:latin typeface="Cambria Math" panose="02040503050406030204" pitchFamily="18" charset="0"/>
                                    </a:rPr>
                                  </m:ctrlPr>
                                </m:sSupPr>
                                <m:e>
                                  <m:d>
                                    <m:dPr>
                                      <m:ctrlPr>
                                        <a:rPr lang="en-GB" i="1">
                                          <a:solidFill>
                                            <a:schemeClr val="accent1"/>
                                          </a:solidFill>
                                          <a:latin typeface="Cambria Math" panose="02040503050406030204" pitchFamily="18" charset="0"/>
                                        </a:rPr>
                                      </m:ctrlPr>
                                    </m:dPr>
                                    <m:e>
                                      <m:r>
                                        <a:rPr lang="en-GB" i="1">
                                          <a:solidFill>
                                            <a:schemeClr val="accent1"/>
                                          </a:solidFill>
                                          <a:latin typeface="Cambria Math" panose="02040503050406030204" pitchFamily="18" charset="0"/>
                                        </a:rPr>
                                        <m:t>1−</m:t>
                                      </m:r>
                                      <m:r>
                                        <a:rPr lang="fr-FR" i="1">
                                          <a:solidFill>
                                            <a:schemeClr val="accent1"/>
                                          </a:solidFill>
                                          <a:latin typeface="Cambria Math" panose="02040503050406030204" pitchFamily="18" charset="0"/>
                                        </a:rPr>
                                        <m:t>𝑆</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𝑒</m:t>
                                          </m:r>
                                        </m:e>
                                        <m:sub>
                                          <m:r>
                                            <a:rPr lang="fr-FR" i="1">
                                              <a:solidFill>
                                                <a:schemeClr val="accent1"/>
                                              </a:solidFill>
                                              <a:latin typeface="Cambria Math" panose="02040503050406030204" pitchFamily="18" charset="0"/>
                                            </a:rPr>
                                            <m:t>𝑘</m:t>
                                          </m:r>
                                        </m:sub>
                                      </m:sSub>
                                    </m:e>
                                  </m:d>
                                </m:e>
                                <m:sup>
                                  <m:r>
                                    <a:rPr lang="en-GB" i="1">
                                      <a:solidFill>
                                        <a:schemeClr val="accent1"/>
                                      </a:solidFill>
                                      <a:latin typeface="Cambria Math" panose="02040503050406030204" pitchFamily="18" charset="0"/>
                                    </a:rPr>
                                    <m:t>1−</m:t>
                                  </m:r>
                                  <m:sSub>
                                    <m:sSubPr>
                                      <m:ctrlPr>
                                        <a:rPr lang="fr-FR" i="1">
                                          <a:solidFill>
                                            <a:schemeClr val="accent1"/>
                                          </a:solidFill>
                                          <a:latin typeface="Cambria Math" panose="02040503050406030204" pitchFamily="18" charset="0"/>
                                        </a:rPr>
                                      </m:ctrlPr>
                                    </m:sSubPr>
                                    <m:e>
                                      <m:r>
                                        <a:rPr lang="fr-FR" i="1">
                                          <a:solidFill>
                                            <a:schemeClr val="accent1"/>
                                          </a:solidFill>
                                          <a:latin typeface="Cambria Math" panose="02040503050406030204" pitchFamily="18" charset="0"/>
                                        </a:rPr>
                                        <m:t>𝑡</m:t>
                                      </m:r>
                                    </m:e>
                                    <m:sub>
                                      <m:r>
                                        <a:rPr lang="fr-FR" i="1">
                                          <a:solidFill>
                                            <a:schemeClr val="accent1"/>
                                          </a:solidFill>
                                          <a:latin typeface="Cambria Math" panose="02040503050406030204" pitchFamily="18" charset="0"/>
                                        </a:rPr>
                                        <m:t>𝑖𝑘</m:t>
                                      </m:r>
                                    </m:sub>
                                  </m:sSub>
                                </m:sup>
                              </m:sSup>
                            </m:e>
                          </m:nary>
                        </m:e>
                      </m:nary>
                    </m:oMath>
                  </m:oMathPara>
                </a14:m>
                <a:endParaRPr lang="fr-FR" i="1" dirty="0">
                  <a:solidFill>
                    <a:schemeClr val="accent1"/>
                  </a:solidFill>
                  <a:latin typeface="Cambria Math" panose="02040503050406030204" pitchFamily="18" charset="0"/>
                </a:endParaRPr>
              </a:p>
              <a:p>
                <a:pPr>
                  <a:lnSpc>
                    <a:spcPct val="107000"/>
                  </a:lnSpc>
                  <a:spcAft>
                    <a:spcPts val="800"/>
                  </a:spcAft>
                </a:pPr>
                <a14:m>
                  <m:oMathPara xmlns:m="http://schemas.openxmlformats.org/officeDocument/2006/math">
                    <m:oMath>
                      <m:r>
                        <a:rPr lang="fr-FR" i="1" smtClean="0">
                          <a:solidFill>
                            <a:schemeClr val="accent2"/>
                          </a:solidFill>
                          <a:latin typeface="Cambria Math" panose="02040503050406030204" pitchFamily="18" charset="0"/>
                        </a:rPr>
                        <m:t>𝑃</m:t>
                      </m:r>
                      <m:d>
                        <m:dPr>
                          <m:sepChr m:val="∣"/>
                          <m:ctrlPr>
                            <a:rPr lang="fr-FR" i="1">
                              <a:solidFill>
                                <a:schemeClr val="accent2"/>
                              </a:solidFill>
                              <a:latin typeface="Cambria Math" panose="02040503050406030204" pitchFamily="18" charset="0"/>
                            </a:rPr>
                          </m:ctrlPr>
                        </m:dPr>
                        <m:e>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𝑇</m:t>
                              </m:r>
                            </m:e>
                            <m:sub>
                              <m:r>
                                <a:rPr lang="fr-FR" i="1">
                                  <a:solidFill>
                                    <a:schemeClr val="accent2"/>
                                  </a:solidFill>
                                  <a:latin typeface="Cambria Math" panose="02040503050406030204" pitchFamily="18" charset="0"/>
                                </a:rPr>
                                <m:t>𝑖</m:t>
                              </m:r>
                            </m:sub>
                          </m:sSub>
                          <m:r>
                            <a:rPr lang="en-GB" i="1">
                              <a:solidFill>
                                <a:schemeClr val="accent2"/>
                              </a:solidFill>
                              <a:latin typeface="Cambria Math" panose="02040503050406030204" pitchFamily="18" charset="0"/>
                            </a:rPr>
                            <m:t>=</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m:t>
                              </m:r>
                            </m:sub>
                          </m:sSub>
                        </m:e>
                        <m:e>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𝐷</m:t>
                              </m:r>
                            </m:e>
                            <m:sub>
                              <m:r>
                                <a:rPr lang="fr-FR" i="1">
                                  <a:solidFill>
                                    <a:schemeClr val="accent2"/>
                                  </a:solidFill>
                                  <a:latin typeface="Cambria Math" panose="02040503050406030204" pitchFamily="18" charset="0"/>
                                </a:rPr>
                                <m:t>𝑖</m:t>
                              </m:r>
                            </m:sub>
                          </m:sSub>
                          <m:r>
                            <a:rPr lang="en-GB" i="1">
                              <a:solidFill>
                                <a:schemeClr val="accent2"/>
                              </a:solidFill>
                              <a:latin typeface="Cambria Math" panose="02040503050406030204" pitchFamily="18" charset="0"/>
                            </a:rPr>
                            <m:t>=0</m:t>
                          </m:r>
                        </m:e>
                      </m:d>
                      <m:r>
                        <a:rPr lang="en-GB" i="1">
                          <a:solidFill>
                            <a:schemeClr val="accent2"/>
                          </a:solidFill>
                          <a:latin typeface="Cambria Math" panose="02040503050406030204" pitchFamily="18" charset="0"/>
                        </a:rPr>
                        <m:t>=</m:t>
                      </m:r>
                      <m:nary>
                        <m:naryPr>
                          <m:chr m:val="∏"/>
                          <m:ctrlPr>
                            <a:rPr lang="fr-FR" i="1">
                              <a:solidFill>
                                <a:schemeClr val="accent2"/>
                              </a:solidFill>
                              <a:latin typeface="Cambria Math" panose="02040503050406030204" pitchFamily="18" charset="0"/>
                            </a:rPr>
                          </m:ctrlPr>
                        </m:naryPr>
                        <m:sub>
                          <m:r>
                            <a:rPr lang="fr-FR" i="1">
                              <a:solidFill>
                                <a:schemeClr val="accent2"/>
                              </a:solidFill>
                              <a:latin typeface="Cambria Math" panose="02040503050406030204" pitchFamily="18" charset="0"/>
                            </a:rPr>
                            <m:t>𝑘</m:t>
                          </m:r>
                          <m:r>
                            <a:rPr lang="en-GB" i="1">
                              <a:solidFill>
                                <a:schemeClr val="accent2"/>
                              </a:solidFill>
                              <a:latin typeface="Cambria Math" panose="02040503050406030204" pitchFamily="18" charset="0"/>
                            </a:rPr>
                            <m:t>=1</m:t>
                          </m:r>
                        </m:sub>
                        <m:sup>
                          <m:r>
                            <a:rPr lang="fr-FR" i="1">
                              <a:solidFill>
                                <a:schemeClr val="accent2"/>
                              </a:solidFill>
                              <a:latin typeface="Cambria Math" panose="02040503050406030204" pitchFamily="18" charset="0"/>
                            </a:rPr>
                            <m:t>𝐾</m:t>
                          </m:r>
                        </m:sup>
                        <m:e>
                          <m:r>
                            <a:rPr lang="fr-FR" i="1">
                              <a:solidFill>
                                <a:schemeClr val="accent2"/>
                              </a:solidFill>
                              <a:latin typeface="Cambria Math" panose="02040503050406030204" pitchFamily="18" charset="0"/>
                            </a:rPr>
                            <m:t>𝑆</m:t>
                          </m:r>
                          <m:sSubSup>
                            <m:sSubSupPr>
                              <m:ctrlPr>
                                <a:rPr lang="fr-FR" i="1">
                                  <a:solidFill>
                                    <a:schemeClr val="accent2"/>
                                  </a:solidFill>
                                  <a:latin typeface="Cambria Math" panose="02040503050406030204" pitchFamily="18" charset="0"/>
                                </a:rPr>
                              </m:ctrlPr>
                            </m:sSubSup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𝑘</m:t>
                              </m:r>
                            </m:sub>
                            <m:sup>
                              <m:r>
                                <a:rPr lang="en-GB" i="1">
                                  <a:solidFill>
                                    <a:schemeClr val="accent2"/>
                                  </a:solidFill>
                                  <a:latin typeface="Cambria Math" panose="02040503050406030204" pitchFamily="18" charset="0"/>
                                </a:rPr>
                                <m:t>1−</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𝑖𝑘</m:t>
                                  </m:r>
                                </m:sub>
                              </m:sSub>
                            </m:sup>
                          </m:sSubSup>
                          <m:sSup>
                            <m:sSupPr>
                              <m:ctrlPr>
                                <a:rPr lang="en-GB" i="1">
                                  <a:solidFill>
                                    <a:schemeClr val="accent2"/>
                                  </a:solidFill>
                                  <a:latin typeface="Cambria Math" panose="02040503050406030204" pitchFamily="18" charset="0"/>
                                </a:rPr>
                              </m:ctrlPr>
                            </m:sSupPr>
                            <m:e>
                              <m:d>
                                <m:dPr>
                                  <m:ctrlPr>
                                    <a:rPr lang="en-GB" i="1">
                                      <a:solidFill>
                                        <a:schemeClr val="accent2"/>
                                      </a:solidFill>
                                      <a:latin typeface="Cambria Math" panose="02040503050406030204" pitchFamily="18" charset="0"/>
                                    </a:rPr>
                                  </m:ctrlPr>
                                </m:dPr>
                                <m:e>
                                  <m:r>
                                    <a:rPr lang="en-GB"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𝑘</m:t>
                                      </m:r>
                                    </m:sub>
                                  </m:sSub>
                                </m:e>
                              </m:d>
                            </m:e>
                            <m:sup>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𝑖𝑘</m:t>
                                  </m:r>
                                </m:sub>
                              </m:sSub>
                            </m:sup>
                          </m:sSup>
                        </m:e>
                      </m:nary>
                      <m:r>
                        <a:rPr lang="en-GB" i="1">
                          <a:solidFill>
                            <a:schemeClr val="accent2"/>
                          </a:solidFill>
                          <a:latin typeface="Cambria Math" panose="02040503050406030204" pitchFamily="18" charset="0"/>
                        </a:rPr>
                        <m:t>+</m:t>
                      </m:r>
                      <m:nary>
                        <m:naryPr>
                          <m:chr m:val="∑"/>
                          <m:ctrlPr>
                            <a:rPr lang="fr-FR" i="1">
                              <a:solidFill>
                                <a:schemeClr val="accent2"/>
                              </a:solidFill>
                              <a:latin typeface="Cambria Math" panose="02040503050406030204" pitchFamily="18" charset="0"/>
                            </a:rPr>
                          </m:ctrlPr>
                        </m:naryPr>
                        <m:sub>
                          <m:r>
                            <a:rPr lang="fr-FR" i="1">
                              <a:solidFill>
                                <a:schemeClr val="accent2"/>
                              </a:solidFill>
                              <a:latin typeface="Cambria Math" panose="02040503050406030204" pitchFamily="18" charset="0"/>
                            </a:rPr>
                            <m:t>𝑢</m:t>
                          </m:r>
                          <m:r>
                            <a:rPr lang="en-GB" i="1">
                              <a:solidFill>
                                <a:schemeClr val="accent2"/>
                              </a:solidFill>
                              <a:latin typeface="Cambria Math" panose="02040503050406030204" pitchFamily="18" charset="0"/>
                            </a:rPr>
                            <m:t>=1</m:t>
                          </m:r>
                        </m:sub>
                        <m:sup>
                          <m:r>
                            <a:rPr lang="fr-FR" i="1">
                              <a:solidFill>
                                <a:schemeClr val="accent2"/>
                              </a:solidFill>
                              <a:latin typeface="Cambria Math" panose="02040503050406030204" pitchFamily="18" charset="0"/>
                            </a:rPr>
                            <m:t>𝐾</m:t>
                          </m:r>
                          <m:r>
                            <a:rPr lang="en-GB" i="1">
                              <a:solidFill>
                                <a:schemeClr val="accent2"/>
                              </a:solidFill>
                              <a:latin typeface="Cambria Math" panose="02040503050406030204" pitchFamily="18" charset="0"/>
                            </a:rPr>
                            <m:t>−1</m:t>
                          </m:r>
                        </m:sup>
                        <m:e>
                          <m:nary>
                            <m:naryPr>
                              <m:chr m:val="∑"/>
                              <m:ctrlPr>
                                <a:rPr lang="fr-FR" i="1">
                                  <a:solidFill>
                                    <a:schemeClr val="accent2"/>
                                  </a:solidFill>
                                  <a:latin typeface="Cambria Math" panose="02040503050406030204" pitchFamily="18" charset="0"/>
                                </a:rPr>
                              </m:ctrlPr>
                            </m:naryPr>
                            <m:sub>
                              <m:r>
                                <a:rPr lang="fr-FR" i="1">
                                  <a:solidFill>
                                    <a:schemeClr val="accent2"/>
                                  </a:solidFill>
                                  <a:latin typeface="Cambria Math" panose="02040503050406030204" pitchFamily="18" charset="0"/>
                                </a:rPr>
                                <m:t>𝑣</m:t>
                              </m:r>
                              <m:r>
                                <a:rPr lang="en-GB" i="1">
                                  <a:solidFill>
                                    <a:schemeClr val="accent2"/>
                                  </a:solidFill>
                                  <a:latin typeface="Cambria Math" panose="02040503050406030204" pitchFamily="18" charset="0"/>
                                </a:rPr>
                                <m:t>=</m:t>
                              </m:r>
                              <m:r>
                                <a:rPr lang="fr-FR" i="1">
                                  <a:solidFill>
                                    <a:schemeClr val="accent2"/>
                                  </a:solidFill>
                                  <a:latin typeface="Cambria Math" panose="02040503050406030204" pitchFamily="18" charset="0"/>
                                </a:rPr>
                                <m:t>𝑢</m:t>
                              </m:r>
                              <m:r>
                                <a:rPr lang="en-GB" i="1">
                                  <a:solidFill>
                                    <a:schemeClr val="accent2"/>
                                  </a:solidFill>
                                  <a:latin typeface="Cambria Math" panose="02040503050406030204" pitchFamily="18" charset="0"/>
                                </a:rPr>
                                <m:t>+1</m:t>
                              </m:r>
                            </m:sub>
                            <m:sup>
                              <m:r>
                                <a:rPr lang="fr-FR" i="1">
                                  <a:solidFill>
                                    <a:schemeClr val="accent2"/>
                                  </a:solidFill>
                                  <a:latin typeface="Cambria Math" panose="02040503050406030204" pitchFamily="18" charset="0"/>
                                </a:rPr>
                                <m:t>𝐾</m:t>
                              </m:r>
                            </m:sup>
                            <m:e>
                              <m:sSubSup>
                                <m:sSubSupPr>
                                  <m:ctrlPr>
                                    <a:rPr lang="en-GB" i="1">
                                      <a:solidFill>
                                        <a:schemeClr val="accent2"/>
                                      </a:solidFill>
                                      <a:latin typeface="Cambria Math" panose="02040503050406030204" pitchFamily="18" charset="0"/>
                                    </a:rPr>
                                  </m:ctrlPr>
                                </m:sSubSupPr>
                                <m:e>
                                  <m:sSup>
                                    <m:sSupPr>
                                      <m:ctrlPr>
                                        <a:rPr lang="en-GB" i="1">
                                          <a:solidFill>
                                            <a:schemeClr val="accent2"/>
                                          </a:solidFill>
                                          <a:latin typeface="Cambria Math" panose="02040503050406030204" pitchFamily="18" charset="0"/>
                                        </a:rPr>
                                      </m:ctrlPr>
                                    </m:sSupPr>
                                    <m:e>
                                      <m:d>
                                        <m:dPr>
                                          <m:ctrlPr>
                                            <a:rPr lang="en-GB" i="1">
                                              <a:solidFill>
                                                <a:schemeClr val="accent2"/>
                                              </a:solidFill>
                                              <a:latin typeface="Cambria Math" panose="02040503050406030204" pitchFamily="18" charset="0"/>
                                            </a:rPr>
                                          </m:ctrlPr>
                                        </m:dPr>
                                        <m:e>
                                          <m:r>
                                            <a:rPr lang="en-GB" i="1">
                                              <a:solidFill>
                                                <a:schemeClr val="accent2"/>
                                              </a:solidFill>
                                              <a:latin typeface="Cambria Math" panose="02040503050406030204" pitchFamily="18" charset="0"/>
                                            </a:rPr>
                                            <m:t>−1</m:t>
                                          </m:r>
                                        </m:e>
                                      </m:d>
                                    </m:e>
                                    <m:sup>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𝑖𝑢</m:t>
                                          </m:r>
                                        </m:sub>
                                      </m:sSub>
                                      <m:r>
                                        <a:rPr lang="en-GB" i="1">
                                          <a:solidFill>
                                            <a:schemeClr val="accent2"/>
                                          </a:solidFill>
                                          <a:latin typeface="Cambria Math" panose="02040503050406030204" pitchFamily="18" charset="0"/>
                                        </a:rPr>
                                        <m:t>+</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𝑖𝑣</m:t>
                                          </m:r>
                                        </m:sub>
                                      </m:sSub>
                                    </m:sup>
                                  </m:sSup>
                                  <m:r>
                                    <m:rPr>
                                      <m:nor/>
                                    </m:rPr>
                                    <a:rPr lang="en-GB" i="0">
                                      <a:solidFill>
                                        <a:schemeClr val="accent2"/>
                                      </a:solidFill>
                                    </a:rPr>
                                    <m:t>cov</m:t>
                                  </m:r>
                                </m:e>
                                <m:sub>
                                  <m:r>
                                    <a:rPr lang="fr-FR" i="1">
                                      <a:solidFill>
                                        <a:schemeClr val="accent2"/>
                                      </a:solidFill>
                                      <a:latin typeface="Cambria Math" panose="02040503050406030204" pitchFamily="18" charset="0"/>
                                    </a:rPr>
                                    <m:t>𝑢𝑣</m:t>
                                  </m:r>
                                </m:sub>
                                <m:sup>
                                  <m:r>
                                    <a:rPr lang="en-GB" i="1">
                                      <a:solidFill>
                                        <a:schemeClr val="accent2"/>
                                      </a:solidFill>
                                      <a:latin typeface="Cambria Math" panose="02040503050406030204" pitchFamily="18" charset="0"/>
                                    </a:rPr>
                                    <m:t>−</m:t>
                                  </m:r>
                                </m:sup>
                              </m:sSubSup>
                            </m:e>
                          </m:nary>
                          <m:nary>
                            <m:naryPr>
                              <m:chr m:val="∏"/>
                              <m:ctrlPr>
                                <a:rPr lang="fr-FR" i="1">
                                  <a:solidFill>
                                    <a:schemeClr val="accent2"/>
                                  </a:solidFill>
                                  <a:latin typeface="Cambria Math" panose="02040503050406030204" pitchFamily="18" charset="0"/>
                                </a:rPr>
                              </m:ctrlPr>
                            </m:naryPr>
                            <m:sub>
                              <m:r>
                                <a:rPr lang="fr-FR" i="1">
                                  <a:solidFill>
                                    <a:schemeClr val="accent2"/>
                                  </a:solidFill>
                                  <a:latin typeface="Cambria Math" panose="02040503050406030204" pitchFamily="18" charset="0"/>
                                </a:rPr>
                                <m:t>𝑘</m:t>
                              </m:r>
                              <m:r>
                                <a:rPr lang="en-GB"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𝑘</m:t>
                              </m:r>
                              <m:r>
                                <a:rPr lang="en-GB">
                                  <a:solidFill>
                                    <a:schemeClr val="accent2"/>
                                  </a:solidFill>
                                  <a:latin typeface="Cambria Math" panose="02040503050406030204" pitchFamily="18" charset="0"/>
                                </a:rPr>
                                <m:t>≠</m:t>
                              </m:r>
                              <m:r>
                                <a:rPr lang="fr-FR" i="1">
                                  <a:solidFill>
                                    <a:schemeClr val="accent2"/>
                                  </a:solidFill>
                                  <a:latin typeface="Cambria Math" panose="02040503050406030204" pitchFamily="18" charset="0"/>
                                </a:rPr>
                                <m:t>𝑢</m:t>
                              </m:r>
                              <m:r>
                                <a:rPr lang="en-GB" i="1">
                                  <a:solidFill>
                                    <a:schemeClr val="accent2"/>
                                  </a:solidFill>
                                  <a:latin typeface="Cambria Math" panose="02040503050406030204" pitchFamily="18" charset="0"/>
                                </a:rPr>
                                <m:t>,</m:t>
                              </m:r>
                              <m:r>
                                <a:rPr lang="fr-FR" i="1">
                                  <a:solidFill>
                                    <a:schemeClr val="accent2"/>
                                  </a:solidFill>
                                  <a:latin typeface="Cambria Math" panose="02040503050406030204" pitchFamily="18" charset="0"/>
                                </a:rPr>
                                <m:t>𝑣</m:t>
                              </m:r>
                            </m:sub>
                            <m:sup>
                              <m:r>
                                <a:rPr lang="fr-FR" i="1">
                                  <a:solidFill>
                                    <a:schemeClr val="accent2"/>
                                  </a:solidFill>
                                  <a:latin typeface="Cambria Math" panose="02040503050406030204" pitchFamily="18" charset="0"/>
                                </a:rPr>
                                <m:t>𝐾</m:t>
                              </m:r>
                            </m:sup>
                            <m:e>
                              <m:r>
                                <a:rPr lang="fr-FR" i="1">
                                  <a:solidFill>
                                    <a:schemeClr val="accent2"/>
                                  </a:solidFill>
                                  <a:latin typeface="Cambria Math" panose="02040503050406030204" pitchFamily="18" charset="0"/>
                                </a:rPr>
                                <m:t>𝑆</m:t>
                              </m:r>
                              <m:sSubSup>
                                <m:sSubSupPr>
                                  <m:ctrlPr>
                                    <a:rPr lang="fr-FR" i="1">
                                      <a:solidFill>
                                        <a:schemeClr val="accent2"/>
                                      </a:solidFill>
                                      <a:latin typeface="Cambria Math" panose="02040503050406030204" pitchFamily="18" charset="0"/>
                                    </a:rPr>
                                  </m:ctrlPr>
                                </m:sSubSup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𝑘</m:t>
                                  </m:r>
                                </m:sub>
                                <m:sup>
                                  <m:r>
                                    <a:rPr lang="en-GB" i="1">
                                      <a:solidFill>
                                        <a:schemeClr val="accent2"/>
                                      </a:solidFill>
                                      <a:latin typeface="Cambria Math" panose="02040503050406030204" pitchFamily="18" charset="0"/>
                                    </a:rPr>
                                    <m:t>1−</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𝑖𝑘</m:t>
                                      </m:r>
                                    </m:sub>
                                  </m:sSub>
                                </m:sup>
                              </m:sSubSup>
                              <m:sSup>
                                <m:sSupPr>
                                  <m:ctrlPr>
                                    <a:rPr lang="en-GB" i="1">
                                      <a:solidFill>
                                        <a:schemeClr val="accent2"/>
                                      </a:solidFill>
                                      <a:latin typeface="Cambria Math" panose="02040503050406030204" pitchFamily="18" charset="0"/>
                                    </a:rPr>
                                  </m:ctrlPr>
                                </m:sSupPr>
                                <m:e>
                                  <m:d>
                                    <m:dPr>
                                      <m:ctrlPr>
                                        <a:rPr lang="en-GB" i="1">
                                          <a:solidFill>
                                            <a:schemeClr val="accent2"/>
                                          </a:solidFill>
                                          <a:latin typeface="Cambria Math" panose="02040503050406030204" pitchFamily="18" charset="0"/>
                                        </a:rPr>
                                      </m:ctrlPr>
                                    </m:dPr>
                                    <m:e>
                                      <m:r>
                                        <a:rPr lang="en-GB" i="1">
                                          <a:solidFill>
                                            <a:schemeClr val="accent2"/>
                                          </a:solidFill>
                                          <a:latin typeface="Cambria Math" panose="02040503050406030204" pitchFamily="18" charset="0"/>
                                        </a:rPr>
                                        <m:t>1−</m:t>
                                      </m:r>
                                      <m:r>
                                        <a:rPr lang="fr-FR" i="1">
                                          <a:solidFill>
                                            <a:schemeClr val="accent2"/>
                                          </a:solidFill>
                                          <a:latin typeface="Cambria Math" panose="02040503050406030204" pitchFamily="18" charset="0"/>
                                        </a:rPr>
                                        <m:t>𝑆</m:t>
                                      </m:r>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𝑝</m:t>
                                          </m:r>
                                        </m:e>
                                        <m:sub>
                                          <m:r>
                                            <a:rPr lang="fr-FR" i="1">
                                              <a:solidFill>
                                                <a:schemeClr val="accent2"/>
                                              </a:solidFill>
                                              <a:latin typeface="Cambria Math" panose="02040503050406030204" pitchFamily="18" charset="0"/>
                                            </a:rPr>
                                            <m:t>𝑘</m:t>
                                          </m:r>
                                        </m:sub>
                                      </m:sSub>
                                    </m:e>
                                  </m:d>
                                </m:e>
                                <m:sup>
                                  <m:sSub>
                                    <m:sSubPr>
                                      <m:ctrlPr>
                                        <a:rPr lang="fr-FR" i="1">
                                          <a:solidFill>
                                            <a:schemeClr val="accent2"/>
                                          </a:solidFill>
                                          <a:latin typeface="Cambria Math" panose="02040503050406030204" pitchFamily="18" charset="0"/>
                                        </a:rPr>
                                      </m:ctrlPr>
                                    </m:sSubPr>
                                    <m:e>
                                      <m:r>
                                        <a:rPr lang="fr-FR" i="1">
                                          <a:solidFill>
                                            <a:schemeClr val="accent2"/>
                                          </a:solidFill>
                                          <a:latin typeface="Cambria Math" panose="02040503050406030204" pitchFamily="18" charset="0"/>
                                        </a:rPr>
                                        <m:t>𝑡</m:t>
                                      </m:r>
                                    </m:e>
                                    <m:sub>
                                      <m:r>
                                        <a:rPr lang="fr-FR" i="1">
                                          <a:solidFill>
                                            <a:schemeClr val="accent2"/>
                                          </a:solidFill>
                                          <a:latin typeface="Cambria Math" panose="02040503050406030204" pitchFamily="18" charset="0"/>
                                        </a:rPr>
                                        <m:t>𝑖𝑘</m:t>
                                      </m:r>
                                    </m:sub>
                                  </m:sSub>
                                </m:sup>
                              </m:sSup>
                            </m:e>
                          </m:nary>
                        </m:e>
                      </m:nary>
                    </m:oMath>
                  </m:oMathPara>
                </a14:m>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5" name="ZoneTexte 34">
                <a:extLst>
                  <a:ext uri="{FF2B5EF4-FFF2-40B4-BE49-F238E27FC236}">
                    <a16:creationId xmlns:a16="http://schemas.microsoft.com/office/drawing/2014/main" id="{4E327F95-20E9-4EB9-B650-268ADE2AABAB}"/>
                  </a:ext>
                </a:extLst>
              </p:cNvPr>
              <p:cNvSpPr txBox="1">
                <a:spLocks noRot="1" noChangeAspect="1" noMove="1" noResize="1" noEditPoints="1" noAdjustHandles="1" noChangeArrowheads="1" noChangeShapeType="1" noTextEdit="1"/>
              </p:cNvSpPr>
              <p:nvPr/>
            </p:nvSpPr>
            <p:spPr>
              <a:xfrm>
                <a:off x="1581914" y="934719"/>
                <a:ext cx="10833431" cy="5859361"/>
              </a:xfrm>
              <a:prstGeom prst="rect">
                <a:avLst/>
              </a:prstGeom>
              <a:blipFill>
                <a:blip r:embed="rId9"/>
                <a:stretch>
                  <a:fillRect l="-506" t="-104"/>
                </a:stretch>
              </a:blipFill>
            </p:spPr>
            <p:txBody>
              <a:bodyPr/>
              <a:lstStyle/>
              <a:p>
                <a:r>
                  <a:rPr lang="fr-FR">
                    <a:noFill/>
                  </a:rPr>
                  <a:t> </a:t>
                </a:r>
              </a:p>
            </p:txBody>
          </p:sp>
        </mc:Fallback>
      </mc:AlternateContent>
      <p:sp>
        <p:nvSpPr>
          <p:cNvPr id="4" name="Espace réservé du numéro de diapositive 3">
            <a:extLst>
              <a:ext uri="{FF2B5EF4-FFF2-40B4-BE49-F238E27FC236}">
                <a16:creationId xmlns:a16="http://schemas.microsoft.com/office/drawing/2014/main" id="{7652AD4C-E7B7-5143-9C13-983CC1AA9940}"/>
              </a:ext>
            </a:extLst>
          </p:cNvPr>
          <p:cNvSpPr>
            <a:spLocks noGrp="1"/>
          </p:cNvSpPr>
          <p:nvPr>
            <p:ph type="sldNum" sz="quarter" idx="12"/>
          </p:nvPr>
        </p:nvSpPr>
        <p:spPr/>
        <p:txBody>
          <a:bodyPr/>
          <a:lstStyle/>
          <a:p>
            <a:fld id="{453A7091-84B4-4BFC-9E12-327F477830A7}" type="slidenum">
              <a:rPr lang="fr-FR" smtClean="0"/>
              <a:t>7</a:t>
            </a:fld>
            <a:endParaRPr lang="fr-FR"/>
          </a:p>
        </p:txBody>
      </p:sp>
    </p:spTree>
    <p:extLst>
      <p:ext uri="{BB962C8B-B14F-4D97-AF65-F5344CB8AC3E}">
        <p14:creationId xmlns:p14="http://schemas.microsoft.com/office/powerpoint/2010/main" val="167443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391125" y="4163181"/>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a:p>
          </p:txBody>
        </p:sp>
      </p:grpSp>
      <p:sp>
        <p:nvSpPr>
          <p:cNvPr id="2" name="Freeform 2"/>
          <p:cNvSpPr/>
          <p:nvPr/>
        </p:nvSpPr>
        <p:spPr>
          <a:xfrm rot="10733564" flipH="1">
            <a:off x="-694947" y="-124352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4" name="TextBox 17">
            <a:extLst>
              <a:ext uri="{FF2B5EF4-FFF2-40B4-BE49-F238E27FC236}">
                <a16:creationId xmlns:a16="http://schemas.microsoft.com/office/drawing/2014/main" id="{6CB954C8-2D96-77D2-1CB1-2007C352A3E3}"/>
              </a:ext>
            </a:extLst>
          </p:cNvPr>
          <p:cNvSpPr txBox="1"/>
          <p:nvPr/>
        </p:nvSpPr>
        <p:spPr>
          <a:xfrm rot="5400000">
            <a:off x="-358117" y="3745491"/>
            <a:ext cx="2734786"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MATERIELS</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5" name="Graphique 76" descr="Tête avec engrenages">
            <a:extLst>
              <a:ext uri="{FF2B5EF4-FFF2-40B4-BE49-F238E27FC236}">
                <a16:creationId xmlns:a16="http://schemas.microsoft.com/office/drawing/2014/main" id="{99F80F54-943E-EBEE-9BAB-52179CAB20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2756" y="1514382"/>
            <a:ext cx="912473" cy="912473"/>
          </a:xfrm>
          <a:prstGeom prst="rect">
            <a:avLst/>
          </a:prstGeom>
        </p:spPr>
      </p:pic>
      <p:sp>
        <p:nvSpPr>
          <p:cNvPr id="7" name="TextBox 13">
            <a:extLst>
              <a:ext uri="{FF2B5EF4-FFF2-40B4-BE49-F238E27FC236}">
                <a16:creationId xmlns:a16="http://schemas.microsoft.com/office/drawing/2014/main" id="{5D701B80-22D3-8DC8-C086-5B6E80CE71D4}"/>
              </a:ext>
            </a:extLst>
          </p:cNvPr>
          <p:cNvSpPr txBox="1"/>
          <p:nvPr/>
        </p:nvSpPr>
        <p:spPr>
          <a:xfrm>
            <a:off x="4795974" y="451970"/>
            <a:ext cx="3706319" cy="406137"/>
          </a:xfrm>
          <a:prstGeom prst="rect">
            <a:avLst/>
          </a:prstGeom>
        </p:spPr>
        <p:txBody>
          <a:bodyPr wrap="square" lIns="0" tIns="0" rIns="0" bIns="0" rtlCol="0" anchor="t">
            <a:spAutoFit/>
          </a:bodyPr>
          <a:lstStyle/>
          <a:p>
            <a:pPr algn="just">
              <a:lnSpc>
                <a:spcPts val="3360"/>
              </a:lnSpc>
            </a:pPr>
            <a:r>
              <a:rPr lang="en-US" sz="2400" dirty="0">
                <a:solidFill>
                  <a:schemeClr val="accent6"/>
                </a:solidFill>
                <a:latin typeface="Georgia" panose="02040502050405020303" pitchFamily="18" charset="0"/>
                <a:sym typeface="ITC Benguiat Bold"/>
              </a:rPr>
              <a:t>Sources de </a:t>
            </a:r>
            <a:r>
              <a:rPr lang="fr-FR" sz="2400" dirty="0">
                <a:solidFill>
                  <a:schemeClr val="accent6"/>
                </a:solidFill>
                <a:latin typeface="Georgia" panose="02040502050405020303" pitchFamily="18" charset="0"/>
                <a:sym typeface="ITC Benguiat Bold"/>
              </a:rPr>
              <a:t>données</a:t>
            </a:r>
          </a:p>
        </p:txBody>
      </p: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E448E00A-36CB-3244-B210-FEED64E617C6}"/>
                  </a:ext>
                </a:extLst>
              </p:cNvPr>
              <p:cNvSpPr txBox="1"/>
              <p:nvPr/>
            </p:nvSpPr>
            <p:spPr>
              <a:xfrm>
                <a:off x="2499743" y="1241803"/>
                <a:ext cx="9782632" cy="4939814"/>
              </a:xfrm>
              <a:prstGeom prst="rect">
                <a:avLst/>
              </a:prstGeom>
              <a:noFill/>
            </p:spPr>
            <p:txBody>
              <a:bodyPr wrap="square">
                <a:spAutoFit/>
              </a:bodyPr>
              <a:lstStyle/>
              <a:p>
                <a:pPr marL="342900" indent="-342900" algn="just">
                  <a:lnSpc>
                    <a:spcPts val="2640"/>
                  </a:lnSpc>
                  <a:buFont typeface="Wingdings" panose="05000000000000000000" pitchFamily="2" charset="2"/>
                  <a:buChar char="q"/>
                </a:pPr>
                <a:r>
                  <a:rPr lang="fr-FR" sz="2000" b="0" i="0" dirty="0">
                    <a:solidFill>
                      <a:srgbClr val="0F1115"/>
                    </a:solidFill>
                    <a:effectLst/>
                    <a:latin typeface="Georgia" panose="02040502050405020303" pitchFamily="18" charset="0"/>
                  </a:rPr>
                  <a:t>Laboratoire de Référence UE (Anses) : 648 </a:t>
                </a:r>
                <a:r>
                  <a:rPr lang="fr-FR" sz="2000" b="0" dirty="0">
                    <a:solidFill>
                      <a:srgbClr val="0F1115"/>
                    </a:solidFill>
                    <a:effectLst/>
                    <a:latin typeface="Georgia" panose="02040502050405020303" pitchFamily="18" charset="0"/>
                  </a:rPr>
                  <a:t>sérums de porcs domestiques </a:t>
                </a:r>
              </a:p>
              <a:p>
                <a:pPr algn="just">
                  <a:lnSpc>
                    <a:spcPts val="2640"/>
                  </a:lnSpc>
                </a:pPr>
                <a:r>
                  <a:rPr lang="fr-FR" sz="2000" b="0" dirty="0">
                    <a:solidFill>
                      <a:srgbClr val="0F1115"/>
                    </a:solidFill>
                    <a:effectLst/>
                    <a:latin typeface="Georgia" panose="02040502050405020303" pitchFamily="18" charset="0"/>
                  </a:rPr>
                  <a:t>issus de </a:t>
                </a:r>
                <a:r>
                  <a:rPr lang="fr-FR" sz="2000" dirty="0">
                    <a:solidFill>
                      <a:srgbClr val="0F1115"/>
                    </a:solidFill>
                    <a:latin typeface="Georgia" panose="02040502050405020303" pitchFamily="18" charset="0"/>
                  </a:rPr>
                  <a:t>8</a:t>
                </a:r>
                <a:r>
                  <a:rPr lang="fr-FR" sz="2000" b="0" dirty="0">
                    <a:solidFill>
                      <a:srgbClr val="0F1115"/>
                    </a:solidFill>
                    <a:effectLst/>
                    <a:latin typeface="Georgia" panose="02040502050405020303" pitchFamily="18" charset="0"/>
                  </a:rPr>
                  <a:t> pays, collectés entre </a:t>
                </a:r>
                <a:r>
                  <a:rPr lang="fr-FR" sz="2000" dirty="0">
                    <a:solidFill>
                      <a:srgbClr val="0F1115"/>
                    </a:solidFill>
                    <a:latin typeface="Georgia" panose="02040502050405020303" pitchFamily="18" charset="0"/>
                  </a:rPr>
                  <a:t>2005 </a:t>
                </a:r>
                <a:r>
                  <a:rPr lang="fr-FR" sz="2000" b="0" dirty="0">
                    <a:solidFill>
                      <a:srgbClr val="0F1115"/>
                    </a:solidFill>
                    <a:effectLst/>
                    <a:latin typeface="Georgia" panose="02040502050405020303" pitchFamily="18" charset="0"/>
                  </a:rPr>
                  <a:t>et </a:t>
                </a:r>
                <a:r>
                  <a:rPr lang="fr-FR" sz="2000" dirty="0">
                    <a:solidFill>
                      <a:srgbClr val="0F1115"/>
                    </a:solidFill>
                    <a:latin typeface="Georgia" panose="02040502050405020303" pitchFamily="18" charset="0"/>
                  </a:rPr>
                  <a:t>2020</a:t>
                </a:r>
              </a:p>
              <a:p>
                <a:pPr marL="800100" lvl="1" indent="-342900" algn="just">
                  <a:lnSpc>
                    <a:spcPts val="2640"/>
                  </a:lnSpc>
                  <a:buFont typeface="Wingdings" panose="05000000000000000000" pitchFamily="2" charset="2"/>
                  <a:buChar char="q"/>
                </a:pPr>
                <a:r>
                  <a:rPr lang="fr-FR" sz="2000" dirty="0">
                    <a:solidFill>
                      <a:srgbClr val="0F1115"/>
                    </a:solidFill>
                    <a:latin typeface="Georgia" panose="02040502050405020303" pitchFamily="18" charset="0"/>
                    <a:sym typeface="ITC Benguiat Bold"/>
                  </a:rPr>
                  <a:t>221 échantillons d’animaux de statut connu (positif/négatif)</a:t>
                </a:r>
              </a:p>
              <a:p>
                <a:pPr marL="800100" lvl="1" indent="-342900" algn="just">
                  <a:lnSpc>
                    <a:spcPts val="2640"/>
                  </a:lnSpc>
                  <a:buFont typeface="Wingdings" panose="05000000000000000000" pitchFamily="2" charset="2"/>
                  <a:buChar char="q"/>
                </a:pPr>
                <a:r>
                  <a:rPr lang="fr-FR" sz="2000" dirty="0">
                    <a:solidFill>
                      <a:srgbClr val="0F1115"/>
                    </a:solidFill>
                    <a:latin typeface="Georgia" panose="02040502050405020303" pitchFamily="18" charset="0"/>
                    <a:sym typeface="ITC Benguiat Bold"/>
                  </a:rPr>
                  <a:t>427 échantillons d’animaux de statut inconnu</a:t>
                </a:r>
              </a:p>
              <a:p>
                <a:pPr algn="just">
                  <a:lnSpc>
                    <a:spcPts val="2640"/>
                  </a:lnSpc>
                </a:pPr>
                <a:endParaRPr lang="fr-FR" sz="2000" dirty="0">
                  <a:solidFill>
                    <a:srgbClr val="0F1115"/>
                  </a:solidFill>
                  <a:latin typeface="Georgia" panose="02040502050405020303" pitchFamily="18" charset="0"/>
                  <a:sym typeface="ITC Benguiat Bold"/>
                </a:endParaRPr>
              </a:p>
              <a:p>
                <a:pPr marL="342900" indent="-342900" algn="just">
                  <a:lnSpc>
                    <a:spcPts val="2640"/>
                  </a:lnSpc>
                  <a:buFont typeface="Wingdings" panose="05000000000000000000" pitchFamily="2" charset="2"/>
                  <a:buChar char="q"/>
                </a:pPr>
                <a:r>
                  <a:rPr lang="fr-FR" sz="2000" dirty="0">
                    <a:latin typeface="Georgia" panose="02040502050405020303" pitchFamily="18" charset="0"/>
                  </a:rPr>
                  <a:t>Résultats de laboratoire :</a:t>
                </a:r>
              </a:p>
              <a:p>
                <a:pPr marL="800100" lvl="1" indent="-342900" algn="just">
                  <a:lnSpc>
                    <a:spcPts val="2640"/>
                  </a:lnSpc>
                  <a:buFont typeface="Wingdings" panose="05000000000000000000" pitchFamily="2" charset="2"/>
                  <a:buChar char="q"/>
                </a:pPr>
                <a:r>
                  <a:rPr lang="fr-FR" sz="2000" b="1" dirty="0">
                    <a:solidFill>
                      <a:srgbClr val="0F1115"/>
                    </a:solidFill>
                    <a:latin typeface="Georgia" panose="02040502050405020303" pitchFamily="18" charset="0"/>
                  </a:rPr>
                  <a:t>2  </a:t>
                </a:r>
                <a:r>
                  <a:rPr lang="fr-FR" sz="2000" b="1" dirty="0">
                    <a:latin typeface="Georgia" panose="02040502050405020303" pitchFamily="18" charset="0"/>
                  </a:rPr>
                  <a:t>Tests sérologiques conventionnels :</a:t>
                </a:r>
                <a:r>
                  <a:rPr lang="fr-FR" sz="2000" dirty="0">
                    <a:latin typeface="Georgia" panose="02040502050405020303" pitchFamily="18" charset="0"/>
                  </a:rPr>
                  <a:t> EAT et FC</a:t>
                </a:r>
              </a:p>
              <a:p>
                <a:pPr marL="800100" lvl="1" indent="-342900" algn="just">
                  <a:lnSpc>
                    <a:spcPts val="2640"/>
                  </a:lnSpc>
                  <a:buFont typeface="Wingdings" panose="05000000000000000000" pitchFamily="2" charset="2"/>
                  <a:buChar char="q"/>
                </a:pPr>
                <a:r>
                  <a:rPr lang="fr-FR" sz="2000" b="1" dirty="0">
                    <a:solidFill>
                      <a:srgbClr val="0F1115"/>
                    </a:solidFill>
                    <a:latin typeface="Georgia" panose="02040502050405020303" pitchFamily="18" charset="0"/>
                  </a:rPr>
                  <a:t>9</a:t>
                </a:r>
                <a:r>
                  <a:rPr lang="fr-FR" sz="2000" b="1" dirty="0">
                    <a:latin typeface="Georgia" panose="02040502050405020303" pitchFamily="18" charset="0"/>
                  </a:rPr>
                  <a:t> Kits ELISA :</a:t>
                </a:r>
                <a:r>
                  <a:rPr lang="fr-FR" sz="2000" dirty="0">
                    <a:latin typeface="Georgia" panose="02040502050405020303" pitchFamily="18" charset="0"/>
                  </a:rPr>
                  <a:t> A (Ar, As), B, C, D, E, F, G, H (indirect, compétitif, blocking)</a:t>
                </a:r>
              </a:p>
              <a:p>
                <a:pPr algn="just">
                  <a:lnSpc>
                    <a:spcPts val="2640"/>
                  </a:lnSpc>
                </a:pPr>
                <a:endParaRPr lang="fr-FR" sz="2000" dirty="0">
                  <a:latin typeface="Georgia" panose="02040502050405020303" pitchFamily="18" charset="0"/>
                  <a:sym typeface="ITC Benguiat Bold"/>
                </a:endParaRPr>
              </a:p>
              <a:p>
                <a:pPr marL="285750" indent="-285750">
                  <a:buFont typeface="Wingdings" panose="05000000000000000000" pitchFamily="2" charset="2"/>
                  <a:buChar char="q"/>
                </a:pPr>
                <a:r>
                  <a:rPr lang="fr-FR" sz="2000" dirty="0">
                    <a:latin typeface="Georgia" panose="02040502050405020303" pitchFamily="18" charset="0"/>
                  </a:rPr>
                  <a:t>Priors </a:t>
                </a:r>
                <a:r>
                  <a:rPr lang="fr-FR" sz="2000" b="1" dirty="0">
                    <a:latin typeface="Georgia" panose="02040502050405020303" pitchFamily="18" charset="0"/>
                  </a:rPr>
                  <a:t>informatifs </a:t>
                </a:r>
                <a:endParaRPr lang="fr-FR" sz="2000" dirty="0">
                  <a:latin typeface="Georgia" panose="02040502050405020303" pitchFamily="18" charset="0"/>
                </a:endParaRPr>
              </a:p>
              <a:p>
                <a:pPr marL="742950" lvl="1" indent="-285750">
                  <a:buFont typeface="Wingdings" panose="05000000000000000000" pitchFamily="2" charset="2"/>
                  <a:buChar char="q"/>
                </a:pPr>
                <a:r>
                  <a:rPr lang="fr-FR" sz="2000" dirty="0">
                    <a:latin typeface="Georgia" panose="02040502050405020303" pitchFamily="18" charset="0"/>
                  </a:rPr>
                  <a:t>Issus de la littérature (étude EFSA 2009): </a:t>
                </a:r>
              </a:p>
              <a:p>
                <a:pPr lvl="1"/>
                <a:r>
                  <a:rPr lang="fr-FR" sz="2000" dirty="0">
                    <a:latin typeface="Georgia" panose="02040502050405020303" pitchFamily="18" charset="0"/>
                    <a:sym typeface="Wingdings" panose="05000000000000000000" pitchFamily="2" charset="2"/>
                  </a:rPr>
                  <a:t> </a:t>
                </a:r>
                <a:r>
                  <a:rPr lang="fr-FR" sz="2000" dirty="0">
                    <a:latin typeface="Georgia" panose="02040502050405020303" pitchFamily="18" charset="0"/>
                  </a:rPr>
                  <a:t>méthode moment matching : </a:t>
                </a:r>
                <a14:m>
                  <m:oMath xmlns:m="http://schemas.openxmlformats.org/officeDocument/2006/math">
                    <m:r>
                      <a:rPr lang="fr-FR" sz="2000" i="1" dirty="0" smtClean="0">
                        <a:latin typeface="Cambria Math" panose="02040503050406030204" pitchFamily="18" charset="0"/>
                        <a:ea typeface="Cambria Math" panose="02040503050406030204" pitchFamily="18" charset="0"/>
                      </a:rPr>
                      <m:t>𝑆𝑒</m:t>
                    </m:r>
                    <m:r>
                      <a:rPr lang="fr-FR" sz="2000" i="1" dirty="0" smtClean="0">
                        <a:latin typeface="Cambria Math" panose="02040503050406030204" pitchFamily="18" charset="0"/>
                        <a:ea typeface="Cambria Math" panose="02040503050406030204" pitchFamily="18" charset="0"/>
                      </a:rPr>
                      <m:t> ~ </m:t>
                    </m:r>
                    <m:r>
                      <a:rPr lang="fr-FR" sz="2000" i="1" smtClean="0">
                        <a:effectLst/>
                        <a:latin typeface="Cambria Math" panose="02040503050406030204" pitchFamily="18" charset="0"/>
                        <a:ea typeface="Cambria Math" panose="02040503050406030204" pitchFamily="18" charset="0"/>
                        <a:cs typeface="Times New Roman" panose="02020603050405020304" pitchFamily="18" charset="0"/>
                      </a:rPr>
                      <m:t>ℬ</m:t>
                    </m:r>
                    <m:r>
                      <a:rPr lang="fr-FR" sz="2000" i="1" smtClean="0">
                        <a:effectLst/>
                        <a:latin typeface="Cambria Math" panose="02040503050406030204" pitchFamily="18" charset="0"/>
                        <a:ea typeface="Cambria Math" panose="02040503050406030204" pitchFamily="18" charset="0"/>
                        <a:cs typeface="Times New Roman" panose="02020603050405020304" pitchFamily="18" charset="0"/>
                      </a:rPr>
                      <m:t>𝑒𝑡𝑎</m:t>
                    </m:r>
                    <m:d>
                      <m:dPr>
                        <m:ctrlPr>
                          <a:rPr lang="fr-FR" sz="20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FR" sz="2000" b="0" i="1" smtClean="0">
                            <a:effectLst/>
                            <a:latin typeface="Cambria Math" panose="02040503050406030204" pitchFamily="18" charset="0"/>
                            <a:ea typeface="Cambria Math" panose="02040503050406030204" pitchFamily="18" charset="0"/>
                            <a:cs typeface="Times New Roman" panose="02020603050405020304" pitchFamily="18" charset="0"/>
                          </a:rPr>
                          <m:t>𝑎</m:t>
                        </m:r>
                        <m:r>
                          <a:rPr lang="fr-FR" sz="2000" i="1">
                            <a:effectLst/>
                            <a:latin typeface="Cambria Math" panose="02040503050406030204" pitchFamily="18" charset="0"/>
                            <a:ea typeface="Cambria Math" panose="02040503050406030204" pitchFamily="18" charset="0"/>
                            <a:cs typeface="Times New Roman" panose="02020603050405020304" pitchFamily="18" charset="0"/>
                          </a:rPr>
                          <m:t>,</m:t>
                        </m:r>
                        <m:r>
                          <a:rPr lang="fr-FR" sz="2000" b="0" i="1" smtClean="0">
                            <a:effectLst/>
                            <a:latin typeface="Cambria Math" panose="02040503050406030204" pitchFamily="18" charset="0"/>
                            <a:ea typeface="Cambria Math" panose="02040503050406030204" pitchFamily="18" charset="0"/>
                            <a:cs typeface="Times New Roman" panose="02020603050405020304" pitchFamily="18" charset="0"/>
                          </a:rPr>
                          <m:t>𝑏</m:t>
                        </m:r>
                      </m:e>
                    </m:d>
                    <m:r>
                      <a:rPr lang="fr-FR" sz="2000" b="0" i="1" smtClean="0">
                        <a:effectLst/>
                        <a:latin typeface="Cambria Math" panose="02040503050406030204" pitchFamily="18" charset="0"/>
                        <a:ea typeface="Cambria Math" panose="02040503050406030204" pitchFamily="18" charset="0"/>
                        <a:cs typeface="Times New Roman" panose="02020603050405020304" pitchFamily="18" charset="0"/>
                      </a:rPr>
                      <m:t> ;</m:t>
                    </m:r>
                    <m:r>
                      <a:rPr lang="fr-FR" sz="2000" i="1" dirty="0" smtClean="0">
                        <a:latin typeface="Cambria Math" panose="02040503050406030204" pitchFamily="18" charset="0"/>
                        <a:ea typeface="Cambria Math" panose="02040503050406030204" pitchFamily="18" charset="0"/>
                      </a:rPr>
                      <m:t>𝑆</m:t>
                    </m:r>
                    <m:r>
                      <a:rPr lang="fr-FR" sz="2000" b="0" i="1" dirty="0" smtClean="0">
                        <a:latin typeface="Cambria Math" panose="02040503050406030204" pitchFamily="18" charset="0"/>
                        <a:ea typeface="Cambria Math" panose="02040503050406030204" pitchFamily="18" charset="0"/>
                      </a:rPr>
                      <m:t>𝑝</m:t>
                    </m:r>
                    <m:r>
                      <a:rPr lang="fr-FR" sz="2000" i="1" dirty="0" smtClean="0">
                        <a:latin typeface="Cambria Math" panose="02040503050406030204" pitchFamily="18" charset="0"/>
                        <a:ea typeface="Cambria Math" panose="02040503050406030204" pitchFamily="18" charset="0"/>
                      </a:rPr>
                      <m:t> ~ </m:t>
                    </m:r>
                    <m:r>
                      <a:rPr lang="fr-FR" sz="2000" i="1">
                        <a:latin typeface="Cambria Math" panose="02040503050406030204" pitchFamily="18" charset="0"/>
                        <a:ea typeface="Cambria Math" panose="02040503050406030204" pitchFamily="18" charset="0"/>
                        <a:cs typeface="Times New Roman" panose="02020603050405020304" pitchFamily="18" charset="0"/>
                      </a:rPr>
                      <m:t>ℬ</m:t>
                    </m:r>
                    <m:r>
                      <a:rPr lang="fr-FR" sz="2000" i="1">
                        <a:latin typeface="Cambria Math" panose="02040503050406030204" pitchFamily="18" charset="0"/>
                        <a:ea typeface="Cambria Math" panose="02040503050406030204" pitchFamily="18" charset="0"/>
                        <a:cs typeface="Times New Roman" panose="02020603050405020304" pitchFamily="18" charset="0"/>
                      </a:rPr>
                      <m:t>𝑒𝑡𝑎</m:t>
                    </m:r>
                    <m:d>
                      <m:dPr>
                        <m:ctrlPr>
                          <a:rPr lang="fr-FR" sz="2000" i="1">
                            <a:latin typeface="Cambria Math" panose="02040503050406030204" pitchFamily="18" charset="0"/>
                            <a:ea typeface="Cambria Math" panose="02040503050406030204" pitchFamily="18" charset="0"/>
                            <a:cs typeface="Times New Roman" panose="02020603050405020304" pitchFamily="18" charset="0"/>
                          </a:rPr>
                        </m:ctrlPr>
                      </m:dPr>
                      <m:e>
                        <m:r>
                          <a:rPr lang="fr-FR" sz="2000" i="1">
                            <a:latin typeface="Cambria Math" panose="02040503050406030204" pitchFamily="18" charset="0"/>
                            <a:ea typeface="Cambria Math" panose="02040503050406030204" pitchFamily="18" charset="0"/>
                            <a:cs typeface="Times New Roman" panose="02020603050405020304" pitchFamily="18" charset="0"/>
                          </a:rPr>
                          <m:t>𝑎</m:t>
                        </m:r>
                        <m:r>
                          <a:rPr lang="fr-FR" sz="2000" i="1">
                            <a:latin typeface="Cambria Math" panose="02040503050406030204" pitchFamily="18" charset="0"/>
                            <a:ea typeface="Cambria Math" panose="02040503050406030204" pitchFamily="18" charset="0"/>
                            <a:cs typeface="Times New Roman" panose="02020603050405020304" pitchFamily="18" charset="0"/>
                          </a:rPr>
                          <m:t>,</m:t>
                        </m:r>
                        <m:r>
                          <a:rPr lang="fr-FR" sz="2000" i="1">
                            <a:latin typeface="Cambria Math" panose="02040503050406030204" pitchFamily="18" charset="0"/>
                            <a:ea typeface="Cambria Math" panose="02040503050406030204" pitchFamily="18" charset="0"/>
                            <a:cs typeface="Times New Roman" panose="02020603050405020304" pitchFamily="18" charset="0"/>
                          </a:rPr>
                          <m:t>𝑏</m:t>
                        </m:r>
                      </m:e>
                    </m:d>
                  </m:oMath>
                </a14:m>
                <a:endParaRPr lang="fr-FR" sz="2000" dirty="0">
                  <a:latin typeface="Cambria Math" panose="02040503050406030204" pitchFamily="18" charset="0"/>
                  <a:ea typeface="Cambria Math" panose="02040503050406030204" pitchFamily="18" charset="0"/>
                  <a:cs typeface="Times New Roman" panose="02020603050405020304" pitchFamily="18" charset="0"/>
                </a:endParaRPr>
              </a:p>
              <a:p>
                <a:pPr marL="742950" lvl="1" indent="-285750">
                  <a:buFont typeface="Wingdings" panose="05000000000000000000" pitchFamily="2" charset="2"/>
                  <a:buChar char="q"/>
                </a:pPr>
                <a:r>
                  <a:rPr lang="fr-FR" sz="2000" dirty="0">
                    <a:latin typeface="Georgia" panose="02040502050405020303" pitchFamily="18" charset="0"/>
                  </a:rPr>
                  <a:t>Priors empiriques </a:t>
                </a:r>
                <a:r>
                  <a:rPr lang="fr-FR" sz="2000" dirty="0">
                    <a:latin typeface="Georgia" panose="02040502050405020303" pitchFamily="18" charset="0"/>
                    <a:sym typeface="ITC Benguiat Bold"/>
                  </a:rPr>
                  <a:t> (basés sur animaux de statut connu)</a:t>
                </a:r>
              </a:p>
              <a:p>
                <a:pPr lvl="1"/>
                <a:r>
                  <a:rPr lang="fr-FR" sz="2000" dirty="0">
                    <a:latin typeface="Georgia" panose="02040502050405020303" pitchFamily="18" charset="0"/>
                    <a:sym typeface="Wingdings" panose="05000000000000000000" pitchFamily="2" charset="2"/>
                  </a:rPr>
                  <a:t></a:t>
                </a:r>
                <a:r>
                  <a:rPr lang="fr-FR" sz="2000" dirty="0">
                    <a:latin typeface="Georgia" panose="02040502050405020303" pitchFamily="18" charset="0"/>
                  </a:rPr>
                  <a:t> </a:t>
                </a:r>
                <a14:m>
                  <m:oMath xmlns:m="http://schemas.openxmlformats.org/officeDocument/2006/math">
                    <m:r>
                      <a:rPr lang="fr-FR" sz="2000" i="1" dirty="0" smtClean="0">
                        <a:solidFill>
                          <a:schemeClr val="tx1"/>
                        </a:solidFill>
                        <a:latin typeface="Cambria Math" panose="02040503050406030204" pitchFamily="18" charset="0"/>
                        <a:ea typeface="Cambria Math" panose="02040503050406030204" pitchFamily="18" charset="0"/>
                      </a:rPr>
                      <m:t>𝑆𝑒</m:t>
                    </m:r>
                    <m:r>
                      <a:rPr lang="fr-FR" sz="2000" i="1" dirty="0" smtClean="0">
                        <a:solidFill>
                          <a:schemeClr val="tx1"/>
                        </a:solidFill>
                        <a:latin typeface="Cambria Math" panose="02040503050406030204" pitchFamily="18" charset="0"/>
                        <a:ea typeface="Cambria Math" panose="02040503050406030204" pitchFamily="18" charset="0"/>
                      </a:rPr>
                      <m:t> ~ </m:t>
                    </m:r>
                    <m:r>
                      <a:rPr lang="fr-FR" sz="200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ℬ</m:t>
                    </m:r>
                    <m:r>
                      <a:rPr lang="fr-FR" sz="200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𝑒𝑡𝑎</m:t>
                    </m:r>
                    <m:d>
                      <m:dPr>
                        <m:ctrlP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𝑉𝑃</m:t>
                        </m:r>
                        <m: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+1,</m:t>
                        </m:r>
                        <m: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𝐹𝑁</m:t>
                        </m:r>
                        <m: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+1</m:t>
                        </m:r>
                      </m:e>
                    </m:d>
                    <m:r>
                      <a:rPr lang="fr-FR" sz="2000" b="0"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 ;</m:t>
                    </m:r>
                    <m:r>
                      <a:rPr lang="fr-FR" sz="2000" i="1" dirty="0" smtClean="0">
                        <a:solidFill>
                          <a:schemeClr val="tx1"/>
                        </a:solidFill>
                        <a:latin typeface="Cambria Math" panose="02040503050406030204" pitchFamily="18" charset="0"/>
                        <a:ea typeface="Cambria Math" panose="02040503050406030204" pitchFamily="18" charset="0"/>
                      </a:rPr>
                      <m:t>𝑆</m:t>
                    </m:r>
                    <m:r>
                      <a:rPr lang="fr-FR" sz="2000" b="0" i="1" dirty="0" smtClean="0">
                        <a:solidFill>
                          <a:schemeClr val="tx1"/>
                        </a:solidFill>
                        <a:latin typeface="Cambria Math" panose="02040503050406030204" pitchFamily="18" charset="0"/>
                        <a:ea typeface="Cambria Math" panose="02040503050406030204" pitchFamily="18" charset="0"/>
                      </a:rPr>
                      <m:t>𝑝</m:t>
                    </m:r>
                    <m:r>
                      <a:rPr lang="fr-FR" sz="2000" i="1" dirty="0" smtClean="0">
                        <a:solidFill>
                          <a:schemeClr val="tx1"/>
                        </a:solidFill>
                        <a:latin typeface="Cambria Math" panose="02040503050406030204" pitchFamily="18" charset="0"/>
                        <a:ea typeface="Cambria Math" panose="02040503050406030204" pitchFamily="18" charset="0"/>
                      </a:rPr>
                      <m:t> ~ </m:t>
                    </m:r>
                    <m:r>
                      <a:rPr lang="fr-FR"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ℬ</m:t>
                    </m:r>
                    <m:r>
                      <a:rPr lang="fr-FR"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𝑒𝑡𝑎</m:t>
                    </m:r>
                    <m:d>
                      <m:dPr>
                        <m:ctrlPr>
                          <a:rPr lang="fr-FR"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fr-FR"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𝑉𝑁</m:t>
                        </m:r>
                        <m:r>
                          <a:rPr lang="fr-FR"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r>
                          <a:rPr lang="fr-FR"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𝐹𝑃</m:t>
                        </m:r>
                        <m:r>
                          <a:rPr lang="fr-FR"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e>
                    </m:d>
                    <m:r>
                      <a:rPr lang="fr-FR"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endParaRPr lang="fr-FR" sz="2000" dirty="0">
                  <a:solidFill>
                    <a:schemeClr val="tx1"/>
                  </a:solidFill>
                  <a:latin typeface="Georgia" panose="02040502050405020303" pitchFamily="18" charset="0"/>
                </a:endParaRPr>
              </a:p>
              <a:p>
                <a:pPr marL="285750" indent="-285750">
                  <a:buFont typeface="Wingdings" panose="05000000000000000000" pitchFamily="2" charset="2"/>
                  <a:buChar char="q"/>
                </a:pPr>
                <a:r>
                  <a:rPr lang="fr-FR" sz="2000" dirty="0">
                    <a:latin typeface="Georgia" panose="02040502050405020303" pitchFamily="18" charset="0"/>
                  </a:rPr>
                  <a:t>Priors </a:t>
                </a:r>
                <a:r>
                  <a:rPr lang="fr-FR" sz="2000" b="1" dirty="0">
                    <a:latin typeface="Georgia" panose="02040502050405020303" pitchFamily="18" charset="0"/>
                  </a:rPr>
                  <a:t>non informatifs </a:t>
                </a:r>
                <a:r>
                  <a:rPr lang="fr-FR" sz="2000" dirty="0">
                    <a:latin typeface="Georgia" panose="02040502050405020303" pitchFamily="18" charset="0"/>
                    <a:sym typeface="Wingdings" panose="05000000000000000000" pitchFamily="2" charset="2"/>
                  </a:rPr>
                  <a:t> </a:t>
                </a:r>
                <a14:m>
                  <m:oMath xmlns:m="http://schemas.openxmlformats.org/officeDocument/2006/math">
                    <m:r>
                      <a:rPr lang="fr-FR" sz="2000" i="1">
                        <a:latin typeface="Cambria Math" panose="02040503050406030204" pitchFamily="18" charset="0"/>
                        <a:ea typeface="Cambria Math" panose="02040503050406030204" pitchFamily="18" charset="0"/>
                        <a:cs typeface="Times New Roman" panose="02020603050405020304" pitchFamily="18" charset="0"/>
                      </a:rPr>
                      <m:t>ℬ</m:t>
                    </m:r>
                    <m:r>
                      <a:rPr lang="fr-FR" sz="2000" i="1">
                        <a:latin typeface="Cambria Math" panose="02040503050406030204" pitchFamily="18" charset="0"/>
                        <a:ea typeface="Cambria Math" panose="02040503050406030204" pitchFamily="18" charset="0"/>
                        <a:cs typeface="Times New Roman" panose="02020603050405020304" pitchFamily="18" charset="0"/>
                      </a:rPr>
                      <m:t>𝑒𝑡𝑎</m:t>
                    </m:r>
                    <m:d>
                      <m:dPr>
                        <m:ctrlPr>
                          <a:rPr lang="fr-FR"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fr-FR" sz="2000" b="0" i="1" smtClean="0">
                            <a:latin typeface="Cambria Math" panose="02040503050406030204" pitchFamily="18" charset="0"/>
                            <a:ea typeface="Cambria Math" panose="02040503050406030204" pitchFamily="18" charset="0"/>
                            <a:cs typeface="Times New Roman" panose="02020603050405020304" pitchFamily="18" charset="0"/>
                          </a:rPr>
                          <m:t>1,1</m:t>
                        </m:r>
                      </m:e>
                    </m:d>
                  </m:oMath>
                </a14:m>
                <a:endParaRPr lang="fr-FR" sz="2000" b="1" dirty="0">
                  <a:latin typeface="Georgia" panose="02040502050405020303" pitchFamily="18" charset="0"/>
                </a:endParaRPr>
              </a:p>
            </p:txBody>
          </p:sp>
        </mc:Choice>
        <mc:Fallback xmlns="">
          <p:sp>
            <p:nvSpPr>
              <p:cNvPr id="12" name="ZoneTexte 11">
                <a:extLst>
                  <a:ext uri="{FF2B5EF4-FFF2-40B4-BE49-F238E27FC236}">
                    <a16:creationId xmlns:a16="http://schemas.microsoft.com/office/drawing/2014/main" id="{E448E00A-36CB-3244-B210-FEED64E617C6}"/>
                  </a:ext>
                </a:extLst>
              </p:cNvPr>
              <p:cNvSpPr txBox="1">
                <a:spLocks noRot="1" noChangeAspect="1" noMove="1" noResize="1" noEditPoints="1" noAdjustHandles="1" noChangeArrowheads="1" noChangeShapeType="1" noTextEdit="1"/>
              </p:cNvSpPr>
              <p:nvPr/>
            </p:nvSpPr>
            <p:spPr>
              <a:xfrm>
                <a:off x="2499743" y="1241803"/>
                <a:ext cx="9782632" cy="4939814"/>
              </a:xfrm>
              <a:prstGeom prst="rect">
                <a:avLst/>
              </a:prstGeom>
              <a:blipFill>
                <a:blip r:embed="rId6"/>
                <a:stretch>
                  <a:fillRect l="-623" t="-741" b="-1358"/>
                </a:stretch>
              </a:blipFill>
            </p:spPr>
            <p:txBody>
              <a:bodyPr/>
              <a:lstStyle/>
              <a:p>
                <a:r>
                  <a:rPr lang="fr-FR">
                    <a:noFill/>
                  </a:rPr>
                  <a:t> </a:t>
                </a:r>
              </a:p>
            </p:txBody>
          </p:sp>
        </mc:Fallback>
      </mc:AlternateContent>
      <p:pic>
        <p:nvPicPr>
          <p:cNvPr id="14" name="Image 13">
            <a:extLst>
              <a:ext uri="{FF2B5EF4-FFF2-40B4-BE49-F238E27FC236}">
                <a16:creationId xmlns:a16="http://schemas.microsoft.com/office/drawing/2014/main" id="{D231D632-B1FF-DB4F-C7D9-0B28BD2A38FF}"/>
              </a:ext>
            </a:extLst>
          </p:cNvPr>
          <p:cNvPicPr>
            <a:picLocks noChangeAspect="1"/>
          </p:cNvPicPr>
          <p:nvPr/>
        </p:nvPicPr>
        <p:blipFill>
          <a:blip r:embed="rId7">
            <a:duotone>
              <a:schemeClr val="accent6">
                <a:shade val="45000"/>
                <a:satMod val="135000"/>
              </a:schemeClr>
              <a:prstClr val="white"/>
            </a:duotone>
          </a:blip>
          <a:stretch>
            <a:fillRect/>
          </a:stretch>
        </p:blipFill>
        <p:spPr>
          <a:xfrm>
            <a:off x="1610255" y="3397598"/>
            <a:ext cx="773562" cy="773562"/>
          </a:xfrm>
          <a:prstGeom prst="rect">
            <a:avLst/>
          </a:prstGeom>
        </p:spPr>
      </p:pic>
      <p:pic>
        <p:nvPicPr>
          <p:cNvPr id="37" name="Image 36" descr="Base de données - Icônes multimédia gratuites">
            <a:extLst>
              <a:ext uri="{FF2B5EF4-FFF2-40B4-BE49-F238E27FC236}">
                <a16:creationId xmlns:a16="http://schemas.microsoft.com/office/drawing/2014/main" id="{97C1B837-F253-45F9-9449-58D30AF07E16}"/>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1644611" y="1514382"/>
            <a:ext cx="704850" cy="704850"/>
          </a:xfrm>
          <a:prstGeom prst="rect">
            <a:avLst/>
          </a:prstGeom>
          <a:noFill/>
          <a:ln>
            <a:noFill/>
          </a:ln>
        </p:spPr>
      </p:pic>
      <p:pic>
        <p:nvPicPr>
          <p:cNvPr id="39" name="Image 38">
            <a:extLst>
              <a:ext uri="{FF2B5EF4-FFF2-40B4-BE49-F238E27FC236}">
                <a16:creationId xmlns:a16="http://schemas.microsoft.com/office/drawing/2014/main" id="{7927E2FE-CD1C-4359-8F2F-B1977BF2CB6B}"/>
              </a:ext>
            </a:extLst>
          </p:cNvPr>
          <p:cNvPicPr/>
          <p:nvPr/>
        </p:nvPicPr>
        <p:blipFill>
          <a:blip r:embed="rId9"/>
          <a:stretch>
            <a:fillRect/>
          </a:stretch>
        </p:blipFill>
        <p:spPr>
          <a:xfrm>
            <a:off x="10177981" y="2400425"/>
            <a:ext cx="1913844" cy="1081733"/>
          </a:xfrm>
          <a:prstGeom prst="rect">
            <a:avLst/>
          </a:prstGeom>
        </p:spPr>
      </p:pic>
      <p:sp>
        <p:nvSpPr>
          <p:cNvPr id="6" name="Espace réservé du numéro de diapositive 5">
            <a:extLst>
              <a:ext uri="{FF2B5EF4-FFF2-40B4-BE49-F238E27FC236}">
                <a16:creationId xmlns:a16="http://schemas.microsoft.com/office/drawing/2014/main" id="{583FFC70-B062-F19B-315E-43F8C40EC2E7}"/>
              </a:ext>
            </a:extLst>
          </p:cNvPr>
          <p:cNvSpPr>
            <a:spLocks noGrp="1"/>
          </p:cNvSpPr>
          <p:nvPr>
            <p:ph type="sldNum" sz="quarter" idx="12"/>
          </p:nvPr>
        </p:nvSpPr>
        <p:spPr/>
        <p:txBody>
          <a:bodyPr/>
          <a:lstStyle/>
          <a:p>
            <a:fld id="{453A7091-84B4-4BFC-9E12-327F477830A7}" type="slidenum">
              <a:rPr lang="fr-FR" smtClean="0"/>
              <a:t>8</a:t>
            </a:fld>
            <a:endParaRPr lang="fr-FR"/>
          </a:p>
        </p:txBody>
      </p:sp>
    </p:spTree>
    <p:extLst>
      <p:ext uri="{BB962C8B-B14F-4D97-AF65-F5344CB8AC3E}">
        <p14:creationId xmlns:p14="http://schemas.microsoft.com/office/powerpoint/2010/main" val="337309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391125" y="4163181"/>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a:p>
          </p:txBody>
        </p:sp>
      </p:grpSp>
      <p:sp>
        <p:nvSpPr>
          <p:cNvPr id="2" name="Freeform 2"/>
          <p:cNvSpPr/>
          <p:nvPr/>
        </p:nvSpPr>
        <p:spPr>
          <a:xfrm rot="10733564" flipH="1">
            <a:off x="-694947" y="-124352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p>
        </p:txBody>
      </p:sp>
      <p:sp>
        <p:nvSpPr>
          <p:cNvPr id="4" name="TextBox 17">
            <a:extLst>
              <a:ext uri="{FF2B5EF4-FFF2-40B4-BE49-F238E27FC236}">
                <a16:creationId xmlns:a16="http://schemas.microsoft.com/office/drawing/2014/main" id="{6CB954C8-2D96-77D2-1CB1-2007C352A3E3}"/>
              </a:ext>
            </a:extLst>
          </p:cNvPr>
          <p:cNvSpPr txBox="1"/>
          <p:nvPr/>
        </p:nvSpPr>
        <p:spPr>
          <a:xfrm rot="5400000">
            <a:off x="-369950" y="3914838"/>
            <a:ext cx="2734786"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ea typeface="ITC Benguiat Bold"/>
                <a:cs typeface="Arial" panose="020B0604020202020204" pitchFamily="34" charset="0"/>
                <a:sym typeface="ITC Benguiat Bold"/>
              </a:rPr>
              <a:t>MATERIELS</a:t>
            </a:r>
            <a:endParaRPr lang="en-US" sz="3200" dirty="0">
              <a:solidFill>
                <a:srgbClr val="012F7F"/>
              </a:solidFill>
              <a:latin typeface="Georgia" panose="02040502050405020303" pitchFamily="18" charset="0"/>
              <a:ea typeface="ITC Benguiat Bold"/>
              <a:cs typeface="Arial" panose="020B0604020202020204" pitchFamily="34" charset="0"/>
              <a:sym typeface="ITC Benguiat Bold"/>
            </a:endParaRPr>
          </a:p>
        </p:txBody>
      </p:sp>
      <p:pic>
        <p:nvPicPr>
          <p:cNvPr id="5" name="Graphique 76" descr="Tête avec engrenages">
            <a:extLst>
              <a:ext uri="{FF2B5EF4-FFF2-40B4-BE49-F238E27FC236}">
                <a16:creationId xmlns:a16="http://schemas.microsoft.com/office/drawing/2014/main" id="{99F80F54-943E-EBEE-9BAB-52179CAB20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2756" y="1514382"/>
            <a:ext cx="912473" cy="912473"/>
          </a:xfrm>
          <a:prstGeom prst="rect">
            <a:avLst/>
          </a:prstGeom>
        </p:spPr>
      </p:pic>
      <p:sp>
        <p:nvSpPr>
          <p:cNvPr id="7" name="TextBox 13">
            <a:extLst>
              <a:ext uri="{FF2B5EF4-FFF2-40B4-BE49-F238E27FC236}">
                <a16:creationId xmlns:a16="http://schemas.microsoft.com/office/drawing/2014/main" id="{5D701B80-22D3-8DC8-C086-5B6E80CE71D4}"/>
              </a:ext>
            </a:extLst>
          </p:cNvPr>
          <p:cNvSpPr txBox="1"/>
          <p:nvPr/>
        </p:nvSpPr>
        <p:spPr>
          <a:xfrm>
            <a:off x="3286456" y="365656"/>
            <a:ext cx="6624848" cy="406137"/>
          </a:xfrm>
          <a:prstGeom prst="rect">
            <a:avLst/>
          </a:prstGeom>
        </p:spPr>
        <p:txBody>
          <a:bodyPr wrap="square" lIns="0" tIns="0" rIns="0" bIns="0" rtlCol="0" anchor="t">
            <a:spAutoFit/>
          </a:bodyPr>
          <a:lstStyle/>
          <a:p>
            <a:pPr algn="just">
              <a:lnSpc>
                <a:spcPts val="3360"/>
              </a:lnSpc>
            </a:pPr>
            <a:r>
              <a:rPr lang="en-US" sz="2400" dirty="0">
                <a:solidFill>
                  <a:schemeClr val="accent6"/>
                </a:solidFill>
                <a:latin typeface="Georgia" panose="02040502050405020303" pitchFamily="18" charset="0"/>
                <a:sym typeface="ITC Benguiat Bold"/>
              </a:rPr>
              <a:t>Plan</a:t>
            </a:r>
            <a:r>
              <a:rPr lang="en-US" sz="2400" dirty="0">
                <a:solidFill>
                  <a:schemeClr val="tx2">
                    <a:lumMod val="75000"/>
                  </a:schemeClr>
                </a:solidFill>
                <a:latin typeface="ITC Benguiat Bold"/>
                <a:ea typeface="ITC Benguiat Bold"/>
                <a:cs typeface="ITC Benguiat Bold"/>
                <a:sym typeface="ITC Benguiat Bold"/>
              </a:rPr>
              <a:t> </a:t>
            </a:r>
            <a:r>
              <a:rPr lang="fr-FR" sz="2400" dirty="0">
                <a:solidFill>
                  <a:schemeClr val="accent6"/>
                </a:solidFill>
                <a:latin typeface="Georgia" panose="02040502050405020303" pitchFamily="18" charset="0"/>
                <a:sym typeface="ITC Benguiat Bold"/>
              </a:rPr>
              <a:t>d’analyse et évaluation des modèles</a:t>
            </a:r>
          </a:p>
        </p:txBody>
      </p:sp>
      <p:sp>
        <p:nvSpPr>
          <p:cNvPr id="12" name="ZoneTexte 11">
            <a:extLst>
              <a:ext uri="{FF2B5EF4-FFF2-40B4-BE49-F238E27FC236}">
                <a16:creationId xmlns:a16="http://schemas.microsoft.com/office/drawing/2014/main" id="{E448E00A-36CB-3244-B210-FEED64E617C6}"/>
              </a:ext>
            </a:extLst>
          </p:cNvPr>
          <p:cNvSpPr txBox="1"/>
          <p:nvPr/>
        </p:nvSpPr>
        <p:spPr>
          <a:xfrm>
            <a:off x="1862449" y="1507707"/>
            <a:ext cx="9617718" cy="4505464"/>
          </a:xfrm>
          <a:prstGeom prst="rect">
            <a:avLst/>
          </a:prstGeom>
          <a:noFill/>
        </p:spPr>
        <p:txBody>
          <a:bodyPr wrap="square">
            <a:spAutoFit/>
          </a:bodyPr>
          <a:lstStyle/>
          <a:p>
            <a:pPr marL="342900" indent="-342900" algn="just">
              <a:lnSpc>
                <a:spcPts val="2640"/>
              </a:lnSpc>
              <a:buFont typeface="Wingdings" panose="05000000000000000000" pitchFamily="2" charset="2"/>
              <a:buChar char="q"/>
            </a:pPr>
            <a:r>
              <a:rPr lang="fr-FR" sz="2000" i="0" dirty="0">
                <a:solidFill>
                  <a:srgbClr val="0F1115"/>
                </a:solidFill>
                <a:effectLst/>
                <a:latin typeface="Georgia" panose="02040502050405020303" pitchFamily="18" charset="0"/>
              </a:rPr>
              <a:t>Deux analyses distinctes </a:t>
            </a:r>
            <a:r>
              <a:rPr lang="fr-FR" sz="2000" dirty="0">
                <a:solidFill>
                  <a:srgbClr val="0F1115"/>
                </a:solidFill>
                <a:latin typeface="Georgia" panose="02040502050405020303" pitchFamily="18" charset="0"/>
              </a:rPr>
              <a:t>:</a:t>
            </a:r>
            <a:endParaRPr lang="fr-FR" sz="2000" i="0" dirty="0">
              <a:solidFill>
                <a:srgbClr val="0F1115"/>
              </a:solidFill>
              <a:effectLst/>
              <a:latin typeface="Georgia" panose="02040502050405020303" pitchFamily="18" charset="0"/>
            </a:endParaRPr>
          </a:p>
          <a:p>
            <a:pPr marL="800100" lvl="1" indent="-342900" algn="just">
              <a:lnSpc>
                <a:spcPts val="2640"/>
              </a:lnSpc>
              <a:buFont typeface="Wingdings" panose="05000000000000000000" pitchFamily="2" charset="2"/>
              <a:buChar char="q"/>
            </a:pPr>
            <a:r>
              <a:rPr lang="fr-FR" sz="2000" b="1" dirty="0">
                <a:solidFill>
                  <a:srgbClr val="0F1115"/>
                </a:solidFill>
                <a:latin typeface="Georgia" panose="02040502050405020303" pitchFamily="18" charset="0"/>
              </a:rPr>
              <a:t>Tests de confirmation </a:t>
            </a:r>
            <a:r>
              <a:rPr lang="fr-FR" sz="2000" dirty="0">
                <a:solidFill>
                  <a:srgbClr val="0F1115"/>
                </a:solidFill>
                <a:latin typeface="Georgia" panose="02040502050405020303" pitchFamily="18" charset="0"/>
              </a:rPr>
              <a:t>(FC et </a:t>
            </a:r>
            <a:r>
              <a:rPr lang="fr-FR" sz="2000" i="0" dirty="0">
                <a:solidFill>
                  <a:srgbClr val="0F1115"/>
                </a:solidFill>
                <a:effectLst/>
                <a:latin typeface="Georgia" panose="02040502050405020303" pitchFamily="18" charset="0"/>
              </a:rPr>
              <a:t>ELISA Ar) </a:t>
            </a:r>
            <a:r>
              <a:rPr lang="fr-FR" sz="2000" i="0" dirty="0">
                <a:solidFill>
                  <a:srgbClr val="0F1115"/>
                </a:solidFill>
                <a:effectLst/>
                <a:latin typeface="Georgia" panose="02040502050405020303" pitchFamily="18" charset="0"/>
                <a:sym typeface="Wingdings" panose="05000000000000000000" pitchFamily="2" charset="2"/>
              </a:rPr>
              <a:t></a:t>
            </a:r>
            <a:r>
              <a:rPr lang="fr-FR" sz="2000" i="0" dirty="0">
                <a:solidFill>
                  <a:srgbClr val="0F1115"/>
                </a:solidFill>
                <a:effectLst/>
                <a:latin typeface="Georgia" panose="02040502050405020303" pitchFamily="18" charset="0"/>
              </a:rPr>
              <a:t> Approche multinomiale</a:t>
            </a:r>
          </a:p>
          <a:p>
            <a:pPr marL="800100" lvl="1" indent="-342900" algn="just">
              <a:lnSpc>
                <a:spcPts val="2640"/>
              </a:lnSpc>
              <a:buFont typeface="Wingdings" panose="05000000000000000000" pitchFamily="2" charset="2"/>
              <a:buChar char="q"/>
            </a:pPr>
            <a:r>
              <a:rPr lang="fr-FR" sz="2000" b="1" dirty="0">
                <a:solidFill>
                  <a:srgbClr val="0F1115"/>
                </a:solidFill>
                <a:latin typeface="Georgia" panose="02040502050405020303" pitchFamily="18" charset="0"/>
                <a:sym typeface="ITC Benguiat Bold"/>
              </a:rPr>
              <a:t>Tests de première intention </a:t>
            </a:r>
            <a:r>
              <a:rPr lang="fr-FR" sz="2000" dirty="0">
                <a:solidFill>
                  <a:srgbClr val="0F1115"/>
                </a:solidFill>
                <a:latin typeface="Georgia" panose="02040502050405020303" pitchFamily="18" charset="0"/>
                <a:sym typeface="ITC Benguiat Bold"/>
              </a:rPr>
              <a:t>(EAT et ELISA As, B, C, D, E, F, G et H) </a:t>
            </a:r>
          </a:p>
          <a:p>
            <a:pPr lvl="1" algn="just">
              <a:lnSpc>
                <a:spcPts val="2640"/>
              </a:lnSpc>
            </a:pPr>
            <a:r>
              <a:rPr lang="fr-FR" sz="2000" dirty="0">
                <a:solidFill>
                  <a:srgbClr val="0F1115"/>
                </a:solidFill>
                <a:latin typeface="Georgia" panose="02040502050405020303" pitchFamily="18" charset="0"/>
                <a:sym typeface="Wingdings" panose="05000000000000000000" pitchFamily="2" charset="2"/>
              </a:rPr>
              <a:t> A</a:t>
            </a:r>
            <a:r>
              <a:rPr lang="fr-FR" sz="2000" dirty="0">
                <a:solidFill>
                  <a:srgbClr val="0F1115"/>
                </a:solidFill>
                <a:latin typeface="Georgia" panose="02040502050405020303" pitchFamily="18" charset="0"/>
                <a:sym typeface="ITC Benguiat Bold"/>
              </a:rPr>
              <a:t>pproche individuelle</a:t>
            </a:r>
            <a:endParaRPr lang="fr-FR" sz="2000" dirty="0">
              <a:solidFill>
                <a:srgbClr val="000000"/>
              </a:solidFill>
              <a:latin typeface="Georgia" panose="02040502050405020303" pitchFamily="18" charset="0"/>
              <a:sym typeface="ITC Benguiat Bold"/>
            </a:endParaRPr>
          </a:p>
          <a:p>
            <a:pPr lvl="1"/>
            <a:endParaRPr lang="fr-FR" sz="2000" dirty="0">
              <a:latin typeface="Georgia" panose="02040502050405020303" pitchFamily="18" charset="0"/>
            </a:endParaRPr>
          </a:p>
          <a:p>
            <a:pPr marL="342900" indent="-342900">
              <a:buFont typeface="Wingdings" panose="05000000000000000000" pitchFamily="2" charset="2"/>
              <a:buChar char="q"/>
            </a:pPr>
            <a:r>
              <a:rPr lang="fr-FR" sz="2000" dirty="0">
                <a:latin typeface="Georgia" panose="02040502050405020303" pitchFamily="18" charset="0"/>
                <a:sym typeface="ITC Benguiat Bold"/>
              </a:rPr>
              <a:t>Logiciel RJAGS (Gibbs Sampler) : </a:t>
            </a:r>
          </a:p>
          <a:p>
            <a:pPr marL="800100" lvl="1" indent="-342900">
              <a:buFont typeface="Wingdings" panose="05000000000000000000" pitchFamily="2" charset="2"/>
              <a:buChar char="q"/>
            </a:pPr>
            <a:r>
              <a:rPr lang="fr-FR" sz="2000" dirty="0">
                <a:latin typeface="Georgia" panose="02040502050405020303" pitchFamily="18" charset="0"/>
              </a:rPr>
              <a:t>Algorithme Monte Carlo Chain de Markov (MCMC)</a:t>
            </a:r>
            <a:endParaRPr lang="fr-FR" sz="2000" dirty="0">
              <a:latin typeface="Georgia" panose="02040502050405020303" pitchFamily="18" charset="0"/>
              <a:sym typeface="ITC Benguiat Bold"/>
            </a:endParaRPr>
          </a:p>
          <a:p>
            <a:pPr marL="800100" lvl="1" indent="-342900">
              <a:buFont typeface="Wingdings" panose="05000000000000000000" pitchFamily="2" charset="2"/>
              <a:buChar char="q"/>
            </a:pPr>
            <a:r>
              <a:rPr lang="fr-FR" sz="2000" dirty="0">
                <a:latin typeface="Georgia" panose="02040502050405020303" pitchFamily="18" charset="0"/>
                <a:sym typeface="ITC Benguiat Bold"/>
              </a:rPr>
              <a:t>3 chaines de 20 000 iterations</a:t>
            </a:r>
            <a:endParaRPr lang="fr-FR" sz="2000" dirty="0">
              <a:latin typeface="Georgia" panose="02040502050405020303" pitchFamily="18" charset="0"/>
            </a:endParaRPr>
          </a:p>
          <a:p>
            <a:pPr marL="342900" indent="-342900">
              <a:buFont typeface="Wingdings" panose="05000000000000000000" pitchFamily="2" charset="2"/>
              <a:buChar char="q"/>
            </a:pPr>
            <a:r>
              <a:rPr lang="fr-FR" sz="2000" dirty="0">
                <a:latin typeface="Georgia" panose="02040502050405020303" pitchFamily="18" charset="0"/>
              </a:rPr>
              <a:t>Convergence du modèle (r-</a:t>
            </a:r>
            <a:r>
              <a:rPr lang="fr-FR" sz="2000" dirty="0" err="1">
                <a:latin typeface="Georgia" panose="02040502050405020303" pitchFamily="18" charset="0"/>
              </a:rPr>
              <a:t>hat</a:t>
            </a:r>
            <a:r>
              <a:rPr lang="fr-FR" sz="2000" dirty="0">
                <a:latin typeface="Georgia" panose="02040502050405020303" pitchFamily="18" charset="0"/>
              </a:rPr>
              <a:t>, </a:t>
            </a:r>
            <a:r>
              <a:rPr lang="fr-FR" sz="2000" dirty="0" err="1">
                <a:latin typeface="Georgia" panose="02040502050405020303" pitchFamily="18" charset="0"/>
                <a:sym typeface="ITC Benguiat Bold"/>
              </a:rPr>
              <a:t>traceplot</a:t>
            </a:r>
            <a:r>
              <a:rPr lang="fr-FR" sz="2000" dirty="0">
                <a:latin typeface="Georgia" panose="02040502050405020303" pitchFamily="18" charset="0"/>
              </a:rPr>
              <a:t>) </a:t>
            </a:r>
          </a:p>
          <a:p>
            <a:pPr marL="342900" indent="-342900">
              <a:buFont typeface="Wingdings" panose="05000000000000000000" pitchFamily="2" charset="2"/>
              <a:buChar char="q"/>
            </a:pPr>
            <a:r>
              <a:rPr lang="fr-FR" sz="2000" dirty="0">
                <a:latin typeface="Georgia" panose="02040502050405020303" pitchFamily="18" charset="0"/>
              </a:rPr>
              <a:t>Adéquation modèle aux données (P-value ≈ 0,5)</a:t>
            </a:r>
          </a:p>
          <a:p>
            <a:endParaRPr lang="fr-FR" sz="2000" dirty="0">
              <a:latin typeface="Georgia" panose="02040502050405020303" pitchFamily="18" charset="0"/>
            </a:endParaRPr>
          </a:p>
          <a:p>
            <a:pPr marL="285750" indent="-285750">
              <a:buFont typeface="Wingdings" panose="05000000000000000000" pitchFamily="2" charset="2"/>
              <a:buChar char="q"/>
            </a:pPr>
            <a:r>
              <a:rPr lang="fr-FR" sz="2000" dirty="0">
                <a:latin typeface="Georgia" panose="02040502050405020303" pitchFamily="18" charset="0"/>
              </a:rPr>
              <a:t>Indépendance vs. Dépendance des tests : analyse des corrélations de résidus</a:t>
            </a:r>
          </a:p>
          <a:p>
            <a:pPr marL="285750" indent="-285750">
              <a:buFont typeface="Wingdings" panose="05000000000000000000" pitchFamily="2" charset="2"/>
              <a:buChar char="q"/>
            </a:pPr>
            <a:r>
              <a:rPr lang="fr-FR" sz="2000" dirty="0">
                <a:latin typeface="Georgia" panose="02040502050405020303" pitchFamily="18" charset="0"/>
              </a:rPr>
              <a:t>Sélection des modèles : DIC (</a:t>
            </a:r>
            <a:r>
              <a:rPr lang="fr-FR" sz="2000" dirty="0" err="1">
                <a:latin typeface="Georgia" panose="02040502050405020303" pitchFamily="18" charset="0"/>
              </a:rPr>
              <a:t>Deviance</a:t>
            </a:r>
            <a:r>
              <a:rPr lang="fr-FR" sz="2000" dirty="0">
                <a:latin typeface="Georgia" panose="02040502050405020303" pitchFamily="18" charset="0"/>
              </a:rPr>
              <a:t> information </a:t>
            </a:r>
            <a:r>
              <a:rPr lang="fr-FR" sz="2000" dirty="0" err="1">
                <a:latin typeface="Georgia" panose="02040502050405020303" pitchFamily="18" charset="0"/>
              </a:rPr>
              <a:t>criterion</a:t>
            </a:r>
            <a:r>
              <a:rPr lang="fr-FR" sz="2000" dirty="0">
                <a:latin typeface="Georgia" panose="02040502050405020303" pitchFamily="18" charset="0"/>
              </a:rPr>
              <a:t>)</a:t>
            </a:r>
          </a:p>
          <a:p>
            <a:pPr marL="800100" lvl="1" indent="-342900" algn="just">
              <a:lnSpc>
                <a:spcPts val="2640"/>
              </a:lnSpc>
              <a:buFont typeface="Wingdings" panose="05000000000000000000" pitchFamily="2" charset="2"/>
              <a:buChar char="q"/>
            </a:pPr>
            <a:endParaRPr lang="fr-FR" sz="2000" dirty="0">
              <a:solidFill>
                <a:srgbClr val="000000"/>
              </a:solidFill>
              <a:latin typeface="Georgia" panose="02040502050405020303" pitchFamily="18" charset="0"/>
              <a:sym typeface="ITC Benguiat Bold"/>
            </a:endParaRPr>
          </a:p>
        </p:txBody>
      </p:sp>
      <p:grpSp>
        <p:nvGrpSpPr>
          <p:cNvPr id="20" name="Diagram group">
            <a:extLst>
              <a:ext uri="{FF2B5EF4-FFF2-40B4-BE49-F238E27FC236}">
                <a16:creationId xmlns:a16="http://schemas.microsoft.com/office/drawing/2014/main" id="{E608EA9D-83A8-5AC5-4E6B-FA7F3916B30A}"/>
              </a:ext>
            </a:extLst>
          </p:cNvPr>
          <p:cNvGrpSpPr/>
          <p:nvPr/>
        </p:nvGrpSpPr>
        <p:grpSpPr>
          <a:xfrm>
            <a:off x="-5162890" y="8479139"/>
            <a:ext cx="1199869" cy="746951"/>
            <a:chOff x="1026527" y="4121054"/>
            <a:chExt cx="2147277" cy="2147277"/>
          </a:xfrm>
          <a:scene3d>
            <a:camera prst="perspectiveRelaxed">
              <a:rot lat="19149996" lon="20104178" rev="1577324"/>
            </a:camera>
            <a:lightRig rig="soft" dir="t"/>
            <a:backdrop>
              <a:anchor x="0" y="0" z="-210000"/>
              <a:norm dx="0" dy="0" dz="914400"/>
              <a:up dx="0" dy="914400" dz="0"/>
            </a:backdrop>
          </a:scene3d>
        </p:grpSpPr>
        <p:sp>
          <p:nvSpPr>
            <p:cNvPr id="21" name="Arc partiel 20">
              <a:extLst>
                <a:ext uri="{FF2B5EF4-FFF2-40B4-BE49-F238E27FC236}">
                  <a16:creationId xmlns:a16="http://schemas.microsoft.com/office/drawing/2014/main" id="{20ED088F-5C36-919C-5697-E643958B937A}"/>
                </a:ext>
              </a:extLst>
            </p:cNvPr>
            <p:cNvSpPr/>
            <p:nvPr/>
          </p:nvSpPr>
          <p:spPr>
            <a:xfrm rot="16200000">
              <a:off x="1026527" y="4121054"/>
              <a:ext cx="2147277" cy="2147277"/>
            </a:xfrm>
            <a:prstGeom prst="pieWedge">
              <a:avLst/>
            </a:prstGeom>
            <a:sp3d extrusionH="152250" prstMaterial="matte">
              <a:bevelT w="165100" prst="coolSlant"/>
            </a:sp3d>
          </p:spPr>
          <p:style>
            <a:lnRef idx="0">
              <a:schemeClr val="lt1">
                <a:hueOff val="0"/>
                <a:satOff val="0"/>
                <a:lumOff val="0"/>
                <a:alphaOff val="0"/>
              </a:schemeClr>
            </a:lnRef>
            <a:fillRef idx="1">
              <a:schemeClr val="accent6">
                <a:hueOff val="0"/>
                <a:satOff val="0"/>
                <a:lumOff val="0"/>
                <a:alphaOff val="0"/>
              </a:schemeClr>
            </a:fillRef>
            <a:effectRef idx="2">
              <a:schemeClr val="accent6">
                <a:hueOff val="0"/>
                <a:satOff val="0"/>
                <a:lumOff val="0"/>
                <a:alphaOff val="0"/>
              </a:schemeClr>
            </a:effectRef>
            <a:fontRef idx="minor">
              <a:schemeClr val="lt1"/>
            </a:fontRef>
          </p:style>
          <p:txBody>
            <a:bodyPr/>
            <a:lstStyle/>
            <a:p>
              <a:endParaRPr lang="fr-CM" sz="1200" dirty="0"/>
            </a:p>
          </p:txBody>
        </p:sp>
      </p:grpSp>
      <p:sp>
        <p:nvSpPr>
          <p:cNvPr id="23" name="TextBox 13">
            <a:extLst>
              <a:ext uri="{FF2B5EF4-FFF2-40B4-BE49-F238E27FC236}">
                <a16:creationId xmlns:a16="http://schemas.microsoft.com/office/drawing/2014/main" id="{C081778E-688B-3A1C-EE3D-4EDD7244DA5E}"/>
              </a:ext>
            </a:extLst>
          </p:cNvPr>
          <p:cNvSpPr txBox="1"/>
          <p:nvPr/>
        </p:nvSpPr>
        <p:spPr>
          <a:xfrm>
            <a:off x="-3264808" y="8630759"/>
            <a:ext cx="4624065" cy="436017"/>
          </a:xfrm>
          <a:prstGeom prst="rect">
            <a:avLst/>
          </a:prstGeom>
        </p:spPr>
        <p:txBody>
          <a:bodyPr wrap="square" lIns="0" tIns="0" rIns="0" bIns="0" rtlCol="0" anchor="t">
            <a:spAutoFit/>
          </a:bodyPr>
          <a:lstStyle/>
          <a:p>
            <a:pPr algn="just">
              <a:lnSpc>
                <a:spcPts val="3360"/>
              </a:lnSpc>
            </a:pPr>
            <a:r>
              <a:rPr lang="en-US" sz="3200" dirty="0">
                <a:solidFill>
                  <a:schemeClr val="tx2">
                    <a:lumMod val="75000"/>
                  </a:schemeClr>
                </a:solidFill>
                <a:latin typeface="ITC Benguiat Bold"/>
                <a:ea typeface="ITC Benguiat Bold"/>
                <a:cs typeface="ITC Benguiat Bold"/>
                <a:sym typeface="ITC Benguiat Bold"/>
              </a:rPr>
              <a:t>ENTREPRISE</a:t>
            </a:r>
          </a:p>
        </p:txBody>
      </p:sp>
      <p:sp>
        <p:nvSpPr>
          <p:cNvPr id="6" name="Espace réservé du numéro de diapositive 5">
            <a:extLst>
              <a:ext uri="{FF2B5EF4-FFF2-40B4-BE49-F238E27FC236}">
                <a16:creationId xmlns:a16="http://schemas.microsoft.com/office/drawing/2014/main" id="{1A63D5C9-F8EC-3EE8-7FF5-6FEA08EA53C8}"/>
              </a:ext>
            </a:extLst>
          </p:cNvPr>
          <p:cNvSpPr>
            <a:spLocks noGrp="1"/>
          </p:cNvSpPr>
          <p:nvPr>
            <p:ph type="sldNum" sz="quarter" idx="12"/>
          </p:nvPr>
        </p:nvSpPr>
        <p:spPr/>
        <p:txBody>
          <a:bodyPr/>
          <a:lstStyle/>
          <a:p>
            <a:fld id="{453A7091-84B4-4BFC-9E12-327F477830A7}" type="slidenum">
              <a:rPr lang="fr-FR" smtClean="0"/>
              <a:t>9</a:t>
            </a:fld>
            <a:endParaRPr lang="fr-FR"/>
          </a:p>
        </p:txBody>
      </p:sp>
    </p:spTree>
    <p:extLst>
      <p:ext uri="{BB962C8B-B14F-4D97-AF65-F5344CB8AC3E}">
        <p14:creationId xmlns:p14="http://schemas.microsoft.com/office/powerpoint/2010/main" val="2736413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3">
            <a:extLst>
              <a:ext uri="{FF2B5EF4-FFF2-40B4-BE49-F238E27FC236}">
                <a16:creationId xmlns:a16="http://schemas.microsoft.com/office/drawing/2014/main" id="{8C7D6605-FFE4-4870-922C-2473CA1EBCFC}"/>
              </a:ext>
            </a:extLst>
          </p:cNvPr>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p>
        </p:txBody>
      </p:sp>
      <p:sp>
        <p:nvSpPr>
          <p:cNvPr id="72" name="Freeform 2">
            <a:extLst>
              <a:ext uri="{FF2B5EF4-FFF2-40B4-BE49-F238E27FC236}">
                <a16:creationId xmlns:a16="http://schemas.microsoft.com/office/drawing/2014/main" id="{E80A33CA-D5BB-4014-35AB-BA7D00F0BA92}"/>
              </a:ext>
            </a:extLst>
          </p:cNvPr>
          <p:cNvSpPr/>
          <p:nvPr/>
        </p:nvSpPr>
        <p:spPr>
          <a:xfrm rot="10733564" flipH="1">
            <a:off x="-891450" y="-954837"/>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a:p>
        </p:txBody>
      </p:sp>
      <p:sp>
        <p:nvSpPr>
          <p:cNvPr id="73" name="Freeform 3">
            <a:extLst>
              <a:ext uri="{FF2B5EF4-FFF2-40B4-BE49-F238E27FC236}">
                <a16:creationId xmlns:a16="http://schemas.microsoft.com/office/drawing/2014/main" id="{94D285CF-4F08-6FD2-4A63-12EC5B5600AE}"/>
              </a:ext>
            </a:extLst>
          </p:cNvPr>
          <p:cNvSpPr/>
          <p:nvPr/>
        </p:nvSpPr>
        <p:spPr>
          <a:xfrm rot="5400000" flipH="1">
            <a:off x="-1299290" y="250701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4" name="AutoShape 4"/>
          <p:cNvSpPr/>
          <p:nvPr/>
        </p:nvSpPr>
        <p:spPr>
          <a:xfrm flipV="1">
            <a:off x="1984748" y="1008950"/>
            <a:ext cx="10307657" cy="15157"/>
          </a:xfrm>
          <a:prstGeom prst="line">
            <a:avLst/>
          </a:prstGeom>
          <a:ln w="57150" cap="flat">
            <a:solidFill>
              <a:srgbClr val="2E8C4A"/>
            </a:solidFill>
            <a:prstDash val="solid"/>
            <a:headEnd type="none" w="sm" len="sm"/>
            <a:tailEnd type="none" w="sm" len="sm"/>
          </a:ln>
        </p:spPr>
        <p:txBody>
          <a:bodyPr/>
          <a:lstStyle/>
          <a:p>
            <a:endParaRPr lang="fr-CM" sz="1200"/>
          </a:p>
        </p:txBody>
      </p:sp>
      <p:sp>
        <p:nvSpPr>
          <p:cNvPr id="15" name="TextBox 15"/>
          <p:cNvSpPr txBox="1"/>
          <p:nvPr/>
        </p:nvSpPr>
        <p:spPr>
          <a:xfrm>
            <a:off x="2399136" y="375040"/>
            <a:ext cx="8928560" cy="398251"/>
          </a:xfrm>
          <a:prstGeom prst="rect">
            <a:avLst/>
          </a:prstGeom>
        </p:spPr>
        <p:txBody>
          <a:bodyPr wrap="square" lIns="0" tIns="0" rIns="0" bIns="0" rtlCol="0" anchor="t">
            <a:spAutoFit/>
          </a:bodyPr>
          <a:lstStyle/>
          <a:p>
            <a:pPr algn="ctr">
              <a:lnSpc>
                <a:spcPts val="3360"/>
              </a:lnSpc>
            </a:pPr>
            <a:r>
              <a:rPr lang="fr-FR" sz="2400" dirty="0">
                <a:solidFill>
                  <a:schemeClr val="accent6"/>
                </a:solidFill>
                <a:latin typeface="Georgia" panose="02040502050405020303" pitchFamily="18" charset="0"/>
                <a:sym typeface="Bree Serif"/>
              </a:rPr>
              <a:t>Analyse</a:t>
            </a:r>
            <a:r>
              <a:rPr lang="en-US" sz="2400" dirty="0">
                <a:solidFill>
                  <a:schemeClr val="accent6"/>
                </a:solidFill>
                <a:latin typeface="Georgia" panose="02040502050405020303" pitchFamily="18" charset="0"/>
                <a:sym typeface="Bree Serif"/>
              </a:rPr>
              <a:t> sur tests de confirmation FC et Elisa </a:t>
            </a:r>
            <a:r>
              <a:rPr lang="en-US" sz="2400" dirty="0" err="1">
                <a:solidFill>
                  <a:schemeClr val="accent6"/>
                </a:solidFill>
                <a:latin typeface="Georgia" panose="02040502050405020303" pitchFamily="18" charset="0"/>
                <a:sym typeface="Bree Serif"/>
              </a:rPr>
              <a:t>Ar</a:t>
            </a:r>
            <a:endParaRPr lang="en-US" sz="2400" dirty="0">
              <a:solidFill>
                <a:schemeClr val="accent6"/>
              </a:solidFill>
              <a:latin typeface="Georgia" panose="02040502050405020303" pitchFamily="18" charset="0"/>
              <a:sym typeface="Bree Serif"/>
            </a:endParaRPr>
          </a:p>
        </p:txBody>
      </p:sp>
      <p:sp>
        <p:nvSpPr>
          <p:cNvPr id="69" name="AutoShape 61">
            <a:extLst>
              <a:ext uri="{FF2B5EF4-FFF2-40B4-BE49-F238E27FC236}">
                <a16:creationId xmlns:a16="http://schemas.microsoft.com/office/drawing/2014/main" id="{6AE2F817-F880-7B4D-A2EC-EF7A40C25E41}"/>
              </a:ext>
            </a:extLst>
          </p:cNvPr>
          <p:cNvSpPr/>
          <p:nvPr/>
        </p:nvSpPr>
        <p:spPr>
          <a:xfrm rot="5400000">
            <a:off x="-3017392" y="4114316"/>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79" name="TextBox 17">
            <a:extLst>
              <a:ext uri="{FF2B5EF4-FFF2-40B4-BE49-F238E27FC236}">
                <a16:creationId xmlns:a16="http://schemas.microsoft.com/office/drawing/2014/main" id="{48C600D7-A00E-B667-444C-7337C27EA125}"/>
              </a:ext>
            </a:extLst>
          </p:cNvPr>
          <p:cNvSpPr txBox="1"/>
          <p:nvPr/>
        </p:nvSpPr>
        <p:spPr>
          <a:xfrm rot="5400000">
            <a:off x="-206085" y="3455872"/>
            <a:ext cx="2504193"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RESULTATS</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80" name="Graphique 78" descr="Graphique à barres avec tendance à la hausse">
            <a:extLst>
              <a:ext uri="{FF2B5EF4-FFF2-40B4-BE49-F238E27FC236}">
                <a16:creationId xmlns:a16="http://schemas.microsoft.com/office/drawing/2014/main" id="{9AC65938-4D0B-341C-91B7-6A9381E174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8202" y="1268663"/>
            <a:ext cx="802699" cy="802699"/>
          </a:xfrm>
          <a:prstGeom prst="rect">
            <a:avLst/>
          </a:prstGeom>
        </p:spPr>
      </p:pic>
      <mc:AlternateContent xmlns:mc="http://schemas.openxmlformats.org/markup-compatibility/2006" xmlns:a14="http://schemas.microsoft.com/office/drawing/2010/main">
        <mc:Choice Requires="a14">
          <p:graphicFrame>
            <p:nvGraphicFramePr>
              <p:cNvPr id="27" name="Tableau 26">
                <a:extLst>
                  <a:ext uri="{FF2B5EF4-FFF2-40B4-BE49-F238E27FC236}">
                    <a16:creationId xmlns:a16="http://schemas.microsoft.com/office/drawing/2014/main" id="{32FD2B0B-5329-41FF-B833-DEA3C5CB244E}"/>
                  </a:ext>
                </a:extLst>
              </p:cNvPr>
              <p:cNvGraphicFramePr>
                <a:graphicFrameLocks noGrp="1"/>
              </p:cNvGraphicFramePr>
              <p:nvPr>
                <p:extLst>
                  <p:ext uri="{D42A27DB-BD31-4B8C-83A1-F6EECF244321}">
                    <p14:modId xmlns:p14="http://schemas.microsoft.com/office/powerpoint/2010/main" val="2955478088"/>
                  </p:ext>
                </p:extLst>
              </p:nvPr>
            </p:nvGraphicFramePr>
            <p:xfrm>
              <a:off x="2569367" y="1268664"/>
              <a:ext cx="8748400" cy="4403579"/>
            </p:xfrm>
            <a:graphic>
              <a:graphicData uri="http://schemas.openxmlformats.org/drawingml/2006/table">
                <a:tbl>
                  <a:tblPr firstRow="1" firstCol="1" bandRow="1">
                    <a:tableStyleId>{5940675A-B579-460E-94D1-54222C63F5DA}</a:tableStyleId>
                  </a:tblPr>
                  <a:tblGrid>
                    <a:gridCol w="3577273">
                      <a:extLst>
                        <a:ext uri="{9D8B030D-6E8A-4147-A177-3AD203B41FA5}">
                          <a16:colId xmlns:a16="http://schemas.microsoft.com/office/drawing/2014/main" val="53404294"/>
                        </a:ext>
                      </a:extLst>
                    </a:gridCol>
                    <a:gridCol w="2371916">
                      <a:extLst>
                        <a:ext uri="{9D8B030D-6E8A-4147-A177-3AD203B41FA5}">
                          <a16:colId xmlns:a16="http://schemas.microsoft.com/office/drawing/2014/main" val="3131013287"/>
                        </a:ext>
                      </a:extLst>
                    </a:gridCol>
                    <a:gridCol w="2799211">
                      <a:extLst>
                        <a:ext uri="{9D8B030D-6E8A-4147-A177-3AD203B41FA5}">
                          <a16:colId xmlns:a16="http://schemas.microsoft.com/office/drawing/2014/main" val="686765585"/>
                        </a:ext>
                      </a:extLst>
                    </a:gridCol>
                  </a:tblGrid>
                  <a:tr h="1338512">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Paramètres</a:t>
                          </a:r>
                        </a:p>
                      </a:txBody>
                      <a:tcPr marL="68580" marR="68580" marT="0" marB="0" anchor="ctr"/>
                    </a:tc>
                    <a:tc>
                      <a:txBody>
                        <a:bodyPr/>
                        <a:lstStyle/>
                        <a:p>
                          <a:pPr marL="0" algn="ctr" defTabSz="914400" rtl="0" eaLnBrk="1" latinLnBrk="0" hangingPunct="1">
                            <a:lnSpc>
                              <a:spcPct val="107000"/>
                            </a:lnSpc>
                            <a:spcAft>
                              <a:spcPts val="0"/>
                            </a:spcAft>
                          </a:pPr>
                          <a:r>
                            <a:rPr lang="fr-FR" sz="2000" b="0" kern="1200" dirty="0" err="1">
                              <a:solidFill>
                                <a:schemeClr val="tx1"/>
                              </a:solidFill>
                              <a:effectLst/>
                              <a:latin typeface="Georgia" panose="02040502050405020303" pitchFamily="18" charset="0"/>
                              <a:ea typeface="+mn-ea"/>
                              <a:cs typeface="+mn-cs"/>
                            </a:rPr>
                            <a:t>Posteriors</a:t>
                          </a:r>
                          <a:endParaRPr lang="fr-FR" sz="2000" b="0" kern="1200" dirty="0">
                            <a:solidFill>
                              <a:schemeClr val="tx1"/>
                            </a:solidFill>
                            <a:effectLst/>
                            <a:latin typeface="Georgia" panose="02040502050405020303" pitchFamily="18" charset="0"/>
                            <a:ea typeface="+mn-ea"/>
                            <a:cs typeface="+mn-cs"/>
                          </a:endParaRPr>
                        </a:p>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Analyse avec priors empiriques</a:t>
                          </a:r>
                        </a:p>
                      </a:txBody>
                      <a:tcPr marL="68580" marR="68580" marT="0" marB="0" anchor="ctr"/>
                    </a:tc>
                    <a:tc>
                      <a:txBody>
                        <a:bodyPr/>
                        <a:lstStyle/>
                        <a:p>
                          <a:pPr marL="0" algn="ctr" defTabSz="914400" rtl="0" eaLnBrk="1" latinLnBrk="0" hangingPunct="1">
                            <a:lnSpc>
                              <a:spcPct val="107000"/>
                            </a:lnSpc>
                            <a:spcAft>
                              <a:spcPts val="0"/>
                            </a:spcAft>
                          </a:pPr>
                          <a:r>
                            <a:rPr lang="fr-FR" sz="2000" b="0" kern="1200" dirty="0" err="1">
                              <a:solidFill>
                                <a:schemeClr val="tx1"/>
                              </a:solidFill>
                              <a:effectLst/>
                              <a:latin typeface="Georgia" panose="02040502050405020303" pitchFamily="18" charset="0"/>
                              <a:ea typeface="+mn-ea"/>
                              <a:cs typeface="+mn-cs"/>
                            </a:rPr>
                            <a:t>Posteriors</a:t>
                          </a:r>
                          <a:endParaRPr lang="fr-FR" sz="2000" b="0" kern="1200" dirty="0">
                            <a:solidFill>
                              <a:schemeClr val="tx1"/>
                            </a:solidFill>
                            <a:effectLst/>
                            <a:latin typeface="Georgia" panose="02040502050405020303" pitchFamily="18" charset="0"/>
                            <a:ea typeface="+mn-ea"/>
                            <a:cs typeface="+mn-cs"/>
                          </a:endParaRPr>
                        </a:p>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Analyse avec priors (faiblement </a:t>
                          </a:r>
                          <a:r>
                            <a:rPr lang="fr-FR" sz="2000" b="0" kern="1200" dirty="0" err="1">
                              <a:solidFill>
                                <a:schemeClr val="tx1"/>
                              </a:solidFill>
                              <a:effectLst/>
                              <a:latin typeface="Georgia" panose="02040502050405020303" pitchFamily="18" charset="0"/>
                              <a:ea typeface="+mn-ea"/>
                              <a:cs typeface="+mn-cs"/>
                            </a:rPr>
                            <a:t>inform</a:t>
                          </a:r>
                          <a:r>
                            <a:rPr lang="fr-FR" sz="2000" b="0" kern="1200" dirty="0">
                              <a:solidFill>
                                <a:schemeClr val="tx1"/>
                              </a:solidFill>
                              <a:effectLst/>
                              <a:latin typeface="Georgia" panose="02040502050405020303" pitchFamily="18" charset="0"/>
                              <a:ea typeface="+mn-ea"/>
                              <a:cs typeface="+mn-cs"/>
                            </a:rPr>
                            <a:t>.) issus de littérature</a:t>
                          </a:r>
                        </a:p>
                      </a:txBody>
                      <a:tcPr marL="68580" marR="68580" marT="0" marB="0" anchor="ctr"/>
                    </a:tc>
                    <a:extLst>
                      <a:ext uri="{0D108BD9-81ED-4DB2-BD59-A6C34878D82A}">
                        <a16:rowId xmlns:a16="http://schemas.microsoft.com/office/drawing/2014/main" val="3440482733"/>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Sensibilité test Ar (%)</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57,1 </m:t>
                                </m:r>
                                <m:r>
                                  <a:rPr lang="fr-FR" sz="2000" b="1" kern="1200" dirty="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49,7 – 64,2</m:t>
                                </m:r>
                                <m:r>
                                  <a:rPr lang="fr-FR" sz="2000" b="1" kern="1200" dirty="0">
                                    <a:solidFill>
                                      <a:schemeClr val="tx1"/>
                                    </a:solidFill>
                                    <a:effectLst/>
                                    <a:latin typeface="Cambria Math" panose="02040503050406030204" pitchFamily="18" charset="0"/>
                                    <a:ea typeface="+mn-ea"/>
                                    <a:cs typeface="+mn-cs"/>
                                  </a:rPr>
                                  <m:t>]</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r>
                            <a:rPr lang="fr-FR" sz="2000" b="0" kern="1200">
                              <a:solidFill>
                                <a:schemeClr val="tx1"/>
                              </a:solidFill>
                              <a:effectLst/>
                              <a:latin typeface="Georgia" panose="02040502050405020303" pitchFamily="18" charset="0"/>
                              <a:ea typeface="+mn-ea"/>
                              <a:cs typeface="+mn-cs"/>
                            </a:rPr>
                            <a:t>86,0 [72,5 - 95,6]</a:t>
                          </a:r>
                        </a:p>
                      </a:txBody>
                      <a:tcPr marL="68580" marR="68580" marT="0" marB="0"/>
                    </a:tc>
                    <a:extLst>
                      <a:ext uri="{0D108BD9-81ED-4DB2-BD59-A6C34878D82A}">
                        <a16:rowId xmlns:a16="http://schemas.microsoft.com/office/drawing/2014/main" val="2995189114"/>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Sensibilité FC (%)</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88,0 </m:t>
                                </m:r>
                                <m:r>
                                  <a:rPr lang="fr-FR" sz="2000" b="1" kern="1200" dirty="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81,2 – 93,3</m:t>
                                </m:r>
                                <m:r>
                                  <a:rPr lang="fr-FR" sz="2000" b="1" kern="1200" dirty="0">
                                    <a:solidFill>
                                      <a:schemeClr val="tx1"/>
                                    </a:solidFill>
                                    <a:effectLst/>
                                    <a:latin typeface="Cambria Math" panose="02040503050406030204" pitchFamily="18" charset="0"/>
                                    <a:ea typeface="+mn-ea"/>
                                    <a:cs typeface="+mn-cs"/>
                                  </a:rPr>
                                  <m:t>]</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r>
                            <a:rPr lang="fr-FR" sz="2000" b="0" kern="1200">
                              <a:solidFill>
                                <a:schemeClr val="tx1"/>
                              </a:solidFill>
                              <a:effectLst/>
                              <a:latin typeface="Georgia" panose="02040502050405020303" pitchFamily="18" charset="0"/>
                              <a:ea typeface="+mn-ea"/>
                              <a:cs typeface="+mn-cs"/>
                            </a:rPr>
                            <a:t>82,9 [69,6 - 91,9]</a:t>
                          </a:r>
                        </a:p>
                      </a:txBody>
                      <a:tcPr marL="68580" marR="68580" marT="0" marB="0"/>
                    </a:tc>
                    <a:extLst>
                      <a:ext uri="{0D108BD9-81ED-4DB2-BD59-A6C34878D82A}">
                        <a16:rowId xmlns:a16="http://schemas.microsoft.com/office/drawing/2014/main" val="852077675"/>
                      </a:ext>
                    </a:extLst>
                  </a:tr>
                  <a:tr h="340563">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Spécificité test Ar (%)</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𝟗𝟗</m:t>
                                </m:r>
                                <m:r>
                                  <a:rPr lang="fr-FR" sz="2000" b="1" kern="1200" dirty="0" smtClean="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𝟔</m:t>
                                </m:r>
                                <m:r>
                                  <a:rPr lang="fr-FR" sz="2000" b="1" kern="1200" dirty="0" smtClean="0">
                                    <a:solidFill>
                                      <a:schemeClr val="tx1"/>
                                    </a:solidFill>
                                    <a:effectLst/>
                                    <a:latin typeface="Cambria Math" panose="02040503050406030204" pitchFamily="18" charset="0"/>
                                    <a:ea typeface="+mn-ea"/>
                                    <a:cs typeface="+mn-cs"/>
                                  </a:rPr>
                                  <m:t> [</m:t>
                                </m:r>
                                <m:r>
                                  <a:rPr lang="fr-FR" sz="2000" b="1" kern="1200" dirty="0" smtClean="0">
                                    <a:solidFill>
                                      <a:schemeClr val="tx1"/>
                                    </a:solidFill>
                                    <a:effectLst/>
                                    <a:latin typeface="Cambria Math" panose="02040503050406030204" pitchFamily="18" charset="0"/>
                                    <a:ea typeface="+mn-ea"/>
                                    <a:cs typeface="+mn-cs"/>
                                  </a:rPr>
                                  <m:t>𝟗𝟕</m:t>
                                </m:r>
                                <m:r>
                                  <a:rPr lang="fr-FR" sz="2000" b="1" kern="1200" dirty="0" smtClean="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𝟗</m:t>
                                </m:r>
                                <m:r>
                                  <a:rPr lang="fr-FR" sz="2000" b="1" kern="1200" dirty="0" smtClean="0">
                                    <a:solidFill>
                                      <a:schemeClr val="tx1"/>
                                    </a:solidFill>
                                    <a:effectLst/>
                                    <a:latin typeface="Cambria Math" panose="02040503050406030204" pitchFamily="18" charset="0"/>
                                    <a:ea typeface="+mn-ea"/>
                                    <a:cs typeface="+mn-cs"/>
                                  </a:rPr>
                                  <m:t> −</m:t>
                                </m:r>
                                <m:r>
                                  <a:rPr lang="fr-FR" sz="2000" b="1" kern="1200" dirty="0">
                                    <a:solidFill>
                                      <a:schemeClr val="tx1"/>
                                    </a:solidFill>
                                    <a:effectLst/>
                                    <a:latin typeface="Cambria Math" panose="02040503050406030204" pitchFamily="18" charset="0"/>
                                    <a:ea typeface="+mn-ea"/>
                                    <a:cs typeface="+mn-cs"/>
                                  </a:rPr>
                                  <m:t>𝟏𝟎𝟎</m:t>
                                </m:r>
                                <m:r>
                                  <a:rPr lang="fr-FR" sz="2000" b="1" kern="1200" dirty="0">
                                    <a:solidFill>
                                      <a:schemeClr val="tx1"/>
                                    </a:solidFill>
                                    <a:effectLst/>
                                    <a:latin typeface="Cambria Math" panose="02040503050406030204" pitchFamily="18" charset="0"/>
                                    <a:ea typeface="+mn-ea"/>
                                    <a:cs typeface="+mn-cs"/>
                                  </a:rPr>
                                  <m:t>]</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97,5 [86,7 – 99,9]</a:t>
                          </a:r>
                        </a:p>
                      </a:txBody>
                      <a:tcPr marL="68580" marR="68580" marT="0" marB="0"/>
                    </a:tc>
                    <a:extLst>
                      <a:ext uri="{0D108BD9-81ED-4DB2-BD59-A6C34878D82A}">
                        <a16:rowId xmlns:a16="http://schemas.microsoft.com/office/drawing/2014/main" val="2434135435"/>
                      </a:ext>
                    </a:extLst>
                  </a:tr>
                  <a:tr h="340563">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Spécificité FC (%)</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𝟗𝟖</m:t>
                                </m:r>
                                <m:r>
                                  <a:rPr lang="fr-FR" sz="2000" b="1" kern="1200" dirty="0" smtClean="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𝟕</m:t>
                                </m:r>
                                <m:r>
                                  <a:rPr lang="fr-FR" sz="2000" b="1" kern="1200" dirty="0" smtClean="0">
                                    <a:solidFill>
                                      <a:schemeClr val="tx1"/>
                                    </a:solidFill>
                                    <a:effectLst/>
                                    <a:latin typeface="Cambria Math" panose="02040503050406030204" pitchFamily="18" charset="0"/>
                                    <a:ea typeface="+mn-ea"/>
                                    <a:cs typeface="+mn-cs"/>
                                  </a:rPr>
                                  <m:t> [</m:t>
                                </m:r>
                                <m:r>
                                  <a:rPr lang="fr-FR" sz="2000" b="1" kern="1200" dirty="0" smtClean="0">
                                    <a:solidFill>
                                      <a:schemeClr val="tx1"/>
                                    </a:solidFill>
                                    <a:effectLst/>
                                    <a:latin typeface="Cambria Math" panose="02040503050406030204" pitchFamily="18" charset="0"/>
                                    <a:ea typeface="+mn-ea"/>
                                    <a:cs typeface="+mn-cs"/>
                                  </a:rPr>
                                  <m:t>𝟗𝟓</m:t>
                                </m:r>
                                <m:r>
                                  <a:rPr lang="fr-FR" sz="2000" b="1" kern="1200" dirty="0" smtClean="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𝟗</m:t>
                                </m:r>
                                <m:r>
                                  <a:rPr lang="fr-FR" sz="2000" b="1" kern="1200" dirty="0" smtClean="0">
                                    <a:solidFill>
                                      <a:schemeClr val="tx1"/>
                                    </a:solidFill>
                                    <a:effectLst/>
                                    <a:latin typeface="Cambria Math" panose="02040503050406030204" pitchFamily="18" charset="0"/>
                                    <a:ea typeface="+mn-ea"/>
                                    <a:cs typeface="+mn-cs"/>
                                  </a:rPr>
                                  <m:t> – </m:t>
                                </m:r>
                                <m:r>
                                  <a:rPr lang="fr-FR" sz="2000" b="1" kern="1200" dirty="0" smtClean="0">
                                    <a:solidFill>
                                      <a:schemeClr val="tx1"/>
                                    </a:solidFill>
                                    <a:effectLst/>
                                    <a:latin typeface="Cambria Math" panose="02040503050406030204" pitchFamily="18" charset="0"/>
                                    <a:ea typeface="+mn-ea"/>
                                    <a:cs typeface="+mn-cs"/>
                                  </a:rPr>
                                  <m:t>𝟗𝟗</m:t>
                                </m:r>
                                <m:r>
                                  <a:rPr lang="fr-FR" sz="2000" b="1" kern="1200" dirty="0" smtClean="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𝟖</m:t>
                                </m:r>
                                <m:r>
                                  <a:rPr lang="fr-FR" sz="2000" b="1" kern="1200" dirty="0">
                                    <a:solidFill>
                                      <a:schemeClr val="tx1"/>
                                    </a:solidFill>
                                    <a:effectLst/>
                                    <a:latin typeface="Cambria Math" panose="02040503050406030204" pitchFamily="18" charset="0"/>
                                    <a:ea typeface="+mn-ea"/>
                                    <a:cs typeface="+mn-cs"/>
                                  </a:rPr>
                                  <m:t>]</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81,7 [72,3 - 87,4]</a:t>
                          </a:r>
                        </a:p>
                      </a:txBody>
                      <a:tcPr marL="68580" marR="68580" marT="0" marB="0"/>
                    </a:tc>
                    <a:extLst>
                      <a:ext uri="{0D108BD9-81ED-4DB2-BD59-A6C34878D82A}">
                        <a16:rowId xmlns:a16="http://schemas.microsoft.com/office/drawing/2014/main" val="1208574986"/>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Prévalence (%)</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35,7 </m:t>
                                </m:r>
                                <m:r>
                                  <a:rPr lang="fr-FR" sz="2000" b="1" kern="1200" dirty="0">
                                    <a:solidFill>
                                      <a:schemeClr val="tx1"/>
                                    </a:solidFill>
                                    <a:effectLst/>
                                    <a:latin typeface="Cambria Math" panose="02040503050406030204" pitchFamily="18" charset="0"/>
                                    <a:ea typeface="+mn-ea"/>
                                    <a:cs typeface="+mn-cs"/>
                                  </a:rPr>
                                  <m:t>[</m:t>
                                </m:r>
                                <m:r>
                                  <a:rPr lang="fr-FR" sz="2000" b="1" kern="1200" dirty="0" smtClean="0">
                                    <a:solidFill>
                                      <a:schemeClr val="tx1"/>
                                    </a:solidFill>
                                    <a:effectLst/>
                                    <a:latin typeface="Cambria Math" panose="02040503050406030204" pitchFamily="18" charset="0"/>
                                    <a:ea typeface="+mn-ea"/>
                                    <a:cs typeface="+mn-cs"/>
                                  </a:rPr>
                                  <m:t>30,4 – 41,4</m:t>
                                </m:r>
                                <m:r>
                                  <a:rPr lang="fr-FR" sz="2000" b="1" kern="1200" dirty="0">
                                    <a:solidFill>
                                      <a:schemeClr val="tx1"/>
                                    </a:solidFill>
                                    <a:effectLst/>
                                    <a:latin typeface="Cambria Math" panose="02040503050406030204" pitchFamily="18" charset="0"/>
                                    <a:ea typeface="+mn-ea"/>
                                    <a:cs typeface="+mn-cs"/>
                                  </a:rPr>
                                  <m:t>]</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22,0 [10,2 - 28,5]</a:t>
                          </a:r>
                        </a:p>
                      </a:txBody>
                      <a:tcPr marL="68580" marR="68580" marT="0" marB="0"/>
                    </a:tc>
                    <a:extLst>
                      <a:ext uri="{0D108BD9-81ED-4DB2-BD59-A6C34878D82A}">
                        <a16:rowId xmlns:a16="http://schemas.microsoft.com/office/drawing/2014/main" val="1935544009"/>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Covariance - animaux infectés</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0,027</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0" kern="1200" dirty="0" smtClean="0">
                                    <a:solidFill>
                                      <a:schemeClr val="tx1"/>
                                    </a:solidFill>
                                    <a:effectLst/>
                                    <a:latin typeface="Cambria Math" panose="02040503050406030204" pitchFamily="18" charset="0"/>
                                    <a:ea typeface="+mn-ea"/>
                                    <a:cs typeface="+mn-cs"/>
                                  </a:rPr>
                                  <m:t>0,0</m:t>
                                </m:r>
                                <m:r>
                                  <a:rPr lang="fr-FR" sz="2000" b="0" i="0" kern="1200" dirty="0" smtClean="0">
                                    <a:solidFill>
                                      <a:schemeClr val="tx1"/>
                                    </a:solidFill>
                                    <a:effectLst/>
                                    <a:latin typeface="Cambria Math" panose="02040503050406030204" pitchFamily="18" charset="0"/>
                                    <a:ea typeface="+mn-ea"/>
                                    <a:cs typeface="+mn-cs"/>
                                  </a:rPr>
                                  <m:t>71</m:t>
                                </m:r>
                              </m:oMath>
                            </m:oMathPara>
                          </a14:m>
                          <a:endParaRPr lang="fr-FR" sz="2000" b="0" kern="1200" dirty="0">
                            <a:solidFill>
                              <a:schemeClr val="tx1"/>
                            </a:solidFill>
                            <a:effectLst/>
                            <a:latin typeface="Georgia" panose="02040502050405020303" pitchFamily="18" charset="0"/>
                            <a:ea typeface="+mn-ea"/>
                            <a:cs typeface="+mn-cs"/>
                          </a:endParaRPr>
                        </a:p>
                      </a:txBody>
                      <a:tcPr marL="68580" marR="68580" marT="0" marB="0"/>
                    </a:tc>
                    <a:extLst>
                      <a:ext uri="{0D108BD9-81ED-4DB2-BD59-A6C34878D82A}">
                        <a16:rowId xmlns:a16="http://schemas.microsoft.com/office/drawing/2014/main" val="1306029190"/>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Covariance - animaux sains</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0,001</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0" kern="1200" dirty="0" smtClean="0">
                                    <a:solidFill>
                                      <a:schemeClr val="tx1"/>
                                    </a:solidFill>
                                    <a:effectLst/>
                                    <a:latin typeface="Cambria Math" panose="02040503050406030204" pitchFamily="18" charset="0"/>
                                    <a:ea typeface="+mn-ea"/>
                                    <a:cs typeface="+mn-cs"/>
                                  </a:rPr>
                                  <m:t>0,0</m:t>
                                </m:r>
                                <m:r>
                                  <a:rPr lang="fr-FR" sz="2000" b="0" i="0" kern="1200" dirty="0" smtClean="0">
                                    <a:solidFill>
                                      <a:schemeClr val="tx1"/>
                                    </a:solidFill>
                                    <a:effectLst/>
                                    <a:latin typeface="Cambria Math" panose="02040503050406030204" pitchFamily="18" charset="0"/>
                                    <a:ea typeface="+mn-ea"/>
                                    <a:cs typeface="+mn-cs"/>
                                  </a:rPr>
                                  <m:t>12</m:t>
                                </m:r>
                              </m:oMath>
                            </m:oMathPara>
                          </a14:m>
                          <a:endParaRPr lang="fr-FR" sz="2000" b="0" kern="1200" dirty="0">
                            <a:solidFill>
                              <a:schemeClr val="tx1"/>
                            </a:solidFill>
                            <a:effectLst/>
                            <a:latin typeface="Georgia" panose="02040502050405020303" pitchFamily="18" charset="0"/>
                            <a:ea typeface="+mn-ea"/>
                            <a:cs typeface="+mn-cs"/>
                          </a:endParaRPr>
                        </a:p>
                      </a:txBody>
                      <a:tcPr marL="68580" marR="68580" marT="0" marB="0"/>
                    </a:tc>
                    <a:extLst>
                      <a:ext uri="{0D108BD9-81ED-4DB2-BD59-A6C34878D82A}">
                        <a16:rowId xmlns:a16="http://schemas.microsoft.com/office/drawing/2014/main" val="3597075309"/>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P-value</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1" kern="1200" dirty="0" smtClean="0">
                                    <a:solidFill>
                                      <a:schemeClr val="tx1"/>
                                    </a:solidFill>
                                    <a:effectLst/>
                                    <a:latin typeface="Cambria Math" panose="02040503050406030204" pitchFamily="18" charset="0"/>
                                    <a:ea typeface="+mn-ea"/>
                                    <a:cs typeface="+mn-cs"/>
                                  </a:rPr>
                                  <m:t>0,422</m:t>
                                </m:r>
                              </m:oMath>
                            </m:oMathPara>
                          </a14:m>
                          <a:endParaRPr lang="fr-FR" sz="2000" b="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0" kern="1200" dirty="0" smtClean="0">
                                    <a:solidFill>
                                      <a:schemeClr val="tx1"/>
                                    </a:solidFill>
                                    <a:effectLst/>
                                    <a:latin typeface="Cambria Math" panose="02040503050406030204" pitchFamily="18" charset="0"/>
                                    <a:ea typeface="+mn-ea"/>
                                    <a:cs typeface="+mn-cs"/>
                                  </a:rPr>
                                  <m:t>0,4</m:t>
                                </m:r>
                                <m:r>
                                  <a:rPr lang="fr-FR" sz="2000" b="0" i="0" kern="1200" dirty="0" smtClean="0">
                                    <a:solidFill>
                                      <a:schemeClr val="tx1"/>
                                    </a:solidFill>
                                    <a:effectLst/>
                                    <a:latin typeface="Cambria Math" panose="02040503050406030204" pitchFamily="18" charset="0"/>
                                    <a:ea typeface="+mn-ea"/>
                                    <a:cs typeface="+mn-cs"/>
                                  </a:rPr>
                                  <m:t>13</m:t>
                                </m:r>
                              </m:oMath>
                            </m:oMathPara>
                          </a14:m>
                          <a:endParaRPr lang="fr-FR" sz="2000" b="0" kern="1200" dirty="0">
                            <a:solidFill>
                              <a:schemeClr val="tx1"/>
                            </a:solidFill>
                            <a:effectLst/>
                            <a:latin typeface="Georgia" panose="02040502050405020303" pitchFamily="18" charset="0"/>
                            <a:ea typeface="+mn-ea"/>
                            <a:cs typeface="+mn-cs"/>
                          </a:endParaRPr>
                        </a:p>
                      </a:txBody>
                      <a:tcPr marL="68580" marR="68580" marT="0" marB="0"/>
                    </a:tc>
                    <a:extLst>
                      <a:ext uri="{0D108BD9-81ED-4DB2-BD59-A6C34878D82A}">
                        <a16:rowId xmlns:a16="http://schemas.microsoft.com/office/drawing/2014/main" val="254422926"/>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DIC</a:t>
                          </a: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0" i="1" kern="1200" dirty="0" smtClean="0">
                                    <a:solidFill>
                                      <a:schemeClr val="tx1"/>
                                    </a:solidFill>
                                    <a:effectLst/>
                                    <a:latin typeface="Cambria Math" panose="02040503050406030204" pitchFamily="18" charset="0"/>
                                    <a:ea typeface="+mn-ea"/>
                                    <a:cs typeface="+mn-cs"/>
                                  </a:rPr>
                                  <m:t>21,5</m:t>
                                </m:r>
                              </m:oMath>
                            </m:oMathPara>
                          </a14:m>
                          <a:endParaRPr lang="fr-FR" sz="2000" b="0" i="1" kern="1200" dirty="0">
                            <a:solidFill>
                              <a:schemeClr val="tx1"/>
                            </a:solidFill>
                            <a:effectLst/>
                            <a:latin typeface="Georgia" panose="02040502050405020303" pitchFamily="18" charset="0"/>
                            <a:ea typeface="+mn-ea"/>
                            <a:cs typeface="+mn-cs"/>
                          </a:endParaRPr>
                        </a:p>
                      </a:txBody>
                      <a:tcPr marL="68580" marR="68580" marT="0" marB="0"/>
                    </a:tc>
                    <a:tc>
                      <a:txBody>
                        <a:bodyPr/>
                        <a:lstStyle/>
                        <a:p>
                          <a:pPr marL="0" algn="ctr" defTabSz="914400" rtl="0" eaLnBrk="1" latinLnBrk="0" hangingPunct="1">
                            <a:lnSpc>
                              <a:spcPct val="107000"/>
                            </a:lnSpc>
                            <a:spcAft>
                              <a:spcPts val="0"/>
                            </a:spcAft>
                          </a:pPr>
                          <a14:m>
                            <m:oMathPara xmlns:m="http://schemas.openxmlformats.org/officeDocument/2006/math">
                              <m:oMath>
                                <m:r>
                                  <a:rPr lang="fr-FR" sz="2000" b="0" i="1" kern="1200" dirty="0" smtClean="0">
                                    <a:solidFill>
                                      <a:schemeClr val="tx1"/>
                                    </a:solidFill>
                                    <a:effectLst/>
                                    <a:latin typeface="Cambria Math" panose="02040503050406030204" pitchFamily="18" charset="0"/>
                                    <a:ea typeface="+mn-ea"/>
                                    <a:cs typeface="+mn-cs"/>
                                  </a:rPr>
                                  <m:t>24,2</m:t>
                                </m:r>
                              </m:oMath>
                            </m:oMathPara>
                          </a14:m>
                          <a:endParaRPr lang="fr-FR" sz="2000" b="0" kern="1200" dirty="0">
                            <a:solidFill>
                              <a:schemeClr val="tx1"/>
                            </a:solidFill>
                            <a:effectLst/>
                            <a:latin typeface="Georgia" panose="02040502050405020303" pitchFamily="18" charset="0"/>
                            <a:ea typeface="+mn-ea"/>
                            <a:cs typeface="+mn-cs"/>
                          </a:endParaRPr>
                        </a:p>
                      </a:txBody>
                      <a:tcPr marL="68580" marR="68580" marT="0" marB="0"/>
                    </a:tc>
                    <a:extLst>
                      <a:ext uri="{0D108BD9-81ED-4DB2-BD59-A6C34878D82A}">
                        <a16:rowId xmlns:a16="http://schemas.microsoft.com/office/drawing/2014/main" val="2093435307"/>
                      </a:ext>
                    </a:extLst>
                  </a:tr>
                </a:tbl>
              </a:graphicData>
            </a:graphic>
          </p:graphicFrame>
        </mc:Choice>
        <mc:Fallback xmlns="">
          <p:graphicFrame>
            <p:nvGraphicFramePr>
              <p:cNvPr id="27" name="Tableau 26">
                <a:extLst>
                  <a:ext uri="{FF2B5EF4-FFF2-40B4-BE49-F238E27FC236}">
                    <a16:creationId xmlns:a16="http://schemas.microsoft.com/office/drawing/2014/main" id="{32FD2B0B-5329-41FF-B833-DEA3C5CB244E}"/>
                  </a:ext>
                </a:extLst>
              </p:cNvPr>
              <p:cNvGraphicFramePr>
                <a:graphicFrameLocks noGrp="1"/>
              </p:cNvGraphicFramePr>
              <p:nvPr>
                <p:extLst>
                  <p:ext uri="{D42A27DB-BD31-4B8C-83A1-F6EECF244321}">
                    <p14:modId xmlns:p14="http://schemas.microsoft.com/office/powerpoint/2010/main" val="2955478088"/>
                  </p:ext>
                </p:extLst>
              </p:nvPr>
            </p:nvGraphicFramePr>
            <p:xfrm>
              <a:off x="2569367" y="1268664"/>
              <a:ext cx="8748400" cy="4403579"/>
            </p:xfrm>
            <a:graphic>
              <a:graphicData uri="http://schemas.openxmlformats.org/drawingml/2006/table">
                <a:tbl>
                  <a:tblPr firstRow="1" firstCol="1" bandRow="1">
                    <a:tableStyleId>{5940675A-B579-460E-94D1-54222C63F5DA}</a:tableStyleId>
                  </a:tblPr>
                  <a:tblGrid>
                    <a:gridCol w="3577273">
                      <a:extLst>
                        <a:ext uri="{9D8B030D-6E8A-4147-A177-3AD203B41FA5}">
                          <a16:colId xmlns:a16="http://schemas.microsoft.com/office/drawing/2014/main" val="53404294"/>
                        </a:ext>
                      </a:extLst>
                    </a:gridCol>
                    <a:gridCol w="2371916">
                      <a:extLst>
                        <a:ext uri="{9D8B030D-6E8A-4147-A177-3AD203B41FA5}">
                          <a16:colId xmlns:a16="http://schemas.microsoft.com/office/drawing/2014/main" val="3131013287"/>
                        </a:ext>
                      </a:extLst>
                    </a:gridCol>
                    <a:gridCol w="2799211">
                      <a:extLst>
                        <a:ext uri="{9D8B030D-6E8A-4147-A177-3AD203B41FA5}">
                          <a16:colId xmlns:a16="http://schemas.microsoft.com/office/drawing/2014/main" val="686765585"/>
                        </a:ext>
                      </a:extLst>
                    </a:gridCol>
                  </a:tblGrid>
                  <a:tr h="1338512">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Paramètres</a:t>
                          </a:r>
                        </a:p>
                      </a:txBody>
                      <a:tcPr marL="68580" marR="68580" marT="0" marB="0" anchor="ctr"/>
                    </a:tc>
                    <a:tc>
                      <a:txBody>
                        <a:bodyPr/>
                        <a:lstStyle/>
                        <a:p>
                          <a:pPr marL="0" algn="ctr" defTabSz="914400" rtl="0" eaLnBrk="1" latinLnBrk="0" hangingPunct="1">
                            <a:lnSpc>
                              <a:spcPct val="107000"/>
                            </a:lnSpc>
                            <a:spcAft>
                              <a:spcPts val="0"/>
                            </a:spcAft>
                          </a:pPr>
                          <a:r>
                            <a:rPr lang="fr-FR" sz="2000" b="0" kern="1200" dirty="0" err="1">
                              <a:solidFill>
                                <a:schemeClr val="tx1"/>
                              </a:solidFill>
                              <a:effectLst/>
                              <a:latin typeface="Georgia" panose="02040502050405020303" pitchFamily="18" charset="0"/>
                              <a:ea typeface="+mn-ea"/>
                              <a:cs typeface="+mn-cs"/>
                            </a:rPr>
                            <a:t>Posteriors</a:t>
                          </a:r>
                          <a:endParaRPr lang="fr-FR" sz="2000" b="0" kern="1200" dirty="0">
                            <a:solidFill>
                              <a:schemeClr val="tx1"/>
                            </a:solidFill>
                            <a:effectLst/>
                            <a:latin typeface="Georgia" panose="02040502050405020303" pitchFamily="18" charset="0"/>
                            <a:ea typeface="+mn-ea"/>
                            <a:cs typeface="+mn-cs"/>
                          </a:endParaRPr>
                        </a:p>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Analyse avec priors empiriques</a:t>
                          </a:r>
                        </a:p>
                      </a:txBody>
                      <a:tcPr marL="68580" marR="68580" marT="0" marB="0" anchor="ctr"/>
                    </a:tc>
                    <a:tc>
                      <a:txBody>
                        <a:bodyPr/>
                        <a:lstStyle/>
                        <a:p>
                          <a:pPr marL="0" algn="ctr" defTabSz="914400" rtl="0" eaLnBrk="1" latinLnBrk="0" hangingPunct="1">
                            <a:lnSpc>
                              <a:spcPct val="107000"/>
                            </a:lnSpc>
                            <a:spcAft>
                              <a:spcPts val="0"/>
                            </a:spcAft>
                          </a:pPr>
                          <a:r>
                            <a:rPr lang="fr-FR" sz="2000" b="0" kern="1200" dirty="0" err="1">
                              <a:solidFill>
                                <a:schemeClr val="tx1"/>
                              </a:solidFill>
                              <a:effectLst/>
                              <a:latin typeface="Georgia" panose="02040502050405020303" pitchFamily="18" charset="0"/>
                              <a:ea typeface="+mn-ea"/>
                              <a:cs typeface="+mn-cs"/>
                            </a:rPr>
                            <a:t>Posteriors</a:t>
                          </a:r>
                          <a:endParaRPr lang="fr-FR" sz="2000" b="0" kern="1200" dirty="0">
                            <a:solidFill>
                              <a:schemeClr val="tx1"/>
                            </a:solidFill>
                            <a:effectLst/>
                            <a:latin typeface="Georgia" panose="02040502050405020303" pitchFamily="18" charset="0"/>
                            <a:ea typeface="+mn-ea"/>
                            <a:cs typeface="+mn-cs"/>
                          </a:endParaRPr>
                        </a:p>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Analyse avec priors (faiblement </a:t>
                          </a:r>
                          <a:r>
                            <a:rPr lang="fr-FR" sz="2000" b="0" kern="1200" dirty="0" err="1">
                              <a:solidFill>
                                <a:schemeClr val="tx1"/>
                              </a:solidFill>
                              <a:effectLst/>
                              <a:latin typeface="Georgia" panose="02040502050405020303" pitchFamily="18" charset="0"/>
                              <a:ea typeface="+mn-ea"/>
                              <a:cs typeface="+mn-cs"/>
                            </a:rPr>
                            <a:t>inform</a:t>
                          </a:r>
                          <a:r>
                            <a:rPr lang="fr-FR" sz="2000" b="0" kern="1200" dirty="0">
                              <a:solidFill>
                                <a:schemeClr val="tx1"/>
                              </a:solidFill>
                              <a:effectLst/>
                              <a:latin typeface="Georgia" panose="02040502050405020303" pitchFamily="18" charset="0"/>
                              <a:ea typeface="+mn-ea"/>
                              <a:cs typeface="+mn-cs"/>
                            </a:rPr>
                            <a:t>.) issus de littérature</a:t>
                          </a:r>
                        </a:p>
                      </a:txBody>
                      <a:tcPr marL="68580" marR="68580" marT="0" marB="0" anchor="ctr"/>
                    </a:tc>
                    <a:extLst>
                      <a:ext uri="{0D108BD9-81ED-4DB2-BD59-A6C34878D82A}">
                        <a16:rowId xmlns:a16="http://schemas.microsoft.com/office/drawing/2014/main" val="3440482733"/>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Sensibilité test Ar (%)</a:t>
                          </a:r>
                        </a:p>
                      </a:txBody>
                      <a:tcPr marL="68580" marR="68580" marT="0" marB="0"/>
                    </a:tc>
                    <a:tc>
                      <a:txBody>
                        <a:bodyPr/>
                        <a:lstStyle/>
                        <a:p>
                          <a:endParaRPr lang="fr-FR"/>
                        </a:p>
                      </a:txBody>
                      <a:tcPr marL="68580" marR="68580" marT="0" marB="0">
                        <a:blipFill>
                          <a:blip r:embed="rId6"/>
                          <a:stretch>
                            <a:fillRect l="-150769" t="-408929" r="-118205" b="-830357"/>
                          </a:stretch>
                        </a:blipFill>
                      </a:tcPr>
                    </a:tc>
                    <a:tc>
                      <a:txBody>
                        <a:bodyPr/>
                        <a:lstStyle/>
                        <a:p>
                          <a:pPr marL="0" algn="ctr" defTabSz="914400" rtl="0" eaLnBrk="1" latinLnBrk="0" hangingPunct="1">
                            <a:lnSpc>
                              <a:spcPct val="107000"/>
                            </a:lnSpc>
                            <a:spcAft>
                              <a:spcPts val="0"/>
                            </a:spcAft>
                          </a:pPr>
                          <a:r>
                            <a:rPr lang="fr-FR" sz="2000" b="0" kern="1200">
                              <a:solidFill>
                                <a:schemeClr val="tx1"/>
                              </a:solidFill>
                              <a:effectLst/>
                              <a:latin typeface="Georgia" panose="02040502050405020303" pitchFamily="18" charset="0"/>
                              <a:ea typeface="+mn-ea"/>
                              <a:cs typeface="+mn-cs"/>
                            </a:rPr>
                            <a:t>86,0 [72,5 - 95,6]</a:t>
                          </a:r>
                        </a:p>
                      </a:txBody>
                      <a:tcPr marL="68580" marR="68580" marT="0" marB="0"/>
                    </a:tc>
                    <a:extLst>
                      <a:ext uri="{0D108BD9-81ED-4DB2-BD59-A6C34878D82A}">
                        <a16:rowId xmlns:a16="http://schemas.microsoft.com/office/drawing/2014/main" val="2995189114"/>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Sensibilité FC (%)</a:t>
                          </a:r>
                        </a:p>
                      </a:txBody>
                      <a:tcPr marL="68580" marR="68580" marT="0" marB="0"/>
                    </a:tc>
                    <a:tc>
                      <a:txBody>
                        <a:bodyPr/>
                        <a:lstStyle/>
                        <a:p>
                          <a:endParaRPr lang="fr-FR"/>
                        </a:p>
                      </a:txBody>
                      <a:tcPr marL="68580" marR="68580" marT="0" marB="0">
                        <a:blipFill>
                          <a:blip r:embed="rId6"/>
                          <a:stretch>
                            <a:fillRect l="-150769" t="-508929" r="-118205" b="-730357"/>
                          </a:stretch>
                        </a:blipFill>
                      </a:tcPr>
                    </a:tc>
                    <a:tc>
                      <a:txBody>
                        <a:bodyPr/>
                        <a:lstStyle/>
                        <a:p>
                          <a:pPr marL="0" algn="ctr" defTabSz="914400" rtl="0" eaLnBrk="1" latinLnBrk="0" hangingPunct="1">
                            <a:lnSpc>
                              <a:spcPct val="107000"/>
                            </a:lnSpc>
                            <a:spcAft>
                              <a:spcPts val="0"/>
                            </a:spcAft>
                          </a:pPr>
                          <a:r>
                            <a:rPr lang="fr-FR" sz="2000" b="0" kern="1200">
                              <a:solidFill>
                                <a:schemeClr val="tx1"/>
                              </a:solidFill>
                              <a:effectLst/>
                              <a:latin typeface="Georgia" panose="02040502050405020303" pitchFamily="18" charset="0"/>
                              <a:ea typeface="+mn-ea"/>
                              <a:cs typeface="+mn-cs"/>
                            </a:rPr>
                            <a:t>82,9 [69,6 - 91,9]</a:t>
                          </a:r>
                        </a:p>
                      </a:txBody>
                      <a:tcPr marL="68580" marR="68580" marT="0" marB="0"/>
                    </a:tc>
                    <a:extLst>
                      <a:ext uri="{0D108BD9-81ED-4DB2-BD59-A6C34878D82A}">
                        <a16:rowId xmlns:a16="http://schemas.microsoft.com/office/drawing/2014/main" val="852077675"/>
                      </a:ext>
                    </a:extLst>
                  </a:tr>
                  <a:tr h="340563">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Spécificité test Ar (%)</a:t>
                          </a:r>
                        </a:p>
                      </a:txBody>
                      <a:tcPr marL="68580" marR="68580" marT="0" marB="0"/>
                    </a:tc>
                    <a:tc>
                      <a:txBody>
                        <a:bodyPr/>
                        <a:lstStyle/>
                        <a:p>
                          <a:endParaRPr lang="fr-FR"/>
                        </a:p>
                      </a:txBody>
                      <a:tcPr marL="68580" marR="68580" marT="0" marB="0">
                        <a:blipFill>
                          <a:blip r:embed="rId6"/>
                          <a:stretch>
                            <a:fillRect l="-150769" t="-608929" r="-118205" b="-630357"/>
                          </a:stretch>
                        </a:blipFill>
                      </a:tcPr>
                    </a:tc>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97,5 [86,7 – 99,9]</a:t>
                          </a:r>
                        </a:p>
                      </a:txBody>
                      <a:tcPr marL="68580" marR="68580" marT="0" marB="0"/>
                    </a:tc>
                    <a:extLst>
                      <a:ext uri="{0D108BD9-81ED-4DB2-BD59-A6C34878D82A}">
                        <a16:rowId xmlns:a16="http://schemas.microsoft.com/office/drawing/2014/main" val="2434135435"/>
                      </a:ext>
                    </a:extLst>
                  </a:tr>
                  <a:tr h="340563">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Spécificité FC (%)</a:t>
                          </a:r>
                        </a:p>
                      </a:txBody>
                      <a:tcPr marL="68580" marR="68580" marT="0" marB="0"/>
                    </a:tc>
                    <a:tc>
                      <a:txBody>
                        <a:bodyPr/>
                        <a:lstStyle/>
                        <a:p>
                          <a:endParaRPr lang="fr-FR"/>
                        </a:p>
                      </a:txBody>
                      <a:tcPr marL="68580" marR="68580" marT="0" marB="0">
                        <a:blipFill>
                          <a:blip r:embed="rId6"/>
                          <a:stretch>
                            <a:fillRect l="-150769" t="-721818" r="-118205" b="-541818"/>
                          </a:stretch>
                        </a:blipFill>
                      </a:tcPr>
                    </a:tc>
                    <a:tc>
                      <a:txBody>
                        <a:bodyPr/>
                        <a:lstStyle/>
                        <a:p>
                          <a:pPr marL="0" algn="ctr" defTabSz="914400" rtl="0" eaLnBrk="1" latinLnBrk="0" hangingPunct="1">
                            <a:lnSpc>
                              <a:spcPct val="107000"/>
                            </a:lnSpc>
                            <a:spcAft>
                              <a:spcPts val="0"/>
                            </a:spcAft>
                          </a:pPr>
                          <a:r>
                            <a:rPr lang="fr-FR" sz="2000" b="1" kern="1200" dirty="0">
                              <a:solidFill>
                                <a:schemeClr val="tx1"/>
                              </a:solidFill>
                              <a:effectLst/>
                              <a:latin typeface="Georgia" panose="02040502050405020303" pitchFamily="18" charset="0"/>
                              <a:ea typeface="+mn-ea"/>
                              <a:cs typeface="+mn-cs"/>
                            </a:rPr>
                            <a:t>81,7 [72,3 - 87,4]</a:t>
                          </a:r>
                        </a:p>
                      </a:txBody>
                      <a:tcPr marL="68580" marR="68580" marT="0" marB="0"/>
                    </a:tc>
                    <a:extLst>
                      <a:ext uri="{0D108BD9-81ED-4DB2-BD59-A6C34878D82A}">
                        <a16:rowId xmlns:a16="http://schemas.microsoft.com/office/drawing/2014/main" val="1208574986"/>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Prévalence (%)</a:t>
                          </a:r>
                        </a:p>
                      </a:txBody>
                      <a:tcPr marL="68580" marR="68580" marT="0" marB="0"/>
                    </a:tc>
                    <a:tc>
                      <a:txBody>
                        <a:bodyPr/>
                        <a:lstStyle/>
                        <a:p>
                          <a:endParaRPr lang="fr-FR"/>
                        </a:p>
                      </a:txBody>
                      <a:tcPr marL="68580" marR="68580" marT="0" marB="0">
                        <a:blipFill>
                          <a:blip r:embed="rId6"/>
                          <a:stretch>
                            <a:fillRect l="-150769" t="-807143" r="-118205" b="-432143"/>
                          </a:stretch>
                        </a:blipFill>
                      </a:tcPr>
                    </a:tc>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22,0 [10,2 - 28,5]</a:t>
                          </a:r>
                        </a:p>
                      </a:txBody>
                      <a:tcPr marL="68580" marR="68580" marT="0" marB="0"/>
                    </a:tc>
                    <a:extLst>
                      <a:ext uri="{0D108BD9-81ED-4DB2-BD59-A6C34878D82A}">
                        <a16:rowId xmlns:a16="http://schemas.microsoft.com/office/drawing/2014/main" val="1935544009"/>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Covariance - animaux infectés</a:t>
                          </a:r>
                        </a:p>
                      </a:txBody>
                      <a:tcPr marL="68580" marR="68580" marT="0" marB="0"/>
                    </a:tc>
                    <a:tc>
                      <a:txBody>
                        <a:bodyPr/>
                        <a:lstStyle/>
                        <a:p>
                          <a:endParaRPr lang="fr-FR"/>
                        </a:p>
                      </a:txBody>
                      <a:tcPr marL="68580" marR="68580" marT="0" marB="0">
                        <a:blipFill>
                          <a:blip r:embed="rId6"/>
                          <a:stretch>
                            <a:fillRect l="-150769" t="-907143" r="-118205" b="-332143"/>
                          </a:stretch>
                        </a:blipFill>
                      </a:tcPr>
                    </a:tc>
                    <a:tc>
                      <a:txBody>
                        <a:bodyPr/>
                        <a:lstStyle/>
                        <a:p>
                          <a:endParaRPr lang="fr-FR"/>
                        </a:p>
                      </a:txBody>
                      <a:tcPr marL="68580" marR="68580" marT="0" marB="0">
                        <a:blipFill>
                          <a:blip r:embed="rId6"/>
                          <a:stretch>
                            <a:fillRect l="-213072" t="-907143" r="-436" b="-332143"/>
                          </a:stretch>
                        </a:blipFill>
                      </a:tcPr>
                    </a:tc>
                    <a:extLst>
                      <a:ext uri="{0D108BD9-81ED-4DB2-BD59-A6C34878D82A}">
                        <a16:rowId xmlns:a16="http://schemas.microsoft.com/office/drawing/2014/main" val="1306029190"/>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Covariance - animaux sains</a:t>
                          </a:r>
                        </a:p>
                      </a:txBody>
                      <a:tcPr marL="68580" marR="68580" marT="0" marB="0"/>
                    </a:tc>
                    <a:tc>
                      <a:txBody>
                        <a:bodyPr/>
                        <a:lstStyle/>
                        <a:p>
                          <a:endParaRPr lang="fr-FR"/>
                        </a:p>
                      </a:txBody>
                      <a:tcPr marL="68580" marR="68580" marT="0" marB="0">
                        <a:blipFill>
                          <a:blip r:embed="rId6"/>
                          <a:stretch>
                            <a:fillRect l="-150769" t="-1007143" r="-118205" b="-232143"/>
                          </a:stretch>
                        </a:blipFill>
                      </a:tcPr>
                    </a:tc>
                    <a:tc>
                      <a:txBody>
                        <a:bodyPr/>
                        <a:lstStyle/>
                        <a:p>
                          <a:endParaRPr lang="fr-FR"/>
                        </a:p>
                      </a:txBody>
                      <a:tcPr marL="68580" marR="68580" marT="0" marB="0">
                        <a:blipFill>
                          <a:blip r:embed="rId6"/>
                          <a:stretch>
                            <a:fillRect l="-213072" t="-1007143" r="-436" b="-232143"/>
                          </a:stretch>
                        </a:blipFill>
                      </a:tcPr>
                    </a:tc>
                    <a:extLst>
                      <a:ext uri="{0D108BD9-81ED-4DB2-BD59-A6C34878D82A}">
                        <a16:rowId xmlns:a16="http://schemas.microsoft.com/office/drawing/2014/main" val="3597075309"/>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P-value</a:t>
                          </a:r>
                        </a:p>
                      </a:txBody>
                      <a:tcPr marL="68580" marR="68580" marT="0" marB="0"/>
                    </a:tc>
                    <a:tc>
                      <a:txBody>
                        <a:bodyPr/>
                        <a:lstStyle/>
                        <a:p>
                          <a:endParaRPr lang="fr-FR"/>
                        </a:p>
                      </a:txBody>
                      <a:tcPr marL="68580" marR="68580" marT="0" marB="0">
                        <a:blipFill>
                          <a:blip r:embed="rId6"/>
                          <a:stretch>
                            <a:fillRect l="-150769" t="-1107143" r="-118205" b="-132143"/>
                          </a:stretch>
                        </a:blipFill>
                      </a:tcPr>
                    </a:tc>
                    <a:tc>
                      <a:txBody>
                        <a:bodyPr/>
                        <a:lstStyle/>
                        <a:p>
                          <a:endParaRPr lang="fr-FR"/>
                        </a:p>
                      </a:txBody>
                      <a:tcPr marL="68580" marR="68580" marT="0" marB="0">
                        <a:blipFill>
                          <a:blip r:embed="rId6"/>
                          <a:stretch>
                            <a:fillRect l="-213072" t="-1107143" r="-436" b="-132143"/>
                          </a:stretch>
                        </a:blipFill>
                      </a:tcPr>
                    </a:tc>
                    <a:extLst>
                      <a:ext uri="{0D108BD9-81ED-4DB2-BD59-A6C34878D82A}">
                        <a16:rowId xmlns:a16="http://schemas.microsoft.com/office/drawing/2014/main" val="254422926"/>
                      </a:ext>
                    </a:extLst>
                  </a:tr>
                  <a:tr h="340563">
                    <a:tc>
                      <a:txBody>
                        <a:bodyPr/>
                        <a:lstStyle/>
                        <a:p>
                          <a:pPr marL="0" algn="ctr" defTabSz="914400" rtl="0" eaLnBrk="1" latinLnBrk="0" hangingPunct="1">
                            <a:lnSpc>
                              <a:spcPct val="107000"/>
                            </a:lnSpc>
                            <a:spcAft>
                              <a:spcPts val="0"/>
                            </a:spcAft>
                          </a:pPr>
                          <a:r>
                            <a:rPr lang="fr-FR" sz="2000" b="0" kern="1200" dirty="0">
                              <a:solidFill>
                                <a:schemeClr val="tx1"/>
                              </a:solidFill>
                              <a:effectLst/>
                              <a:latin typeface="Georgia" panose="02040502050405020303" pitchFamily="18" charset="0"/>
                              <a:ea typeface="+mn-ea"/>
                              <a:cs typeface="+mn-cs"/>
                            </a:rPr>
                            <a:t>DIC</a:t>
                          </a:r>
                        </a:p>
                      </a:txBody>
                      <a:tcPr marL="68580" marR="68580" marT="0" marB="0"/>
                    </a:tc>
                    <a:tc>
                      <a:txBody>
                        <a:bodyPr/>
                        <a:lstStyle/>
                        <a:p>
                          <a:endParaRPr lang="fr-FR"/>
                        </a:p>
                      </a:txBody>
                      <a:tcPr marL="68580" marR="68580" marT="0" marB="0">
                        <a:blipFill>
                          <a:blip r:embed="rId6"/>
                          <a:stretch>
                            <a:fillRect l="-150769" t="-1207143" r="-118205" b="-32143"/>
                          </a:stretch>
                        </a:blipFill>
                      </a:tcPr>
                    </a:tc>
                    <a:tc>
                      <a:txBody>
                        <a:bodyPr/>
                        <a:lstStyle/>
                        <a:p>
                          <a:endParaRPr lang="fr-FR"/>
                        </a:p>
                      </a:txBody>
                      <a:tcPr marL="68580" marR="68580" marT="0" marB="0">
                        <a:blipFill>
                          <a:blip r:embed="rId6"/>
                          <a:stretch>
                            <a:fillRect l="-213072" t="-1207143" r="-436" b="-32143"/>
                          </a:stretch>
                        </a:blipFill>
                      </a:tcPr>
                    </a:tc>
                    <a:extLst>
                      <a:ext uri="{0D108BD9-81ED-4DB2-BD59-A6C34878D82A}">
                        <a16:rowId xmlns:a16="http://schemas.microsoft.com/office/drawing/2014/main" val="2093435307"/>
                      </a:ext>
                    </a:extLst>
                  </a:tr>
                </a:tbl>
              </a:graphicData>
            </a:graphic>
          </p:graphicFrame>
        </mc:Fallback>
      </mc:AlternateContent>
      <p:sp>
        <p:nvSpPr>
          <p:cNvPr id="2" name="ZoneTexte 1">
            <a:extLst>
              <a:ext uri="{FF2B5EF4-FFF2-40B4-BE49-F238E27FC236}">
                <a16:creationId xmlns:a16="http://schemas.microsoft.com/office/drawing/2014/main" id="{E193F110-4069-468D-A2C8-297F14862B0C}"/>
              </a:ext>
            </a:extLst>
          </p:cNvPr>
          <p:cNvSpPr txBox="1"/>
          <p:nvPr/>
        </p:nvSpPr>
        <p:spPr>
          <a:xfrm>
            <a:off x="2826327" y="5654968"/>
            <a:ext cx="8289449" cy="1015663"/>
          </a:xfrm>
          <a:prstGeom prst="rect">
            <a:avLst/>
          </a:prstGeom>
          <a:noFill/>
        </p:spPr>
        <p:txBody>
          <a:bodyPr wrap="none" rtlCol="0">
            <a:spAutoFit/>
          </a:bodyPr>
          <a:lstStyle/>
          <a:p>
            <a:r>
              <a:rPr lang="fr-FR" sz="2000" u="sng" dirty="0">
                <a:latin typeface="Georgia" panose="02040502050405020303" pitchFamily="18" charset="0"/>
              </a:rPr>
              <a:t>/!\</a:t>
            </a:r>
            <a:r>
              <a:rPr lang="fr-FR" sz="2000" dirty="0">
                <a:latin typeface="Georgia" panose="02040502050405020303" pitchFamily="18" charset="0"/>
              </a:rPr>
              <a:t> Ajustement similaire des deux modèles aux données (DIC)</a:t>
            </a:r>
          </a:p>
          <a:p>
            <a:r>
              <a:rPr lang="fr-FR" sz="2000" dirty="0">
                <a:latin typeface="Georgia" panose="02040502050405020303" pitchFamily="18" charset="0"/>
              </a:rPr>
              <a:t>Mais différence marquée dans valeurs de Sensibilité Ar et Spécificité FC</a:t>
            </a:r>
          </a:p>
          <a:p>
            <a:r>
              <a:rPr lang="fr-FR" sz="2000" dirty="0">
                <a:latin typeface="Georgia" panose="02040502050405020303" pitchFamily="18" charset="0"/>
                <a:sym typeface="Wingdings" panose="05000000000000000000" pitchFamily="2" charset="2"/>
              </a:rPr>
              <a:t>	 Influence </a:t>
            </a:r>
            <a:r>
              <a:rPr lang="fr-FR" sz="2000" dirty="0" err="1">
                <a:latin typeface="Georgia" panose="02040502050405020303" pitchFamily="18" charset="0"/>
                <a:sym typeface="Wingdings" panose="05000000000000000000" pitchFamily="2" charset="2"/>
              </a:rPr>
              <a:t>priors</a:t>
            </a:r>
            <a:r>
              <a:rPr lang="fr-FR" sz="2000" dirty="0">
                <a:latin typeface="Georgia" panose="02040502050405020303" pitchFamily="18" charset="0"/>
                <a:sym typeface="Wingdings" panose="05000000000000000000" pitchFamily="2" charset="2"/>
              </a:rPr>
              <a:t> ?</a:t>
            </a:r>
            <a:endParaRPr lang="fr-FR" sz="2000" dirty="0">
              <a:latin typeface="Georgia" panose="02040502050405020303" pitchFamily="18" charset="0"/>
            </a:endParaRPr>
          </a:p>
        </p:txBody>
      </p:sp>
      <p:sp>
        <p:nvSpPr>
          <p:cNvPr id="3" name="Espace réservé du numéro de diapositive 2">
            <a:extLst>
              <a:ext uri="{FF2B5EF4-FFF2-40B4-BE49-F238E27FC236}">
                <a16:creationId xmlns:a16="http://schemas.microsoft.com/office/drawing/2014/main" id="{95A9080C-AF13-5BE9-08FB-D28DF7960C45}"/>
              </a:ext>
            </a:extLst>
          </p:cNvPr>
          <p:cNvSpPr>
            <a:spLocks noGrp="1"/>
          </p:cNvSpPr>
          <p:nvPr>
            <p:ph type="sldNum" sz="quarter" idx="12"/>
          </p:nvPr>
        </p:nvSpPr>
        <p:spPr/>
        <p:txBody>
          <a:bodyPr/>
          <a:lstStyle/>
          <a:p>
            <a:fld id="{453A7091-84B4-4BFC-9E12-327F477830A7}" type="slidenum">
              <a:rPr lang="fr-FR" smtClean="0"/>
              <a:t>10</a:t>
            </a:fld>
            <a:endParaRPr lang="fr-FR"/>
          </a:p>
        </p:txBody>
      </p:sp>
    </p:spTree>
    <p:extLst>
      <p:ext uri="{BB962C8B-B14F-4D97-AF65-F5344CB8AC3E}">
        <p14:creationId xmlns:p14="http://schemas.microsoft.com/office/powerpoint/2010/main" val="42641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3">
            <a:extLst>
              <a:ext uri="{FF2B5EF4-FFF2-40B4-BE49-F238E27FC236}">
                <a16:creationId xmlns:a16="http://schemas.microsoft.com/office/drawing/2014/main" id="{4E619A7B-C779-482C-95F9-6A424741E236}"/>
              </a:ext>
            </a:extLst>
          </p:cNvPr>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p>
        </p:txBody>
      </p:sp>
      <p:sp>
        <p:nvSpPr>
          <p:cNvPr id="72" name="Freeform 2">
            <a:extLst>
              <a:ext uri="{FF2B5EF4-FFF2-40B4-BE49-F238E27FC236}">
                <a16:creationId xmlns:a16="http://schemas.microsoft.com/office/drawing/2014/main" id="{E80A33CA-D5BB-4014-35AB-BA7D00F0BA92}"/>
              </a:ext>
            </a:extLst>
          </p:cNvPr>
          <p:cNvSpPr/>
          <p:nvPr/>
        </p:nvSpPr>
        <p:spPr>
          <a:xfrm rot="10733564" flipH="1">
            <a:off x="-891450" y="-954837"/>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p>
        </p:txBody>
      </p:sp>
      <p:sp>
        <p:nvSpPr>
          <p:cNvPr id="73" name="Freeform 3">
            <a:extLst>
              <a:ext uri="{FF2B5EF4-FFF2-40B4-BE49-F238E27FC236}">
                <a16:creationId xmlns:a16="http://schemas.microsoft.com/office/drawing/2014/main" id="{94D285CF-4F08-6FD2-4A63-12EC5B5600AE}"/>
              </a:ext>
            </a:extLst>
          </p:cNvPr>
          <p:cNvSpPr/>
          <p:nvPr/>
        </p:nvSpPr>
        <p:spPr>
          <a:xfrm rot="5400000" flipH="1">
            <a:off x="-1299290" y="2507019"/>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4" name="AutoShape 4"/>
          <p:cNvSpPr/>
          <p:nvPr/>
        </p:nvSpPr>
        <p:spPr>
          <a:xfrm flipV="1">
            <a:off x="1984748" y="1008950"/>
            <a:ext cx="10307657" cy="15157"/>
          </a:xfrm>
          <a:prstGeom prst="line">
            <a:avLst/>
          </a:prstGeom>
          <a:ln w="57150" cap="flat">
            <a:solidFill>
              <a:srgbClr val="2E8C4A"/>
            </a:solidFill>
            <a:prstDash val="solid"/>
            <a:headEnd type="none" w="sm" len="sm"/>
            <a:tailEnd type="none" w="sm" len="sm"/>
          </a:ln>
        </p:spPr>
        <p:txBody>
          <a:bodyPr/>
          <a:lstStyle/>
          <a:p>
            <a:endParaRPr lang="fr-CM" sz="1200"/>
          </a:p>
        </p:txBody>
      </p:sp>
      <p:sp>
        <p:nvSpPr>
          <p:cNvPr id="15" name="TextBox 15"/>
          <p:cNvSpPr txBox="1"/>
          <p:nvPr/>
        </p:nvSpPr>
        <p:spPr>
          <a:xfrm>
            <a:off x="2312276" y="238567"/>
            <a:ext cx="9752405" cy="398251"/>
          </a:xfrm>
          <a:prstGeom prst="rect">
            <a:avLst/>
          </a:prstGeom>
        </p:spPr>
        <p:txBody>
          <a:bodyPr wrap="square" lIns="0" tIns="0" rIns="0" bIns="0" rtlCol="0" anchor="t">
            <a:spAutoFit/>
          </a:bodyPr>
          <a:lstStyle/>
          <a:p>
            <a:pPr algn="ctr">
              <a:lnSpc>
                <a:spcPts val="3360"/>
              </a:lnSpc>
            </a:pPr>
            <a:r>
              <a:rPr lang="fr-FR" sz="2400" dirty="0">
                <a:solidFill>
                  <a:schemeClr val="accent6"/>
                </a:solidFill>
                <a:latin typeface="Georgia" panose="02040502050405020303" pitchFamily="18" charset="0"/>
                <a:sym typeface="Bree Serif"/>
              </a:rPr>
              <a:t>Analyse</a:t>
            </a:r>
            <a:r>
              <a:rPr lang="en-US" sz="2400" dirty="0">
                <a:solidFill>
                  <a:schemeClr val="accent6"/>
                </a:solidFill>
                <a:latin typeface="Georgia" panose="02040502050405020303" pitchFamily="18" charset="0"/>
                <a:sym typeface="Bree Serif"/>
              </a:rPr>
              <a:t> sur tests de 1ère intention EAT et Elisa As, B, C, D, E, F, G et H</a:t>
            </a:r>
          </a:p>
        </p:txBody>
      </p:sp>
      <p:sp>
        <p:nvSpPr>
          <p:cNvPr id="69" name="AutoShape 61">
            <a:extLst>
              <a:ext uri="{FF2B5EF4-FFF2-40B4-BE49-F238E27FC236}">
                <a16:creationId xmlns:a16="http://schemas.microsoft.com/office/drawing/2014/main" id="{6AE2F817-F880-7B4D-A2EC-EF7A40C25E41}"/>
              </a:ext>
            </a:extLst>
          </p:cNvPr>
          <p:cNvSpPr/>
          <p:nvPr/>
        </p:nvSpPr>
        <p:spPr>
          <a:xfrm rot="5400000">
            <a:off x="-3017392" y="4114316"/>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79" name="TextBox 17">
            <a:extLst>
              <a:ext uri="{FF2B5EF4-FFF2-40B4-BE49-F238E27FC236}">
                <a16:creationId xmlns:a16="http://schemas.microsoft.com/office/drawing/2014/main" id="{48C600D7-A00E-B667-444C-7337C27EA125}"/>
              </a:ext>
            </a:extLst>
          </p:cNvPr>
          <p:cNvSpPr txBox="1"/>
          <p:nvPr/>
        </p:nvSpPr>
        <p:spPr>
          <a:xfrm rot="5400000">
            <a:off x="-206085" y="3455872"/>
            <a:ext cx="2504193" cy="343556"/>
          </a:xfrm>
          <a:prstGeom prst="rect">
            <a:avLst/>
          </a:prstGeom>
        </p:spPr>
        <p:txBody>
          <a:bodyPr wrap="square" lIns="0" tIns="0" rIns="0" bIns="0" rtlCol="0" anchor="t">
            <a:spAutoFit/>
          </a:bodyPr>
          <a:lstStyle/>
          <a:p>
            <a:pP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RESULTATS</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80" name="Graphique 78" descr="Graphique à barres avec tendance à la hausse">
            <a:extLst>
              <a:ext uri="{FF2B5EF4-FFF2-40B4-BE49-F238E27FC236}">
                <a16:creationId xmlns:a16="http://schemas.microsoft.com/office/drawing/2014/main" id="{9AC65938-4D0B-341C-91B7-6A9381E174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8202" y="1268663"/>
            <a:ext cx="802699" cy="802699"/>
          </a:xfrm>
          <a:prstGeom prst="rect">
            <a:avLst/>
          </a:prstGeom>
        </p:spPr>
      </p:pic>
      <p:graphicFrame>
        <p:nvGraphicFramePr>
          <p:cNvPr id="2" name="Tableau 1">
            <a:extLst>
              <a:ext uri="{FF2B5EF4-FFF2-40B4-BE49-F238E27FC236}">
                <a16:creationId xmlns:a16="http://schemas.microsoft.com/office/drawing/2014/main" id="{21DFBFCA-574C-48A4-90DF-917EAD785C9A}"/>
              </a:ext>
            </a:extLst>
          </p:cNvPr>
          <p:cNvGraphicFramePr>
            <a:graphicFrameLocks noGrp="1"/>
          </p:cNvGraphicFramePr>
          <p:nvPr>
            <p:extLst>
              <p:ext uri="{D42A27DB-BD31-4B8C-83A1-F6EECF244321}">
                <p14:modId xmlns:p14="http://schemas.microsoft.com/office/powerpoint/2010/main" val="2506551588"/>
              </p:ext>
            </p:extLst>
          </p:nvPr>
        </p:nvGraphicFramePr>
        <p:xfrm>
          <a:off x="2252638" y="1666881"/>
          <a:ext cx="4624857" cy="2744724"/>
        </p:xfrm>
        <a:graphic>
          <a:graphicData uri="http://schemas.openxmlformats.org/drawingml/2006/table">
            <a:tbl>
              <a:tblPr firstRow="1" firstCol="1" bandRow="1">
                <a:tableStyleId>{5940675A-B579-460E-94D1-54222C63F5DA}</a:tableStyleId>
              </a:tblPr>
              <a:tblGrid>
                <a:gridCol w="2508811">
                  <a:extLst>
                    <a:ext uri="{9D8B030D-6E8A-4147-A177-3AD203B41FA5}">
                      <a16:colId xmlns:a16="http://schemas.microsoft.com/office/drawing/2014/main" val="1433760536"/>
                    </a:ext>
                  </a:extLst>
                </a:gridCol>
                <a:gridCol w="2116046">
                  <a:extLst>
                    <a:ext uri="{9D8B030D-6E8A-4147-A177-3AD203B41FA5}">
                      <a16:colId xmlns:a16="http://schemas.microsoft.com/office/drawing/2014/main" val="2953031772"/>
                    </a:ext>
                  </a:extLst>
                </a:gridCol>
              </a:tblGrid>
              <a:tr h="317500">
                <a:tc>
                  <a:txBody>
                    <a:bodyPr/>
                    <a:lstStyle/>
                    <a:p>
                      <a:pPr marL="0" algn="ctr" defTabSz="914400" rtl="0" eaLnBrk="1" latinLnBrk="0" hangingPunct="1">
                        <a:lnSpc>
                          <a:spcPct val="107000"/>
                        </a:lnSpc>
                        <a:spcAft>
                          <a:spcPts val="800"/>
                        </a:spcAft>
                      </a:pPr>
                      <a:r>
                        <a:rPr lang="fr-FR" sz="2000" b="0" kern="1200" dirty="0">
                          <a:solidFill>
                            <a:schemeClr val="tx1"/>
                          </a:solidFill>
                          <a:effectLst/>
                          <a:latin typeface="Georgia" panose="02040502050405020303" pitchFamily="18" charset="0"/>
                          <a:ea typeface="+mn-ea"/>
                          <a:cs typeface="+mn-cs"/>
                        </a:rPr>
                        <a:t>Paramètres</a:t>
                      </a:r>
                    </a:p>
                  </a:txBody>
                  <a:tcPr marL="68580" marR="68580" marT="0" marB="0" anchor="ctr"/>
                </a:tc>
                <a:tc>
                  <a:txBody>
                    <a:bodyPr/>
                    <a:lstStyle/>
                    <a:p>
                      <a:pPr algn="ctr">
                        <a:lnSpc>
                          <a:spcPct val="107000"/>
                        </a:lnSpc>
                        <a:spcAft>
                          <a:spcPts val="800"/>
                        </a:spcAft>
                      </a:pPr>
                      <a:r>
                        <a:rPr lang="fr-FR" sz="2000" b="0" kern="1200" dirty="0" err="1">
                          <a:solidFill>
                            <a:schemeClr val="tx1"/>
                          </a:solidFill>
                          <a:effectLst/>
                          <a:latin typeface="Georgia" panose="02040502050405020303" pitchFamily="18" charset="0"/>
                          <a:ea typeface="+mn-ea"/>
                          <a:cs typeface="+mn-cs"/>
                        </a:rPr>
                        <a:t>Posteriors</a:t>
                      </a:r>
                      <a:r>
                        <a:rPr lang="fr-FR" sz="2000" b="0" kern="1200" dirty="0">
                          <a:solidFill>
                            <a:schemeClr val="tx1"/>
                          </a:solidFill>
                          <a:effectLst/>
                          <a:latin typeface="Georgia" panose="02040502050405020303" pitchFamily="18" charset="0"/>
                          <a:ea typeface="+mn-ea"/>
                          <a:cs typeface="+mn-cs"/>
                        </a:rPr>
                        <a:t> (%)</a:t>
                      </a:r>
                    </a:p>
                  </a:txBody>
                  <a:tcPr marL="68580" marR="68580" marT="0" marB="0" anchor="ctr"/>
                </a:tc>
                <a:extLst>
                  <a:ext uri="{0D108BD9-81ED-4DB2-BD59-A6C34878D82A}">
                    <a16:rowId xmlns:a16="http://schemas.microsoft.com/office/drawing/2014/main" val="4041291445"/>
                  </a:ext>
                </a:extLst>
              </a:tr>
              <a:tr h="158750">
                <a:tc>
                  <a:txBody>
                    <a:bodyPr/>
                    <a:lstStyle/>
                    <a:p>
                      <a:pPr marL="0" algn="ctr" defTabSz="914400" rtl="0" eaLnBrk="1" latinLnBrk="0" hangingPunct="1">
                        <a:lnSpc>
                          <a:spcPct val="107000"/>
                        </a:lnSpc>
                        <a:spcAft>
                          <a:spcPts val="800"/>
                        </a:spcAft>
                      </a:pPr>
                      <a:r>
                        <a:rPr lang="fr-FR" sz="2000" b="1" i="0" kern="1200" dirty="0">
                          <a:solidFill>
                            <a:schemeClr val="tx1"/>
                          </a:solidFill>
                          <a:effectLst/>
                          <a:latin typeface="Georgia" panose="02040502050405020303" pitchFamily="18" charset="0"/>
                          <a:ea typeface="+mn-ea"/>
                          <a:cs typeface="+mn-cs"/>
                        </a:rPr>
                        <a:t>Sensibilité EAT</a:t>
                      </a:r>
                    </a:p>
                  </a:txBody>
                  <a:tcPr marL="68580" marR="68580" marT="0" marB="0"/>
                </a:tc>
                <a:tc>
                  <a:txBody>
                    <a:bodyPr/>
                    <a:lstStyle/>
                    <a:p>
                      <a:pPr marL="0" algn="ctr" defTabSz="914400" rtl="0" eaLnBrk="1" latinLnBrk="0" hangingPunct="1">
                        <a:lnSpc>
                          <a:spcPct val="107000"/>
                        </a:lnSpc>
                        <a:spcAft>
                          <a:spcPts val="800"/>
                        </a:spcAft>
                      </a:pPr>
                      <a:r>
                        <a:rPr lang="fr-FR" sz="2000" b="1" i="0" kern="1200" dirty="0">
                          <a:solidFill>
                            <a:schemeClr val="tx1"/>
                          </a:solidFill>
                          <a:effectLst/>
                          <a:latin typeface="Cambria Math" panose="02040503050406030204" pitchFamily="18" charset="0"/>
                          <a:ea typeface="+mn-ea"/>
                          <a:cs typeface="+mn-cs"/>
                        </a:rPr>
                        <a:t>91,1 [88,2 – 93,2]</a:t>
                      </a:r>
                    </a:p>
                  </a:txBody>
                  <a:tcPr marL="68580" marR="68580" marT="0" marB="0"/>
                </a:tc>
                <a:extLst>
                  <a:ext uri="{0D108BD9-81ED-4DB2-BD59-A6C34878D82A}">
                    <a16:rowId xmlns:a16="http://schemas.microsoft.com/office/drawing/2014/main" val="3834541823"/>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Sensibilité test B</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92,0 [89,2 – 94,2]</a:t>
                      </a:r>
                    </a:p>
                  </a:txBody>
                  <a:tcPr marL="68580" marR="68580" marT="0" marB="0"/>
                </a:tc>
                <a:extLst>
                  <a:ext uri="{0D108BD9-81ED-4DB2-BD59-A6C34878D82A}">
                    <a16:rowId xmlns:a16="http://schemas.microsoft.com/office/drawing/2014/main" val="634112236"/>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Sensibilité test C</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91,7 [89,0 – 93,8]</a:t>
                      </a:r>
                    </a:p>
                  </a:txBody>
                  <a:tcPr marL="68580" marR="68580" marT="0" marB="0"/>
                </a:tc>
                <a:extLst>
                  <a:ext uri="{0D108BD9-81ED-4DB2-BD59-A6C34878D82A}">
                    <a16:rowId xmlns:a16="http://schemas.microsoft.com/office/drawing/2014/main" val="1560750609"/>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Sensibilité test D</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91,8 [89,2 – 94,0]</a:t>
                      </a:r>
                    </a:p>
                  </a:txBody>
                  <a:tcPr marL="68580" marR="68580" marT="0" marB="0"/>
                </a:tc>
                <a:extLst>
                  <a:ext uri="{0D108BD9-81ED-4DB2-BD59-A6C34878D82A}">
                    <a16:rowId xmlns:a16="http://schemas.microsoft.com/office/drawing/2014/main" val="2575005108"/>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Sensibilité test F</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92,3 [88,7 – 95,0]</a:t>
                      </a:r>
                    </a:p>
                  </a:txBody>
                  <a:tcPr marL="68580" marR="68580" marT="0" marB="0"/>
                </a:tc>
                <a:extLst>
                  <a:ext uri="{0D108BD9-81ED-4DB2-BD59-A6C34878D82A}">
                    <a16:rowId xmlns:a16="http://schemas.microsoft.com/office/drawing/2014/main" val="990318610"/>
                  </a:ext>
                </a:extLst>
              </a:tr>
              <a:tr h="158750">
                <a:tc>
                  <a:txBody>
                    <a:bodyPr/>
                    <a:lstStyle/>
                    <a:p>
                      <a:pPr marL="0" algn="ctr" defTabSz="914400" rtl="0" eaLnBrk="1" latinLnBrk="0" hangingPunct="1">
                        <a:lnSpc>
                          <a:spcPct val="107000"/>
                        </a:lnSpc>
                        <a:spcAft>
                          <a:spcPts val="800"/>
                        </a:spcAft>
                      </a:pPr>
                      <a:r>
                        <a:rPr lang="fr-FR" sz="2000" b="1" i="0" kern="1200" dirty="0">
                          <a:solidFill>
                            <a:schemeClr val="tx1"/>
                          </a:solidFill>
                          <a:effectLst/>
                          <a:latin typeface="Georgia" panose="02040502050405020303" pitchFamily="18" charset="0"/>
                          <a:ea typeface="+mn-ea"/>
                          <a:cs typeface="+mn-cs"/>
                        </a:rPr>
                        <a:t>Sensibilité test G</a:t>
                      </a:r>
                    </a:p>
                  </a:txBody>
                  <a:tcPr marL="68580" marR="68580" marT="0" marB="0"/>
                </a:tc>
                <a:tc>
                  <a:txBody>
                    <a:bodyPr/>
                    <a:lstStyle/>
                    <a:p>
                      <a:pPr marL="0" algn="ctr" defTabSz="914400" rtl="0" eaLnBrk="1" latinLnBrk="0" hangingPunct="1">
                        <a:lnSpc>
                          <a:spcPct val="107000"/>
                        </a:lnSpc>
                        <a:spcAft>
                          <a:spcPts val="800"/>
                        </a:spcAft>
                      </a:pPr>
                      <a:r>
                        <a:rPr lang="fr-FR" sz="2000" b="1" i="0" kern="1200" dirty="0">
                          <a:solidFill>
                            <a:schemeClr val="tx1"/>
                          </a:solidFill>
                          <a:effectLst/>
                          <a:latin typeface="Cambria Math" panose="02040503050406030204" pitchFamily="18" charset="0"/>
                          <a:ea typeface="+mn-ea"/>
                          <a:cs typeface="+mn-cs"/>
                        </a:rPr>
                        <a:t>99,2 [97,1 – 100]</a:t>
                      </a:r>
                    </a:p>
                  </a:txBody>
                  <a:tcPr marL="68580" marR="68580" marT="0" marB="0"/>
                </a:tc>
                <a:extLst>
                  <a:ext uri="{0D108BD9-81ED-4DB2-BD59-A6C34878D82A}">
                    <a16:rowId xmlns:a16="http://schemas.microsoft.com/office/drawing/2014/main" val="1857363967"/>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Sensibilité test H</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92,0 [89,5 – 94,3]</a:t>
                      </a:r>
                    </a:p>
                  </a:txBody>
                  <a:tcPr marL="68580" marR="68580" marT="0" marB="0"/>
                </a:tc>
                <a:extLst>
                  <a:ext uri="{0D108BD9-81ED-4DB2-BD59-A6C34878D82A}">
                    <a16:rowId xmlns:a16="http://schemas.microsoft.com/office/drawing/2014/main" val="4082828388"/>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Prévalence </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40,3 [35,6 – 45,1]</a:t>
                      </a:r>
                    </a:p>
                  </a:txBody>
                  <a:tcPr marL="68580" marR="68580" marT="0" marB="0"/>
                </a:tc>
                <a:extLst>
                  <a:ext uri="{0D108BD9-81ED-4DB2-BD59-A6C34878D82A}">
                    <a16:rowId xmlns:a16="http://schemas.microsoft.com/office/drawing/2014/main" val="173361246"/>
                  </a:ext>
                </a:extLst>
              </a:tr>
            </a:tbl>
          </a:graphicData>
        </a:graphic>
      </p:graphicFrame>
      <p:graphicFrame>
        <p:nvGraphicFramePr>
          <p:cNvPr id="17" name="Tableau 16">
            <a:extLst>
              <a:ext uri="{FF2B5EF4-FFF2-40B4-BE49-F238E27FC236}">
                <a16:creationId xmlns:a16="http://schemas.microsoft.com/office/drawing/2014/main" id="{7076F93E-6459-4983-ADA1-422AE231657E}"/>
              </a:ext>
            </a:extLst>
          </p:cNvPr>
          <p:cNvGraphicFramePr>
            <a:graphicFrameLocks noGrp="1"/>
          </p:cNvGraphicFramePr>
          <p:nvPr>
            <p:extLst>
              <p:ext uri="{D42A27DB-BD31-4B8C-83A1-F6EECF244321}">
                <p14:modId xmlns:p14="http://schemas.microsoft.com/office/powerpoint/2010/main" val="3170070936"/>
              </p:ext>
            </p:extLst>
          </p:nvPr>
        </p:nvGraphicFramePr>
        <p:xfrm>
          <a:off x="7144950" y="1666881"/>
          <a:ext cx="4624857" cy="2441321"/>
        </p:xfrm>
        <a:graphic>
          <a:graphicData uri="http://schemas.openxmlformats.org/drawingml/2006/table">
            <a:tbl>
              <a:tblPr firstRow="1" firstCol="1" bandRow="1">
                <a:tableStyleId>{5940675A-B579-460E-94D1-54222C63F5DA}</a:tableStyleId>
              </a:tblPr>
              <a:tblGrid>
                <a:gridCol w="2556773">
                  <a:extLst>
                    <a:ext uri="{9D8B030D-6E8A-4147-A177-3AD203B41FA5}">
                      <a16:colId xmlns:a16="http://schemas.microsoft.com/office/drawing/2014/main" val="1433760536"/>
                    </a:ext>
                  </a:extLst>
                </a:gridCol>
                <a:gridCol w="2068084">
                  <a:extLst>
                    <a:ext uri="{9D8B030D-6E8A-4147-A177-3AD203B41FA5}">
                      <a16:colId xmlns:a16="http://schemas.microsoft.com/office/drawing/2014/main" val="2953031772"/>
                    </a:ext>
                  </a:extLst>
                </a:gridCol>
              </a:tblGrid>
              <a:tr h="317500">
                <a:tc>
                  <a:txBody>
                    <a:bodyPr/>
                    <a:lstStyle/>
                    <a:p>
                      <a:pPr marL="0" algn="ctr" defTabSz="914400" rtl="0" eaLnBrk="1" latinLnBrk="0" hangingPunct="1">
                        <a:lnSpc>
                          <a:spcPct val="107000"/>
                        </a:lnSpc>
                        <a:spcAft>
                          <a:spcPts val="800"/>
                        </a:spcAft>
                      </a:pPr>
                      <a:r>
                        <a:rPr lang="fr-FR" sz="2000" b="0" kern="1200" dirty="0">
                          <a:solidFill>
                            <a:schemeClr val="tx1"/>
                          </a:solidFill>
                          <a:effectLst/>
                          <a:latin typeface="Georgia" panose="02040502050405020303" pitchFamily="18" charset="0"/>
                          <a:ea typeface="+mn-ea"/>
                          <a:cs typeface="+mn-cs"/>
                        </a:rPr>
                        <a:t>Paramètres</a:t>
                      </a:r>
                    </a:p>
                  </a:txBody>
                  <a:tcPr marL="68580" marR="68580" marT="0" marB="0" anchor="ctr"/>
                </a:tc>
                <a:tc>
                  <a:txBody>
                    <a:bodyPr/>
                    <a:lstStyle/>
                    <a:p>
                      <a:pPr algn="ctr">
                        <a:lnSpc>
                          <a:spcPct val="107000"/>
                        </a:lnSpc>
                        <a:spcAft>
                          <a:spcPts val="800"/>
                        </a:spcAft>
                      </a:pPr>
                      <a:r>
                        <a:rPr lang="fr-FR" sz="2000" b="0" kern="1200" dirty="0" err="1">
                          <a:solidFill>
                            <a:schemeClr val="tx1"/>
                          </a:solidFill>
                          <a:effectLst/>
                          <a:latin typeface="Georgia" panose="02040502050405020303" pitchFamily="18" charset="0"/>
                          <a:ea typeface="+mn-ea"/>
                          <a:cs typeface="+mn-cs"/>
                        </a:rPr>
                        <a:t>Posteriors</a:t>
                      </a:r>
                      <a:r>
                        <a:rPr lang="fr-FR" sz="2000" b="0" kern="1200" dirty="0">
                          <a:solidFill>
                            <a:schemeClr val="tx1"/>
                          </a:solidFill>
                          <a:effectLst/>
                          <a:latin typeface="Georgia" panose="02040502050405020303" pitchFamily="18" charset="0"/>
                          <a:ea typeface="+mn-ea"/>
                          <a:cs typeface="+mn-cs"/>
                        </a:rPr>
                        <a:t> (%)</a:t>
                      </a:r>
                    </a:p>
                  </a:txBody>
                  <a:tcPr marL="68580" marR="68580" marT="0" marB="0" anchor="ctr"/>
                </a:tc>
                <a:extLst>
                  <a:ext uri="{0D108BD9-81ED-4DB2-BD59-A6C34878D82A}">
                    <a16:rowId xmlns:a16="http://schemas.microsoft.com/office/drawing/2014/main" val="4041291445"/>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EAT</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93,0 [90,8 – 94,9]</a:t>
                      </a:r>
                    </a:p>
                  </a:txBody>
                  <a:tcPr marL="68580" marR="68580" marT="0" marB="0"/>
                </a:tc>
                <a:extLst>
                  <a:ext uri="{0D108BD9-81ED-4DB2-BD59-A6C34878D82A}">
                    <a16:rowId xmlns:a16="http://schemas.microsoft.com/office/drawing/2014/main" val="2807627814"/>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B</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92,5 [90,4 – 94,3]</a:t>
                      </a:r>
                    </a:p>
                  </a:txBody>
                  <a:tcPr marL="68580" marR="68580" marT="0" marB="0"/>
                </a:tc>
                <a:extLst>
                  <a:ext uri="{0D108BD9-81ED-4DB2-BD59-A6C34878D82A}">
                    <a16:rowId xmlns:a16="http://schemas.microsoft.com/office/drawing/2014/main" val="3882783778"/>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C</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92,3 [90,1 – 94,1]</a:t>
                      </a:r>
                    </a:p>
                  </a:txBody>
                  <a:tcPr marL="68580" marR="68580" marT="0" marB="0"/>
                </a:tc>
                <a:extLst>
                  <a:ext uri="{0D108BD9-81ED-4DB2-BD59-A6C34878D82A}">
                    <a16:rowId xmlns:a16="http://schemas.microsoft.com/office/drawing/2014/main" val="3023801401"/>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D</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93,1 [90,9 – 95,2]</a:t>
                      </a:r>
                    </a:p>
                  </a:txBody>
                  <a:tcPr marL="68580" marR="68580" marT="0" marB="0"/>
                </a:tc>
                <a:extLst>
                  <a:ext uri="{0D108BD9-81ED-4DB2-BD59-A6C34878D82A}">
                    <a16:rowId xmlns:a16="http://schemas.microsoft.com/office/drawing/2014/main" val="1264029945"/>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F</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92,8 [90,8 – 94,6]</a:t>
                      </a:r>
                    </a:p>
                  </a:txBody>
                  <a:tcPr marL="68580" marR="68580" marT="0" marB="0"/>
                </a:tc>
                <a:extLst>
                  <a:ext uri="{0D108BD9-81ED-4DB2-BD59-A6C34878D82A}">
                    <a16:rowId xmlns:a16="http://schemas.microsoft.com/office/drawing/2014/main" val="3238852898"/>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G</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64,5 [59,5 – 69,3]</a:t>
                      </a:r>
                    </a:p>
                  </a:txBody>
                  <a:tcPr marL="68580" marR="68580" marT="0" marB="0"/>
                </a:tc>
                <a:extLst>
                  <a:ext uri="{0D108BD9-81ED-4DB2-BD59-A6C34878D82A}">
                    <a16:rowId xmlns:a16="http://schemas.microsoft.com/office/drawing/2014/main" val="942871430"/>
                  </a:ext>
                </a:extLst>
              </a:tr>
              <a:tr h="158750">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Georgia" panose="02040502050405020303" pitchFamily="18" charset="0"/>
                          <a:ea typeface="+mn-ea"/>
                          <a:cs typeface="+mn-cs"/>
                        </a:rPr>
                        <a:t>Spécificité test H</a:t>
                      </a:r>
                    </a:p>
                  </a:txBody>
                  <a:tcPr marL="68580" marR="68580" marT="0" marB="0"/>
                </a:tc>
                <a:tc>
                  <a:txBody>
                    <a:bodyPr/>
                    <a:lstStyle/>
                    <a:p>
                      <a:pPr marL="0" algn="ctr" defTabSz="914400" rtl="0" eaLnBrk="1" latinLnBrk="0" hangingPunct="1">
                        <a:lnSpc>
                          <a:spcPct val="107000"/>
                        </a:lnSpc>
                        <a:spcAft>
                          <a:spcPts val="800"/>
                        </a:spcAft>
                      </a:pPr>
                      <a:r>
                        <a:rPr lang="fr-FR" sz="2000" i="0" kern="1200" dirty="0">
                          <a:solidFill>
                            <a:schemeClr val="tx1"/>
                          </a:solidFill>
                          <a:effectLst/>
                          <a:latin typeface="Cambria Math" panose="02040503050406030204" pitchFamily="18" charset="0"/>
                          <a:ea typeface="+mn-ea"/>
                          <a:cs typeface="+mn-cs"/>
                        </a:rPr>
                        <a:t>87,0 [83,4 – 90,3]</a:t>
                      </a:r>
                    </a:p>
                  </a:txBody>
                  <a:tcPr marL="68580" marR="68580" marT="0" marB="0"/>
                </a:tc>
                <a:extLst>
                  <a:ext uri="{0D108BD9-81ED-4DB2-BD59-A6C34878D82A}">
                    <a16:rowId xmlns:a16="http://schemas.microsoft.com/office/drawing/2014/main" val="3936865637"/>
                  </a:ext>
                </a:extLst>
              </a:tr>
            </a:tbl>
          </a:graphicData>
        </a:graphic>
      </p:graphicFrame>
      <p:sp>
        <p:nvSpPr>
          <p:cNvPr id="3" name="ZoneTexte 2">
            <a:extLst>
              <a:ext uri="{FF2B5EF4-FFF2-40B4-BE49-F238E27FC236}">
                <a16:creationId xmlns:a16="http://schemas.microsoft.com/office/drawing/2014/main" id="{D0D01A7E-B386-4D45-8A23-02BCE34874A5}"/>
              </a:ext>
            </a:extLst>
          </p:cNvPr>
          <p:cNvSpPr txBox="1"/>
          <p:nvPr/>
        </p:nvSpPr>
        <p:spPr>
          <a:xfrm>
            <a:off x="2281202" y="4724541"/>
            <a:ext cx="9983823" cy="1323439"/>
          </a:xfrm>
          <a:prstGeom prst="rect">
            <a:avLst/>
          </a:prstGeom>
          <a:noFill/>
        </p:spPr>
        <p:txBody>
          <a:bodyPr wrap="none" rtlCol="0">
            <a:spAutoFit/>
          </a:bodyPr>
          <a:lstStyle/>
          <a:p>
            <a:pPr marL="342900" indent="-342900">
              <a:buFont typeface="Wingdings" panose="05000000000000000000" pitchFamily="2" charset="2"/>
              <a:buChar char="q"/>
            </a:pPr>
            <a:r>
              <a:rPr lang="fr-FR" sz="2000" dirty="0">
                <a:latin typeface="Georgia" panose="02040502050405020303" pitchFamily="18" charset="0"/>
              </a:rPr>
              <a:t>Modèles avec </a:t>
            </a:r>
            <a:r>
              <a:rPr lang="fr-FR" sz="2000" dirty="0" err="1">
                <a:latin typeface="Georgia" panose="02040502050405020303" pitchFamily="18" charset="0"/>
              </a:rPr>
              <a:t>priors</a:t>
            </a:r>
            <a:r>
              <a:rPr lang="fr-FR" sz="2000" dirty="0">
                <a:latin typeface="Georgia" panose="02040502050405020303" pitchFamily="18" charset="0"/>
              </a:rPr>
              <a:t> issus de la littérature</a:t>
            </a:r>
          </a:p>
          <a:p>
            <a:pPr marL="800100" lvl="1" indent="-342900">
              <a:buFont typeface="Wingdings" panose="05000000000000000000" pitchFamily="2" charset="2"/>
              <a:buChar char="q"/>
            </a:pPr>
            <a:r>
              <a:rPr lang="fr-FR" sz="2000" b="1" dirty="0">
                <a:latin typeface="Georgia" panose="02040502050405020303" pitchFamily="18" charset="0"/>
              </a:rPr>
              <a:t>Faiblement informatifs </a:t>
            </a:r>
            <a:r>
              <a:rPr lang="fr-FR" sz="2000" dirty="0">
                <a:latin typeface="Georgia" panose="02040502050405020303" pitchFamily="18" charset="0"/>
              </a:rPr>
              <a:t>: DIC = 1432,4 (Distributions </a:t>
            </a:r>
            <a:r>
              <a:rPr lang="fr-FR" sz="2000" dirty="0" err="1">
                <a:latin typeface="Georgia" panose="02040502050405020303" pitchFamily="18" charset="0"/>
              </a:rPr>
              <a:t>posteriors</a:t>
            </a:r>
            <a:r>
              <a:rPr lang="fr-FR" sz="2000" dirty="0">
                <a:latin typeface="Georgia" panose="02040502050405020303" pitchFamily="18" charset="0"/>
              </a:rPr>
              <a:t> similaires)</a:t>
            </a:r>
          </a:p>
          <a:p>
            <a:pPr marL="800100" lvl="1" indent="-342900">
              <a:buFont typeface="Wingdings" panose="05000000000000000000" pitchFamily="2" charset="2"/>
              <a:buChar char="q"/>
            </a:pPr>
            <a:r>
              <a:rPr lang="fr-FR" sz="2000" dirty="0">
                <a:latin typeface="Georgia" panose="02040502050405020303" pitchFamily="18" charset="0"/>
              </a:rPr>
              <a:t>Autres </a:t>
            </a:r>
            <a:r>
              <a:rPr lang="fr-FR" sz="2000" dirty="0" err="1">
                <a:latin typeface="Georgia" panose="02040502050405020303" pitchFamily="18" charset="0"/>
              </a:rPr>
              <a:t>priors</a:t>
            </a:r>
            <a:r>
              <a:rPr lang="fr-FR" sz="2000" dirty="0">
                <a:latin typeface="Georgia" panose="02040502050405020303" pitchFamily="18" charset="0"/>
              </a:rPr>
              <a:t> : DIC &gt; 1550,6</a:t>
            </a:r>
          </a:p>
          <a:p>
            <a:endParaRPr lang="fr-FR" sz="2000" dirty="0">
              <a:latin typeface="Georgia" panose="02040502050405020303" pitchFamily="18" charset="0"/>
            </a:endParaRPr>
          </a:p>
        </p:txBody>
      </p:sp>
      <p:sp>
        <p:nvSpPr>
          <p:cNvPr id="5" name="ZoneTexte 4">
            <a:extLst>
              <a:ext uri="{FF2B5EF4-FFF2-40B4-BE49-F238E27FC236}">
                <a16:creationId xmlns:a16="http://schemas.microsoft.com/office/drawing/2014/main" id="{613B7640-2292-498D-B6F3-85F6911D105A}"/>
              </a:ext>
            </a:extLst>
          </p:cNvPr>
          <p:cNvSpPr txBox="1"/>
          <p:nvPr/>
        </p:nvSpPr>
        <p:spPr>
          <a:xfrm>
            <a:off x="2296638" y="1193453"/>
            <a:ext cx="7482271" cy="400110"/>
          </a:xfrm>
          <a:prstGeom prst="rect">
            <a:avLst/>
          </a:prstGeom>
          <a:noFill/>
        </p:spPr>
        <p:txBody>
          <a:bodyPr wrap="square" rtlCol="0">
            <a:spAutoFit/>
          </a:bodyPr>
          <a:lstStyle/>
          <a:p>
            <a:pPr marL="285750" indent="-285750">
              <a:buFont typeface="Wingdings" panose="05000000000000000000" pitchFamily="2" charset="2"/>
              <a:buChar char="q"/>
            </a:pPr>
            <a:r>
              <a:rPr lang="fr-FR" sz="2000" dirty="0">
                <a:latin typeface="Georgia" panose="02040502050405020303" pitchFamily="18" charset="0"/>
              </a:rPr>
              <a:t>Modèle avec </a:t>
            </a:r>
            <a:r>
              <a:rPr lang="fr-FR" sz="2000" b="1" dirty="0" err="1">
                <a:latin typeface="Georgia" panose="02040502050405020303" pitchFamily="18" charset="0"/>
              </a:rPr>
              <a:t>priors</a:t>
            </a:r>
            <a:r>
              <a:rPr lang="fr-FR" sz="2000" b="1" dirty="0">
                <a:latin typeface="Georgia" panose="02040502050405020303" pitchFamily="18" charset="0"/>
              </a:rPr>
              <a:t> empiriques </a:t>
            </a:r>
            <a:r>
              <a:rPr lang="fr-FR" sz="2000" dirty="0">
                <a:latin typeface="Georgia" panose="02040502050405020303" pitchFamily="18" charset="0"/>
              </a:rPr>
              <a:t>(DIC : 1430,4)</a:t>
            </a:r>
            <a:endParaRPr lang="fr-FR" sz="2000" b="1" dirty="0">
              <a:latin typeface="Georgia" panose="02040502050405020303" pitchFamily="18" charset="0"/>
            </a:endParaRPr>
          </a:p>
        </p:txBody>
      </p:sp>
      <p:sp>
        <p:nvSpPr>
          <p:cNvPr id="6" name="Espace réservé du numéro de diapositive 5">
            <a:extLst>
              <a:ext uri="{FF2B5EF4-FFF2-40B4-BE49-F238E27FC236}">
                <a16:creationId xmlns:a16="http://schemas.microsoft.com/office/drawing/2014/main" id="{A5AA6856-66D4-FA9E-3708-D134776BE7D6}"/>
              </a:ext>
            </a:extLst>
          </p:cNvPr>
          <p:cNvSpPr>
            <a:spLocks noGrp="1"/>
          </p:cNvSpPr>
          <p:nvPr>
            <p:ph type="sldNum" sz="quarter" idx="12"/>
          </p:nvPr>
        </p:nvSpPr>
        <p:spPr/>
        <p:txBody>
          <a:bodyPr/>
          <a:lstStyle/>
          <a:p>
            <a:fld id="{453A7091-84B4-4BFC-9E12-327F477830A7}" type="slidenum">
              <a:rPr lang="fr-FR" smtClean="0"/>
              <a:t>11</a:t>
            </a:fld>
            <a:endParaRPr lang="fr-FR"/>
          </a:p>
        </p:txBody>
      </p:sp>
    </p:spTree>
    <p:extLst>
      <p:ext uri="{BB962C8B-B14F-4D97-AF65-F5344CB8AC3E}">
        <p14:creationId xmlns:p14="http://schemas.microsoft.com/office/powerpoint/2010/main" val="3268565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61">
            <a:extLst>
              <a:ext uri="{FF2B5EF4-FFF2-40B4-BE49-F238E27FC236}">
                <a16:creationId xmlns:a16="http://schemas.microsoft.com/office/drawing/2014/main" id="{5E93A798-958F-F83C-8AF1-D14D761AD76D}"/>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7" name="TextBox 17">
            <a:extLst>
              <a:ext uri="{FF2B5EF4-FFF2-40B4-BE49-F238E27FC236}">
                <a16:creationId xmlns:a16="http://schemas.microsoft.com/office/drawing/2014/main" id="{50D039E5-ABBC-B37C-C9E2-217FFF55A63E}"/>
              </a:ext>
            </a:extLst>
          </p:cNvPr>
          <p:cNvSpPr txBox="1"/>
          <p:nvPr/>
        </p:nvSpPr>
        <p:spPr>
          <a:xfrm rot="5400000">
            <a:off x="-1216264" y="3607895"/>
            <a:ext cx="4460558" cy="344838"/>
          </a:xfrm>
          <a:prstGeom prst="rect">
            <a:avLst/>
          </a:prstGeom>
        </p:spPr>
        <p:txBody>
          <a:bodyPr wrap="square" lIns="0" tIns="0" rIns="0" bIns="0" rtlCol="0" anchor="t">
            <a:spAutoFit/>
          </a:bodyPr>
          <a:lstStyle/>
          <a:p>
            <a:pPr algn="ct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DISCUSSION</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8" name="Picture 2" descr="la norme ">
            <a:extLst>
              <a:ext uri="{FF2B5EF4-FFF2-40B4-BE49-F238E27FC236}">
                <a16:creationId xmlns:a16="http://schemas.microsoft.com/office/drawing/2014/main" id="{09A29C1E-056C-866A-6C1A-0565A4FAFF61}"/>
              </a:ext>
            </a:extLst>
          </p:cNvPr>
          <p:cNvPicPr>
            <a:picLocks noChangeAspect="1" noChangeArrowheads="1"/>
          </p:cNvPicPr>
          <p:nvPr/>
        </p:nvPicPr>
        <p:blipFill>
          <a:blip r:embed="rId5">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32275" y="1288552"/>
            <a:ext cx="590010" cy="590010"/>
          </a:xfrm>
          <a:prstGeom prst="rect">
            <a:avLst/>
          </a:prstGeom>
          <a:noFill/>
          <a:extLst>
            <a:ext uri="{909E8E84-426E-40DD-AFC4-6F175D3DCCD1}">
              <a14:hiddenFill xmlns:a14="http://schemas.microsoft.com/office/drawing/2010/main">
                <a:solidFill>
                  <a:srgbClr val="FFFFFF"/>
                </a:solidFill>
              </a14:hiddenFill>
            </a:ext>
          </a:extLst>
        </p:spPr>
      </p:pic>
      <p:sp>
        <p:nvSpPr>
          <p:cNvPr id="44" name="ZoneTexte 43">
            <a:extLst>
              <a:ext uri="{FF2B5EF4-FFF2-40B4-BE49-F238E27FC236}">
                <a16:creationId xmlns:a16="http://schemas.microsoft.com/office/drawing/2014/main" id="{BD31F70E-B44E-4304-BD65-830677D37FD2}"/>
              </a:ext>
            </a:extLst>
          </p:cNvPr>
          <p:cNvSpPr txBox="1"/>
          <p:nvPr/>
        </p:nvSpPr>
        <p:spPr>
          <a:xfrm>
            <a:off x="248455" y="437071"/>
            <a:ext cx="13348854" cy="387286"/>
          </a:xfrm>
          <a:prstGeom prst="rect">
            <a:avLst/>
          </a:prstGeom>
          <a:noFill/>
        </p:spPr>
        <p:txBody>
          <a:bodyPr wrap="square">
            <a:spAutoFit/>
          </a:bodyPr>
          <a:lstStyle/>
          <a:p>
            <a:pPr>
              <a:lnSpc>
                <a:spcPts val="2250"/>
              </a:lnSpc>
            </a:pPr>
            <a:r>
              <a:rPr lang="en-US" sz="1800" dirty="0">
                <a:solidFill>
                  <a:srgbClr val="2E8C4A"/>
                </a:solidFill>
                <a:latin typeface="Bree Serif"/>
                <a:ea typeface="Bree Serif"/>
                <a:cs typeface="Bree Serif"/>
                <a:sym typeface="Bree Serif"/>
              </a:rPr>
              <a:t>				</a:t>
            </a:r>
            <a:r>
              <a:rPr lang="en-US" sz="2400" dirty="0" err="1">
                <a:solidFill>
                  <a:schemeClr val="accent6"/>
                </a:solidFill>
                <a:latin typeface="Georgia" panose="02040502050405020303" pitchFamily="18" charset="0"/>
                <a:sym typeface="Bree Serif"/>
              </a:rPr>
              <a:t>Principaux</a:t>
            </a:r>
            <a:r>
              <a:rPr lang="en-US" sz="2400" dirty="0">
                <a:solidFill>
                  <a:schemeClr val="accent6"/>
                </a:solidFill>
                <a:latin typeface="Georgia" panose="02040502050405020303" pitchFamily="18" charset="0"/>
                <a:sym typeface="Bree Serif"/>
              </a:rPr>
              <a:t> </a:t>
            </a:r>
            <a:r>
              <a:rPr lang="en-US" sz="2400" dirty="0" err="1">
                <a:solidFill>
                  <a:schemeClr val="accent6"/>
                </a:solidFill>
                <a:latin typeface="Georgia" panose="02040502050405020303" pitchFamily="18" charset="0"/>
                <a:sym typeface="Bree Serif"/>
              </a:rPr>
              <a:t>résultats</a:t>
            </a:r>
            <a:endParaRPr lang="en-US" sz="2400" dirty="0">
              <a:solidFill>
                <a:schemeClr val="accent6"/>
              </a:solidFill>
              <a:latin typeface="Georgia" panose="02040502050405020303" pitchFamily="18" charset="0"/>
              <a:sym typeface="Bree Serif"/>
            </a:endParaRPr>
          </a:p>
        </p:txBody>
      </p:sp>
      <p:sp>
        <p:nvSpPr>
          <p:cNvPr id="24" name="TextBox 17">
            <a:extLst>
              <a:ext uri="{FF2B5EF4-FFF2-40B4-BE49-F238E27FC236}">
                <a16:creationId xmlns:a16="http://schemas.microsoft.com/office/drawing/2014/main" id="{1A2842CA-8998-4900-86D5-07EF9C75C420}"/>
              </a:ext>
            </a:extLst>
          </p:cNvPr>
          <p:cNvSpPr txBox="1"/>
          <p:nvPr/>
        </p:nvSpPr>
        <p:spPr>
          <a:xfrm>
            <a:off x="2428564" y="1413212"/>
            <a:ext cx="8667576" cy="4966681"/>
          </a:xfrm>
          <a:prstGeom prst="rect">
            <a:avLst/>
          </a:prstGeom>
        </p:spPr>
        <p:txBody>
          <a:bodyPr wrap="square" lIns="0" tIns="0" rIns="0" bIns="0" rtlCol="0" anchor="t">
            <a:spAutoFit/>
          </a:bodyPr>
          <a:lstStyle/>
          <a:p>
            <a:pPr marL="285750"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Intérêt de l’approche bayésienne </a:t>
            </a:r>
            <a:r>
              <a:rPr lang="fr-FR" sz="2000" dirty="0">
                <a:latin typeface="Georgia" panose="02040502050405020303" pitchFamily="18" charset="0"/>
                <a:sym typeface="Wingdings" panose="05000000000000000000" pitchFamily="2" charset="2"/>
              </a:rPr>
              <a:t> </a:t>
            </a:r>
            <a:r>
              <a:rPr lang="fr-FR" sz="2000" dirty="0">
                <a:latin typeface="Georgia" panose="02040502050405020303" pitchFamily="18" charset="0"/>
              </a:rPr>
              <a:t>Intégration d'information a priori (données empiriques ou étude EFSA)</a:t>
            </a:r>
          </a:p>
          <a:p>
            <a:pPr marL="285750" indent="-285750">
              <a:lnSpc>
                <a:spcPts val="2640"/>
              </a:lnSpc>
              <a:buFont typeface="Wingdings" panose="05000000000000000000" pitchFamily="2" charset="2"/>
              <a:buChar char="q"/>
            </a:pPr>
            <a:endParaRPr lang="fr-FR" sz="2000" dirty="0">
              <a:latin typeface="Georgia" panose="02040502050405020303" pitchFamily="18" charset="0"/>
              <a:sym typeface="ITC Benguiat Bold"/>
            </a:endParaRPr>
          </a:p>
          <a:p>
            <a:pPr marL="285750" indent="-285750">
              <a:lnSpc>
                <a:spcPts val="2640"/>
              </a:lnSpc>
              <a:buFont typeface="Wingdings" panose="05000000000000000000" pitchFamily="2" charset="2"/>
              <a:buChar char="q"/>
            </a:pPr>
            <a:r>
              <a:rPr lang="fr-FR" sz="2000" dirty="0">
                <a:latin typeface="Georgia" panose="02040502050405020303" pitchFamily="18" charset="0"/>
              </a:rPr>
              <a:t>Prise en compte de la dépendance conditionnelle améliore DIC et résidus de corrélation</a:t>
            </a:r>
          </a:p>
          <a:p>
            <a:pPr marL="285750" indent="-285750">
              <a:lnSpc>
                <a:spcPts val="2640"/>
              </a:lnSpc>
              <a:buFont typeface="Wingdings" panose="05000000000000000000" pitchFamily="2" charset="2"/>
              <a:buChar char="q"/>
            </a:pPr>
            <a:endParaRPr lang="fr-FR" sz="2000" dirty="0">
              <a:latin typeface="Georgia" panose="02040502050405020303" pitchFamily="18" charset="0"/>
            </a:endParaRPr>
          </a:p>
          <a:p>
            <a:pPr marL="285750"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Principaux résultats: </a:t>
            </a:r>
          </a:p>
          <a:p>
            <a:pPr marL="742950" lvl="1" indent="-285750">
              <a:lnSpc>
                <a:spcPts val="2640"/>
              </a:lnSpc>
              <a:buFont typeface="Wingdings" panose="05000000000000000000" pitchFamily="2" charset="2"/>
              <a:buChar char="q"/>
            </a:pPr>
            <a:endParaRPr lang="fr-FR" sz="2000" dirty="0">
              <a:latin typeface="Georgia" panose="02040502050405020303" pitchFamily="18" charset="0"/>
              <a:sym typeface="ITC Benguiat Bold"/>
            </a:endParaRPr>
          </a:p>
          <a:p>
            <a:pPr marL="742950" lvl="1" indent="-285750">
              <a:lnSpc>
                <a:spcPts val="2640"/>
              </a:lnSpc>
              <a:buFont typeface="Wingdings" panose="05000000000000000000" pitchFamily="2" charset="2"/>
              <a:buChar char="q"/>
            </a:pPr>
            <a:r>
              <a:rPr lang="fr-FR" sz="2000" dirty="0">
                <a:latin typeface="Georgia" panose="02040502050405020303" pitchFamily="18" charset="0"/>
                <a:sym typeface="ITC Benguiat Bold"/>
              </a:rPr>
              <a:t>Tests de première intention (Sensibilité) : </a:t>
            </a:r>
          </a:p>
          <a:p>
            <a:pPr lvl="1">
              <a:lnSpc>
                <a:spcPts val="2640"/>
              </a:lnSpc>
            </a:pPr>
            <a:r>
              <a:rPr lang="fr-FR" sz="2000" dirty="0">
                <a:latin typeface="Georgia" panose="02040502050405020303" pitchFamily="18" charset="0"/>
                <a:sym typeface="ITC Benguiat Bold"/>
              </a:rPr>
              <a:t>ELISA G : </a:t>
            </a:r>
            <a:r>
              <a:rPr lang="fr-FR" sz="2000" dirty="0">
                <a:latin typeface="Georgia" panose="02040502050405020303" pitchFamily="18" charset="0"/>
              </a:rPr>
              <a:t>99,2 % [97,1-100] vs. EAT : 91,1 % [88,2-93.3]</a:t>
            </a:r>
          </a:p>
          <a:p>
            <a:pPr marL="742950" lvl="1" indent="-285750">
              <a:lnSpc>
                <a:spcPts val="2640"/>
              </a:lnSpc>
              <a:buFont typeface="Wingdings" panose="05000000000000000000" pitchFamily="2" charset="2"/>
              <a:buChar char="q"/>
            </a:pPr>
            <a:endParaRPr lang="fr-FR" sz="2000" dirty="0">
              <a:latin typeface="Georgia" panose="02040502050405020303" pitchFamily="18" charset="0"/>
            </a:endParaRPr>
          </a:p>
          <a:p>
            <a:pPr marL="742950" lvl="1" indent="-285750">
              <a:lnSpc>
                <a:spcPts val="2640"/>
              </a:lnSpc>
              <a:buFont typeface="Wingdings" panose="05000000000000000000" pitchFamily="2" charset="2"/>
              <a:buChar char="q"/>
            </a:pPr>
            <a:r>
              <a:rPr lang="fr-FR" sz="2000" dirty="0">
                <a:latin typeface="Georgia" panose="02040502050405020303" pitchFamily="18" charset="0"/>
              </a:rPr>
              <a:t>Test de confirmation (Spécificité) :</a:t>
            </a:r>
          </a:p>
          <a:p>
            <a:pPr lvl="1">
              <a:lnSpc>
                <a:spcPts val="2640"/>
              </a:lnSpc>
            </a:pPr>
            <a:r>
              <a:rPr lang="fr-FR" sz="2000" dirty="0">
                <a:latin typeface="Georgia" panose="02040502050405020303" pitchFamily="18" charset="0"/>
              </a:rPr>
              <a:t>ELISA Ar : 99,6 % [97,9-100] vs. FC : 98,7 % [95,9-99,8]</a:t>
            </a:r>
          </a:p>
          <a:p>
            <a:pPr marL="304815" indent="-304815">
              <a:lnSpc>
                <a:spcPts val="2640"/>
              </a:lnSpc>
              <a:buFont typeface="Wingdings" panose="05000000000000000000" pitchFamily="2" charset="2"/>
              <a:buChar char="q"/>
            </a:pPr>
            <a:endParaRPr lang="fr-FR" sz="1667" dirty="0">
              <a:solidFill>
                <a:srgbClr val="000000"/>
              </a:solidFill>
              <a:latin typeface="Arial" panose="020B0604020202020204" pitchFamily="34" charset="0"/>
              <a:ea typeface="ITC Benguiat Bold"/>
              <a:cs typeface="Arial" panose="020B0604020202020204" pitchFamily="34" charset="0"/>
              <a:sym typeface="ITC Benguiat Bold"/>
            </a:endParaRPr>
          </a:p>
          <a:p>
            <a:pPr marL="304815" indent="-304815">
              <a:lnSpc>
                <a:spcPts val="2640"/>
              </a:lnSpc>
              <a:buFont typeface="Wingdings" panose="05000000000000000000" pitchFamily="2" charset="2"/>
              <a:buChar char="q"/>
            </a:pPr>
            <a:endParaRPr lang="en-US" sz="1667" dirty="0">
              <a:solidFill>
                <a:srgbClr val="012F7F"/>
              </a:solidFill>
              <a:latin typeface="Arial" panose="020B0604020202020204" pitchFamily="34" charset="0"/>
              <a:ea typeface="ITC Benguiat Bold"/>
              <a:cs typeface="Arial" panose="020B0604020202020204" pitchFamily="34" charset="0"/>
              <a:sym typeface="ITC Benguiat Bold"/>
            </a:endParaRPr>
          </a:p>
        </p:txBody>
      </p:sp>
      <p:sp>
        <p:nvSpPr>
          <p:cNvPr id="4" name="Espace réservé du numéro de diapositive 3">
            <a:extLst>
              <a:ext uri="{FF2B5EF4-FFF2-40B4-BE49-F238E27FC236}">
                <a16:creationId xmlns:a16="http://schemas.microsoft.com/office/drawing/2014/main" id="{361009FB-F7FE-1E52-C73D-66C993EA72AC}"/>
              </a:ext>
            </a:extLst>
          </p:cNvPr>
          <p:cNvSpPr>
            <a:spLocks noGrp="1"/>
          </p:cNvSpPr>
          <p:nvPr>
            <p:ph type="sldNum" sz="quarter" idx="12"/>
          </p:nvPr>
        </p:nvSpPr>
        <p:spPr/>
        <p:txBody>
          <a:bodyPr/>
          <a:lstStyle/>
          <a:p>
            <a:fld id="{453A7091-84B4-4BFC-9E12-327F477830A7}" type="slidenum">
              <a:rPr lang="fr-FR" smtClean="0"/>
              <a:t>12</a:t>
            </a:fld>
            <a:endParaRPr lang="fr-FR"/>
          </a:p>
        </p:txBody>
      </p:sp>
    </p:spTree>
    <p:extLst>
      <p:ext uri="{BB962C8B-B14F-4D97-AF65-F5344CB8AC3E}">
        <p14:creationId xmlns:p14="http://schemas.microsoft.com/office/powerpoint/2010/main" val="165004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30" name="AutoShape 61">
            <a:extLst>
              <a:ext uri="{FF2B5EF4-FFF2-40B4-BE49-F238E27FC236}">
                <a16:creationId xmlns:a16="http://schemas.microsoft.com/office/drawing/2014/main" id="{5E93A798-958F-F83C-8AF1-D14D761AD76D}"/>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31" name="Freeform 3">
            <a:extLst>
              <a:ext uri="{FF2B5EF4-FFF2-40B4-BE49-F238E27FC236}">
                <a16:creationId xmlns:a16="http://schemas.microsoft.com/office/drawing/2014/main" id="{EC27D2D5-5AC9-3110-3DB3-E18D785214AD}"/>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64F74B53-F31B-4D5F-D1A2-4357E7072A5F}"/>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33821C98-B310-E49A-67D7-3256684B3110}"/>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F81A1B34-6E5B-2D17-0677-E18D49EB6FBC}"/>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a:p>
          </p:txBody>
        </p:sp>
      </p:grpSp>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a:p>
        </p:txBody>
      </p:sp>
      <p:sp>
        <p:nvSpPr>
          <p:cNvPr id="7" name="TextBox 17">
            <a:extLst>
              <a:ext uri="{FF2B5EF4-FFF2-40B4-BE49-F238E27FC236}">
                <a16:creationId xmlns:a16="http://schemas.microsoft.com/office/drawing/2014/main" id="{50D039E5-ABBC-B37C-C9E2-217FFF55A63E}"/>
              </a:ext>
            </a:extLst>
          </p:cNvPr>
          <p:cNvSpPr txBox="1"/>
          <p:nvPr/>
        </p:nvSpPr>
        <p:spPr>
          <a:xfrm rot="5400000">
            <a:off x="-1216264" y="3607895"/>
            <a:ext cx="4460558" cy="344838"/>
          </a:xfrm>
          <a:prstGeom prst="rect">
            <a:avLst/>
          </a:prstGeom>
        </p:spPr>
        <p:txBody>
          <a:bodyPr wrap="square" lIns="0" tIns="0" rIns="0" bIns="0" rtlCol="0" anchor="t">
            <a:spAutoFit/>
          </a:bodyPr>
          <a:lstStyle/>
          <a:p>
            <a:pPr algn="ct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DISCUSSION</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8" name="Picture 2" descr="la norme ">
            <a:extLst>
              <a:ext uri="{FF2B5EF4-FFF2-40B4-BE49-F238E27FC236}">
                <a16:creationId xmlns:a16="http://schemas.microsoft.com/office/drawing/2014/main" id="{09A29C1E-056C-866A-6C1A-0565A4FAFF61}"/>
              </a:ext>
            </a:extLst>
          </p:cNvPr>
          <p:cNvPicPr>
            <a:picLocks noChangeAspect="1" noChangeArrowheads="1"/>
          </p:cNvPicPr>
          <p:nvPr/>
        </p:nvPicPr>
        <p:blipFill>
          <a:blip r:embed="rId5">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32275" y="1288552"/>
            <a:ext cx="590010" cy="590010"/>
          </a:xfrm>
          <a:prstGeom prst="rect">
            <a:avLst/>
          </a:prstGeom>
          <a:noFill/>
          <a:extLst>
            <a:ext uri="{909E8E84-426E-40DD-AFC4-6F175D3DCCD1}">
              <a14:hiddenFill xmlns:a14="http://schemas.microsoft.com/office/drawing/2010/main">
                <a:solidFill>
                  <a:srgbClr val="FFFFFF"/>
                </a:solidFill>
              </a14:hiddenFill>
            </a:ext>
          </a:extLst>
        </p:spPr>
      </p:pic>
      <p:sp>
        <p:nvSpPr>
          <p:cNvPr id="44" name="ZoneTexte 43">
            <a:extLst>
              <a:ext uri="{FF2B5EF4-FFF2-40B4-BE49-F238E27FC236}">
                <a16:creationId xmlns:a16="http://schemas.microsoft.com/office/drawing/2014/main" id="{BD31F70E-B44E-4304-BD65-830677D37FD2}"/>
              </a:ext>
            </a:extLst>
          </p:cNvPr>
          <p:cNvSpPr txBox="1"/>
          <p:nvPr/>
        </p:nvSpPr>
        <p:spPr>
          <a:xfrm>
            <a:off x="2171039" y="403170"/>
            <a:ext cx="13348854" cy="387286"/>
          </a:xfrm>
          <a:prstGeom prst="rect">
            <a:avLst/>
          </a:prstGeom>
          <a:noFill/>
        </p:spPr>
        <p:txBody>
          <a:bodyPr wrap="square">
            <a:spAutoFit/>
          </a:bodyPr>
          <a:lstStyle/>
          <a:p>
            <a:pPr>
              <a:lnSpc>
                <a:spcPts val="2250"/>
              </a:lnSpc>
            </a:pPr>
            <a:r>
              <a:rPr lang="en-US" sz="1800" dirty="0">
                <a:solidFill>
                  <a:srgbClr val="2E8C4A"/>
                </a:solidFill>
                <a:latin typeface="Bree Serif"/>
                <a:ea typeface="Bree Serif"/>
                <a:cs typeface="Bree Serif"/>
                <a:sym typeface="Bree Serif"/>
              </a:rPr>
              <a:t>				</a:t>
            </a:r>
            <a:r>
              <a:rPr lang="en-US" sz="2400" dirty="0">
                <a:solidFill>
                  <a:schemeClr val="accent6"/>
                </a:solidFill>
                <a:latin typeface="Georgia" panose="02040502050405020303" pitchFamily="18" charset="0"/>
                <a:sym typeface="Bree Serif"/>
              </a:rPr>
              <a:t>Limites et perspectives</a:t>
            </a:r>
          </a:p>
        </p:txBody>
      </p:sp>
      <p:sp>
        <p:nvSpPr>
          <p:cNvPr id="24" name="TextBox 17">
            <a:extLst>
              <a:ext uri="{FF2B5EF4-FFF2-40B4-BE49-F238E27FC236}">
                <a16:creationId xmlns:a16="http://schemas.microsoft.com/office/drawing/2014/main" id="{1A2842CA-8998-4900-86D5-07EF9C75C420}"/>
              </a:ext>
            </a:extLst>
          </p:cNvPr>
          <p:cNvSpPr txBox="1"/>
          <p:nvPr/>
        </p:nvSpPr>
        <p:spPr>
          <a:xfrm>
            <a:off x="2428563" y="1413212"/>
            <a:ext cx="9417685" cy="5300105"/>
          </a:xfrm>
          <a:prstGeom prst="rect">
            <a:avLst/>
          </a:prstGeom>
        </p:spPr>
        <p:txBody>
          <a:bodyPr wrap="square" lIns="0" tIns="0" rIns="0" bIns="0" rtlCol="0" anchor="t">
            <a:spAutoFit/>
          </a:bodyPr>
          <a:lstStyle/>
          <a:p>
            <a:pPr marL="342900" lvl="2" indent="-342900">
              <a:lnSpc>
                <a:spcPts val="2640"/>
              </a:lnSpc>
              <a:buFont typeface="Wingdings" panose="05000000000000000000" pitchFamily="2" charset="2"/>
              <a:buChar char="q"/>
            </a:pPr>
            <a:r>
              <a:rPr lang="fr-FR" sz="2000" dirty="0">
                <a:latin typeface="Georgia" panose="02040502050405020303" pitchFamily="18" charset="0"/>
              </a:rPr>
              <a:t>Nombre d’échantillons limité (et répartis sur plusieurs pays)</a:t>
            </a:r>
            <a:endParaRPr lang="fr-FR" sz="2000" dirty="0">
              <a:latin typeface="Georgia" panose="02040502050405020303" pitchFamily="18" charset="0"/>
              <a:sym typeface="Wingdings" panose="05000000000000000000" pitchFamily="2" charset="2"/>
            </a:endParaRPr>
          </a:p>
          <a:p>
            <a:pPr marL="800100" lvl="3" indent="-342900">
              <a:lnSpc>
                <a:spcPts val="2640"/>
              </a:lnSpc>
              <a:buFont typeface="Wingdings" panose="05000000000000000000" pitchFamily="2" charset="2"/>
              <a:buChar char="à"/>
            </a:pPr>
            <a:r>
              <a:rPr lang="fr-FR" sz="2000" dirty="0">
                <a:latin typeface="Georgia" panose="02040502050405020303" pitchFamily="18" charset="0"/>
              </a:rPr>
              <a:t>Impossible de construire un modèle multi-populations</a:t>
            </a:r>
          </a:p>
          <a:p>
            <a:pPr marL="800100" lvl="3" indent="-342900">
              <a:lnSpc>
                <a:spcPts val="2640"/>
              </a:lnSpc>
              <a:buFont typeface="Wingdings" panose="05000000000000000000" pitchFamily="2" charset="2"/>
              <a:buChar char="à"/>
            </a:pPr>
            <a:r>
              <a:rPr lang="fr-FR" sz="2000" dirty="0">
                <a:latin typeface="Georgia" panose="02040502050405020303" pitchFamily="18" charset="0"/>
                <a:sym typeface="Wingdings" panose="05000000000000000000" pitchFamily="2" charset="2"/>
              </a:rPr>
              <a:t>Influence des valeurs de </a:t>
            </a:r>
            <a:r>
              <a:rPr lang="fr-FR" sz="2000" dirty="0" err="1">
                <a:latin typeface="Georgia" panose="02040502050405020303" pitchFamily="18" charset="0"/>
                <a:sym typeface="Wingdings" panose="05000000000000000000" pitchFamily="2" charset="2"/>
              </a:rPr>
              <a:t>priors</a:t>
            </a:r>
            <a:r>
              <a:rPr lang="fr-FR" sz="2000" dirty="0">
                <a:latin typeface="Georgia" panose="02040502050405020303" pitchFamily="18" charset="0"/>
                <a:sym typeface="Wingdings" panose="05000000000000000000" pitchFamily="2" charset="2"/>
              </a:rPr>
              <a:t> (analyse Ar et FC) sur résultats</a:t>
            </a:r>
          </a:p>
          <a:p>
            <a:pPr marL="342900" lvl="2" indent="-342900">
              <a:lnSpc>
                <a:spcPts val="2640"/>
              </a:lnSpc>
              <a:buFont typeface="Wingdings" panose="05000000000000000000" pitchFamily="2" charset="2"/>
              <a:buChar char="q"/>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sym typeface="Wingdings" panose="05000000000000000000" pitchFamily="2" charset="2"/>
              </a:rPr>
              <a:t>Prévalence (prédite par modèle) élevée (~40 %) : </a:t>
            </a:r>
            <a:r>
              <a:rPr lang="fr-FR" sz="2000" dirty="0">
                <a:latin typeface="Georgia" panose="02040502050405020303" pitchFamily="18" charset="0"/>
              </a:rPr>
              <a:t>non représentative de la situation épidémiologique (car échantillons en partie sélectionnés parmi élevages infectés)</a:t>
            </a:r>
          </a:p>
          <a:p>
            <a:pPr marL="0" lvl="2">
              <a:lnSpc>
                <a:spcPts val="2640"/>
              </a:lnSpc>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sym typeface="Wingdings" panose="05000000000000000000" pitchFamily="2" charset="2"/>
              </a:rPr>
              <a:t>Problème de convergence du modèle avec 9 tests quand prise en compte des dépendances entre tests</a:t>
            </a:r>
          </a:p>
          <a:p>
            <a:pPr marL="0" lvl="2">
              <a:lnSpc>
                <a:spcPts val="2640"/>
              </a:lnSpc>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rPr>
              <a:t>Perspectives :</a:t>
            </a:r>
          </a:p>
          <a:p>
            <a:pPr marL="800100" lvl="2" indent="-342900">
              <a:lnSpc>
                <a:spcPts val="2640"/>
              </a:lnSpc>
              <a:buFont typeface="Wingdings" panose="05000000000000000000" pitchFamily="2" charset="2"/>
              <a:buChar char="Ø"/>
            </a:pPr>
            <a:r>
              <a:rPr lang="fr-FR" sz="2000" dirty="0">
                <a:latin typeface="Georgia" panose="02040502050405020303" pitchFamily="18" charset="0"/>
              </a:rPr>
              <a:t>Application des tests en parallèle vs. en série pour la surveillance ?</a:t>
            </a:r>
          </a:p>
          <a:p>
            <a:pPr marL="457200" lvl="3">
              <a:lnSpc>
                <a:spcPts val="2640"/>
              </a:lnSpc>
            </a:pPr>
            <a:endParaRPr lang="fr-FR" sz="2000" dirty="0">
              <a:latin typeface="Georgia" panose="02040502050405020303" pitchFamily="18" charset="0"/>
            </a:endParaRPr>
          </a:p>
          <a:p>
            <a:pPr marL="304815" indent="-304815">
              <a:lnSpc>
                <a:spcPts val="2640"/>
              </a:lnSpc>
              <a:buFont typeface="Wingdings" panose="05000000000000000000" pitchFamily="2" charset="2"/>
              <a:buChar char="q"/>
            </a:pPr>
            <a:endParaRPr lang="fr-FR" sz="1667" dirty="0">
              <a:solidFill>
                <a:srgbClr val="000000"/>
              </a:solidFill>
              <a:latin typeface="Arial" panose="020B0604020202020204" pitchFamily="34" charset="0"/>
              <a:ea typeface="ITC Benguiat Bold"/>
              <a:cs typeface="Arial" panose="020B0604020202020204" pitchFamily="34" charset="0"/>
              <a:sym typeface="ITC Benguiat Bold"/>
            </a:endParaRPr>
          </a:p>
          <a:p>
            <a:pPr marL="304815" indent="-304815">
              <a:lnSpc>
                <a:spcPts val="2640"/>
              </a:lnSpc>
              <a:buFont typeface="Wingdings" panose="05000000000000000000" pitchFamily="2" charset="2"/>
              <a:buChar char="q"/>
            </a:pPr>
            <a:endParaRPr lang="en-US" sz="1667" dirty="0">
              <a:solidFill>
                <a:srgbClr val="012F7F"/>
              </a:solidFill>
              <a:latin typeface="Arial" panose="020B0604020202020204" pitchFamily="34" charset="0"/>
              <a:ea typeface="ITC Benguiat Bold"/>
              <a:cs typeface="Arial" panose="020B0604020202020204" pitchFamily="34" charset="0"/>
              <a:sym typeface="ITC Benguiat Bold"/>
            </a:endParaRPr>
          </a:p>
        </p:txBody>
      </p:sp>
      <p:sp>
        <p:nvSpPr>
          <p:cNvPr id="4" name="Espace réservé du numéro de diapositive 3">
            <a:extLst>
              <a:ext uri="{FF2B5EF4-FFF2-40B4-BE49-F238E27FC236}">
                <a16:creationId xmlns:a16="http://schemas.microsoft.com/office/drawing/2014/main" id="{D51985C0-C2D0-540A-4207-7192664826EA}"/>
              </a:ext>
            </a:extLst>
          </p:cNvPr>
          <p:cNvSpPr>
            <a:spLocks noGrp="1"/>
          </p:cNvSpPr>
          <p:nvPr>
            <p:ph type="sldNum" sz="quarter" idx="12"/>
          </p:nvPr>
        </p:nvSpPr>
        <p:spPr/>
        <p:txBody>
          <a:bodyPr/>
          <a:lstStyle/>
          <a:p>
            <a:fld id="{453A7091-84B4-4BFC-9E12-327F477830A7}" type="slidenum">
              <a:rPr lang="fr-FR" smtClean="0"/>
              <a:t>13</a:t>
            </a:fld>
            <a:endParaRPr lang="fr-FR"/>
          </a:p>
        </p:txBody>
      </p:sp>
    </p:spTree>
    <p:extLst>
      <p:ext uri="{BB962C8B-B14F-4D97-AF65-F5344CB8AC3E}">
        <p14:creationId xmlns:p14="http://schemas.microsoft.com/office/powerpoint/2010/main" val="3190953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905A-34D3-75A0-6DCE-CA38CD4C6ED9}"/>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717F8E4-5E94-5518-937A-27B463098A8D}"/>
              </a:ext>
            </a:extLst>
          </p:cNvPr>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a:p>
        </p:txBody>
      </p:sp>
      <p:sp>
        <p:nvSpPr>
          <p:cNvPr id="30" name="AutoShape 61">
            <a:extLst>
              <a:ext uri="{FF2B5EF4-FFF2-40B4-BE49-F238E27FC236}">
                <a16:creationId xmlns:a16="http://schemas.microsoft.com/office/drawing/2014/main" id="{1A66885C-D538-94F5-00FB-8B629E739B47}"/>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31" name="Freeform 3">
            <a:extLst>
              <a:ext uri="{FF2B5EF4-FFF2-40B4-BE49-F238E27FC236}">
                <a16:creationId xmlns:a16="http://schemas.microsoft.com/office/drawing/2014/main" id="{41364295-7639-09D4-2F66-009A3DA8783C}"/>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lvl="0"/>
            <a:endParaRPr lang="fr-CM" sz="1200" dirty="0"/>
          </a:p>
        </p:txBody>
      </p:sp>
      <p:grpSp>
        <p:nvGrpSpPr>
          <p:cNvPr id="25" name="Group 4">
            <a:extLst>
              <a:ext uri="{FF2B5EF4-FFF2-40B4-BE49-F238E27FC236}">
                <a16:creationId xmlns:a16="http://schemas.microsoft.com/office/drawing/2014/main" id="{815CCED9-98CF-7A36-E131-B16A226FD0F5}"/>
              </a:ext>
            </a:extLst>
          </p:cNvPr>
          <p:cNvGrpSpPr/>
          <p:nvPr/>
        </p:nvGrpSpPr>
        <p:grpSpPr>
          <a:xfrm>
            <a:off x="0" y="1054171"/>
            <a:ext cx="13288906" cy="91191"/>
            <a:chOff x="0" y="0"/>
            <a:chExt cx="5249938" cy="36026"/>
          </a:xfrm>
        </p:grpSpPr>
        <p:sp>
          <p:nvSpPr>
            <p:cNvPr id="26" name="Freeform 5">
              <a:extLst>
                <a:ext uri="{FF2B5EF4-FFF2-40B4-BE49-F238E27FC236}">
                  <a16:creationId xmlns:a16="http://schemas.microsoft.com/office/drawing/2014/main" id="{A2AB6D4E-2F92-0521-F0AB-212933038055}"/>
                </a:ext>
              </a:extLst>
            </p:cNvPr>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chemeClr val="tx2"/>
            </a:solidFill>
          </p:spPr>
          <p:txBody>
            <a:bodyPr/>
            <a:lstStyle/>
            <a:p>
              <a:endParaRPr lang="fr-CM" sz="1200" dirty="0"/>
            </a:p>
          </p:txBody>
        </p:sp>
        <p:sp>
          <p:nvSpPr>
            <p:cNvPr id="27" name="TextBox 6">
              <a:extLst>
                <a:ext uri="{FF2B5EF4-FFF2-40B4-BE49-F238E27FC236}">
                  <a16:creationId xmlns:a16="http://schemas.microsoft.com/office/drawing/2014/main" id="{95AB039C-AF26-864A-C113-1C4A8369A9E3}"/>
                </a:ext>
              </a:extLst>
            </p:cNvPr>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a:p>
          </p:txBody>
        </p:sp>
      </p:grpSp>
      <p:sp>
        <p:nvSpPr>
          <p:cNvPr id="2" name="Freeform 2">
            <a:extLst>
              <a:ext uri="{FF2B5EF4-FFF2-40B4-BE49-F238E27FC236}">
                <a16:creationId xmlns:a16="http://schemas.microsoft.com/office/drawing/2014/main" id="{69C36201-48F0-98ED-C180-2100DE5A9C41}"/>
              </a:ext>
            </a:extLst>
          </p:cNvPr>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a:p>
        </p:txBody>
      </p:sp>
      <p:sp>
        <p:nvSpPr>
          <p:cNvPr id="7" name="TextBox 17">
            <a:extLst>
              <a:ext uri="{FF2B5EF4-FFF2-40B4-BE49-F238E27FC236}">
                <a16:creationId xmlns:a16="http://schemas.microsoft.com/office/drawing/2014/main" id="{C713D6CE-0164-883C-1846-BEE49AC8C3B6}"/>
              </a:ext>
            </a:extLst>
          </p:cNvPr>
          <p:cNvSpPr txBox="1"/>
          <p:nvPr/>
        </p:nvSpPr>
        <p:spPr>
          <a:xfrm rot="5400000">
            <a:off x="-1216264" y="3607895"/>
            <a:ext cx="4460558" cy="344838"/>
          </a:xfrm>
          <a:prstGeom prst="rect">
            <a:avLst/>
          </a:prstGeom>
        </p:spPr>
        <p:txBody>
          <a:bodyPr wrap="square" lIns="0" tIns="0" rIns="0" bIns="0" rtlCol="0" anchor="t">
            <a:spAutoFit/>
          </a:bodyPr>
          <a:lstStyle/>
          <a:p>
            <a:pPr algn="ct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DISCUSSION</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8" name="Picture 2" descr="la norme ">
            <a:extLst>
              <a:ext uri="{FF2B5EF4-FFF2-40B4-BE49-F238E27FC236}">
                <a16:creationId xmlns:a16="http://schemas.microsoft.com/office/drawing/2014/main" id="{316A4A53-75F4-4141-6544-9D2BFFA38A55}"/>
              </a:ext>
            </a:extLst>
          </p:cNvPr>
          <p:cNvPicPr>
            <a:picLocks noChangeAspect="1" noChangeArrowheads="1"/>
          </p:cNvPicPr>
          <p:nvPr/>
        </p:nvPicPr>
        <p:blipFill>
          <a:blip r:embed="rId5">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32275" y="1288552"/>
            <a:ext cx="590010" cy="590010"/>
          </a:xfrm>
          <a:prstGeom prst="rect">
            <a:avLst/>
          </a:prstGeom>
          <a:noFill/>
          <a:extLst>
            <a:ext uri="{909E8E84-426E-40DD-AFC4-6F175D3DCCD1}">
              <a14:hiddenFill xmlns:a14="http://schemas.microsoft.com/office/drawing/2010/main">
                <a:solidFill>
                  <a:srgbClr val="FFFFFF"/>
                </a:solidFill>
              </a14:hiddenFill>
            </a:ext>
          </a:extLst>
        </p:spPr>
      </p:pic>
      <p:sp>
        <p:nvSpPr>
          <p:cNvPr id="44" name="ZoneTexte 43">
            <a:extLst>
              <a:ext uri="{FF2B5EF4-FFF2-40B4-BE49-F238E27FC236}">
                <a16:creationId xmlns:a16="http://schemas.microsoft.com/office/drawing/2014/main" id="{B9EADCD1-C5C5-528E-184F-8CCC215D66A8}"/>
              </a:ext>
            </a:extLst>
          </p:cNvPr>
          <p:cNvSpPr txBox="1"/>
          <p:nvPr/>
        </p:nvSpPr>
        <p:spPr>
          <a:xfrm>
            <a:off x="2171039" y="403170"/>
            <a:ext cx="13348854" cy="387286"/>
          </a:xfrm>
          <a:prstGeom prst="rect">
            <a:avLst/>
          </a:prstGeom>
          <a:noFill/>
        </p:spPr>
        <p:txBody>
          <a:bodyPr wrap="square">
            <a:spAutoFit/>
          </a:bodyPr>
          <a:lstStyle/>
          <a:p>
            <a:pPr>
              <a:lnSpc>
                <a:spcPts val="2250"/>
              </a:lnSpc>
            </a:pPr>
            <a:r>
              <a:rPr lang="en-US" sz="1800" dirty="0">
                <a:solidFill>
                  <a:srgbClr val="2E8C4A"/>
                </a:solidFill>
                <a:latin typeface="Bree Serif"/>
                <a:ea typeface="Bree Serif"/>
                <a:cs typeface="Bree Serif"/>
                <a:sym typeface="Bree Serif"/>
              </a:rPr>
              <a:t>				</a:t>
            </a:r>
            <a:r>
              <a:rPr lang="en-US" sz="2400" dirty="0">
                <a:solidFill>
                  <a:schemeClr val="accent6"/>
                </a:solidFill>
                <a:latin typeface="Georgia" panose="02040502050405020303" pitchFamily="18" charset="0"/>
                <a:sym typeface="Bree Serif"/>
              </a:rPr>
              <a:t>Limites et perspectives</a:t>
            </a:r>
          </a:p>
        </p:txBody>
      </p:sp>
      <p:sp>
        <p:nvSpPr>
          <p:cNvPr id="24" name="TextBox 17">
            <a:extLst>
              <a:ext uri="{FF2B5EF4-FFF2-40B4-BE49-F238E27FC236}">
                <a16:creationId xmlns:a16="http://schemas.microsoft.com/office/drawing/2014/main" id="{0D618C73-E25E-C614-6B35-58348828BB44}"/>
              </a:ext>
            </a:extLst>
          </p:cNvPr>
          <p:cNvSpPr txBox="1"/>
          <p:nvPr/>
        </p:nvSpPr>
        <p:spPr>
          <a:xfrm>
            <a:off x="2428563" y="1413212"/>
            <a:ext cx="9417685" cy="5300105"/>
          </a:xfrm>
          <a:prstGeom prst="rect">
            <a:avLst/>
          </a:prstGeom>
        </p:spPr>
        <p:txBody>
          <a:bodyPr wrap="square" lIns="0" tIns="0" rIns="0" bIns="0" rtlCol="0" anchor="t">
            <a:spAutoFit/>
          </a:bodyPr>
          <a:lstStyle/>
          <a:p>
            <a:pPr marL="342900" lvl="2" indent="-342900">
              <a:lnSpc>
                <a:spcPts val="2640"/>
              </a:lnSpc>
              <a:buFont typeface="Wingdings" panose="05000000000000000000" pitchFamily="2" charset="2"/>
              <a:buChar char="q"/>
            </a:pPr>
            <a:r>
              <a:rPr lang="fr-FR" sz="2000" dirty="0">
                <a:latin typeface="Georgia" panose="02040502050405020303" pitchFamily="18" charset="0"/>
              </a:rPr>
              <a:t>Nombre d’échantillons limité (et répartis sur plusieurs pays)</a:t>
            </a:r>
            <a:endParaRPr lang="fr-FR" sz="2000" dirty="0">
              <a:latin typeface="Georgia" panose="02040502050405020303" pitchFamily="18" charset="0"/>
              <a:sym typeface="Wingdings" panose="05000000000000000000" pitchFamily="2" charset="2"/>
            </a:endParaRPr>
          </a:p>
          <a:p>
            <a:pPr marL="800100" lvl="3" indent="-342900">
              <a:lnSpc>
                <a:spcPts val="2640"/>
              </a:lnSpc>
              <a:buFont typeface="Wingdings" panose="05000000000000000000" pitchFamily="2" charset="2"/>
              <a:buChar char="à"/>
            </a:pPr>
            <a:r>
              <a:rPr lang="fr-FR" sz="2000" dirty="0">
                <a:latin typeface="Georgia" panose="02040502050405020303" pitchFamily="18" charset="0"/>
              </a:rPr>
              <a:t>Impossible de construire un modèle multi-populations</a:t>
            </a:r>
          </a:p>
          <a:p>
            <a:pPr marL="800100" lvl="3" indent="-342900">
              <a:lnSpc>
                <a:spcPts val="2640"/>
              </a:lnSpc>
              <a:buFont typeface="Wingdings" panose="05000000000000000000" pitchFamily="2" charset="2"/>
              <a:buChar char="à"/>
            </a:pPr>
            <a:r>
              <a:rPr lang="fr-FR" sz="2000" dirty="0">
                <a:latin typeface="Georgia" panose="02040502050405020303" pitchFamily="18" charset="0"/>
                <a:sym typeface="Wingdings" panose="05000000000000000000" pitchFamily="2" charset="2"/>
              </a:rPr>
              <a:t>Influence des valeurs de </a:t>
            </a:r>
            <a:r>
              <a:rPr lang="fr-FR" sz="2000" dirty="0" err="1">
                <a:latin typeface="Georgia" panose="02040502050405020303" pitchFamily="18" charset="0"/>
                <a:sym typeface="Wingdings" panose="05000000000000000000" pitchFamily="2" charset="2"/>
              </a:rPr>
              <a:t>priors</a:t>
            </a:r>
            <a:r>
              <a:rPr lang="fr-FR" sz="2000" dirty="0">
                <a:latin typeface="Georgia" panose="02040502050405020303" pitchFamily="18" charset="0"/>
                <a:sym typeface="Wingdings" panose="05000000000000000000" pitchFamily="2" charset="2"/>
              </a:rPr>
              <a:t> (analyse Ar et FC) sur résultats</a:t>
            </a:r>
          </a:p>
          <a:p>
            <a:pPr marL="342900" lvl="2" indent="-342900">
              <a:lnSpc>
                <a:spcPts val="2640"/>
              </a:lnSpc>
              <a:buFont typeface="Wingdings" panose="05000000000000000000" pitchFamily="2" charset="2"/>
              <a:buChar char="q"/>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sym typeface="Wingdings" panose="05000000000000000000" pitchFamily="2" charset="2"/>
              </a:rPr>
              <a:t>Prévalence (prédite par modèle) élevée (~40 %) : </a:t>
            </a:r>
            <a:r>
              <a:rPr lang="fr-FR" sz="2000" dirty="0">
                <a:latin typeface="Georgia" panose="02040502050405020303" pitchFamily="18" charset="0"/>
              </a:rPr>
              <a:t>non représentative de la situation épidémiologique (car échantillons en partie sélectionnés parmi élevages infectés)</a:t>
            </a:r>
          </a:p>
          <a:p>
            <a:pPr marL="0" lvl="2">
              <a:lnSpc>
                <a:spcPts val="2640"/>
              </a:lnSpc>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sym typeface="Wingdings" panose="05000000000000000000" pitchFamily="2" charset="2"/>
              </a:rPr>
              <a:t>Problème de convergence du modèle avec 9 tests quand prise en compte des dépendances entre tests</a:t>
            </a:r>
          </a:p>
          <a:p>
            <a:pPr marL="0" lvl="2">
              <a:lnSpc>
                <a:spcPts val="2640"/>
              </a:lnSpc>
            </a:pPr>
            <a:endParaRPr lang="fr-FR" sz="2000" dirty="0">
              <a:latin typeface="Georgia" panose="02040502050405020303" pitchFamily="18" charset="0"/>
              <a:sym typeface="Wingdings" panose="05000000000000000000" pitchFamily="2" charset="2"/>
            </a:endParaRPr>
          </a:p>
          <a:p>
            <a:pPr marL="342900" lvl="2" indent="-342900">
              <a:lnSpc>
                <a:spcPts val="2640"/>
              </a:lnSpc>
              <a:buFont typeface="Wingdings" panose="05000000000000000000" pitchFamily="2" charset="2"/>
              <a:buChar char="q"/>
            </a:pPr>
            <a:r>
              <a:rPr lang="fr-FR" sz="2000" dirty="0">
                <a:latin typeface="Georgia" panose="02040502050405020303" pitchFamily="18" charset="0"/>
              </a:rPr>
              <a:t>Perspectives :</a:t>
            </a:r>
          </a:p>
          <a:p>
            <a:pPr marL="800100" lvl="2" indent="-342900">
              <a:lnSpc>
                <a:spcPts val="2640"/>
              </a:lnSpc>
              <a:buFont typeface="Wingdings" panose="05000000000000000000" pitchFamily="2" charset="2"/>
              <a:buChar char="Ø"/>
            </a:pPr>
            <a:r>
              <a:rPr lang="fr-FR" sz="2000" dirty="0">
                <a:latin typeface="Georgia" panose="02040502050405020303" pitchFamily="18" charset="0"/>
              </a:rPr>
              <a:t>Application des tests en parallèle vs. en série pour la surveillance ?</a:t>
            </a:r>
          </a:p>
          <a:p>
            <a:pPr marL="457200" lvl="3">
              <a:lnSpc>
                <a:spcPts val="2640"/>
              </a:lnSpc>
            </a:pPr>
            <a:endParaRPr lang="fr-FR" sz="2000" dirty="0">
              <a:latin typeface="Georgia" panose="02040502050405020303" pitchFamily="18" charset="0"/>
            </a:endParaRPr>
          </a:p>
          <a:p>
            <a:pPr marL="304815" indent="-304815">
              <a:lnSpc>
                <a:spcPts val="2640"/>
              </a:lnSpc>
              <a:buFont typeface="Wingdings" panose="05000000000000000000" pitchFamily="2" charset="2"/>
              <a:buChar char="q"/>
            </a:pPr>
            <a:endParaRPr lang="fr-FR" sz="1667" dirty="0">
              <a:solidFill>
                <a:srgbClr val="000000"/>
              </a:solidFill>
              <a:latin typeface="Arial" panose="020B0604020202020204" pitchFamily="34" charset="0"/>
              <a:ea typeface="ITC Benguiat Bold"/>
              <a:cs typeface="Arial" panose="020B0604020202020204" pitchFamily="34" charset="0"/>
              <a:sym typeface="ITC Benguiat Bold"/>
            </a:endParaRPr>
          </a:p>
          <a:p>
            <a:pPr marL="304815" indent="-304815">
              <a:lnSpc>
                <a:spcPts val="2640"/>
              </a:lnSpc>
              <a:buFont typeface="Wingdings" panose="05000000000000000000" pitchFamily="2" charset="2"/>
              <a:buChar char="q"/>
            </a:pPr>
            <a:endParaRPr lang="en-US" sz="1667" dirty="0">
              <a:solidFill>
                <a:srgbClr val="012F7F"/>
              </a:solidFill>
              <a:latin typeface="Arial" panose="020B0604020202020204" pitchFamily="34" charset="0"/>
              <a:ea typeface="ITC Benguiat Bold"/>
              <a:cs typeface="Arial" panose="020B0604020202020204" pitchFamily="34" charset="0"/>
              <a:sym typeface="ITC Benguiat Bold"/>
            </a:endParaRPr>
          </a:p>
        </p:txBody>
      </p:sp>
      <p:sp>
        <p:nvSpPr>
          <p:cNvPr id="4" name="Espace réservé du numéro de diapositive 3">
            <a:extLst>
              <a:ext uri="{FF2B5EF4-FFF2-40B4-BE49-F238E27FC236}">
                <a16:creationId xmlns:a16="http://schemas.microsoft.com/office/drawing/2014/main" id="{3E4F6B0A-98F6-A25A-AF0D-9B6EC7E60F96}"/>
              </a:ext>
            </a:extLst>
          </p:cNvPr>
          <p:cNvSpPr>
            <a:spLocks noGrp="1"/>
          </p:cNvSpPr>
          <p:nvPr>
            <p:ph type="sldNum" sz="quarter" idx="12"/>
          </p:nvPr>
        </p:nvSpPr>
        <p:spPr/>
        <p:txBody>
          <a:bodyPr/>
          <a:lstStyle/>
          <a:p>
            <a:fld id="{453A7091-84B4-4BFC-9E12-327F477830A7}" type="slidenum">
              <a:rPr lang="fr-FR" smtClean="0"/>
              <a:t>14</a:t>
            </a:fld>
            <a:endParaRPr lang="fr-FR"/>
          </a:p>
        </p:txBody>
      </p:sp>
    </p:spTree>
    <p:extLst>
      <p:ext uri="{BB962C8B-B14F-4D97-AF65-F5344CB8AC3E}">
        <p14:creationId xmlns:p14="http://schemas.microsoft.com/office/powerpoint/2010/main" val="124304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DCE25591-5E5A-F510-82CD-8ECCB6531AC9}"/>
              </a:ext>
            </a:extLst>
          </p:cNvPr>
          <p:cNvGrpSpPr/>
          <p:nvPr/>
        </p:nvGrpSpPr>
        <p:grpSpPr>
          <a:xfrm>
            <a:off x="7759358" y="1122505"/>
            <a:ext cx="3831265" cy="4990750"/>
            <a:chOff x="6983880" y="752980"/>
            <a:chExt cx="4863043" cy="6514311"/>
          </a:xfrm>
        </p:grpSpPr>
        <p:grpSp>
          <p:nvGrpSpPr>
            <p:cNvPr id="5" name="Group 5"/>
            <p:cNvGrpSpPr/>
            <p:nvPr/>
          </p:nvGrpSpPr>
          <p:grpSpPr>
            <a:xfrm rot="-5400000">
              <a:off x="8271738" y="4282543"/>
              <a:ext cx="2295269" cy="3674228"/>
              <a:chOff x="0" y="0"/>
              <a:chExt cx="906773" cy="1451547"/>
            </a:xfrm>
          </p:grpSpPr>
          <p:sp>
            <p:nvSpPr>
              <p:cNvPr id="6" name="Freeform 6"/>
              <p:cNvSpPr/>
              <p:nvPr/>
            </p:nvSpPr>
            <p:spPr>
              <a:xfrm>
                <a:off x="0" y="0"/>
                <a:ext cx="906773" cy="1451547"/>
              </a:xfrm>
              <a:custGeom>
                <a:avLst/>
                <a:gdLst/>
                <a:ahLst/>
                <a:cxnLst/>
                <a:rect l="l" t="t" r="r" b="b"/>
                <a:pathLst>
                  <a:path w="906773" h="1451547">
                    <a:moveTo>
                      <a:pt x="0" y="0"/>
                    </a:moveTo>
                    <a:lnTo>
                      <a:pt x="906773" y="0"/>
                    </a:lnTo>
                    <a:lnTo>
                      <a:pt x="906773" y="1451547"/>
                    </a:lnTo>
                    <a:lnTo>
                      <a:pt x="0" y="1451547"/>
                    </a:lnTo>
                    <a:close/>
                  </a:path>
                </a:pathLst>
              </a:custGeom>
              <a:solidFill>
                <a:srgbClr val="FFFFFF"/>
              </a:solidFill>
            </p:spPr>
            <p:txBody>
              <a:bodyPr/>
              <a:lstStyle/>
              <a:p>
                <a:endParaRPr lang="fr-CM" sz="1200"/>
              </a:p>
            </p:txBody>
          </p:sp>
          <p:sp>
            <p:nvSpPr>
              <p:cNvPr id="7" name="TextBox 7"/>
              <p:cNvSpPr txBox="1"/>
              <p:nvPr/>
            </p:nvSpPr>
            <p:spPr>
              <a:xfrm>
                <a:off x="0" y="-38100"/>
                <a:ext cx="812800" cy="85090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rot="-5400000">
              <a:off x="6624399" y="1167869"/>
              <a:ext cx="5582005" cy="4863043"/>
              <a:chOff x="0" y="0"/>
              <a:chExt cx="6350000" cy="5532120"/>
            </a:xfrm>
            <a:solidFill>
              <a:schemeClr val="tx2"/>
            </a:solidFill>
          </p:grpSpPr>
          <p:sp>
            <p:nvSpPr>
              <p:cNvPr id="12"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p:spPr>
            <p:txBody>
              <a:bodyPr/>
              <a:lstStyle/>
              <a:p>
                <a:endParaRPr lang="fr-CM" sz="1200"/>
              </a:p>
            </p:txBody>
          </p:sp>
        </p:grpSp>
        <p:sp>
          <p:nvSpPr>
            <p:cNvPr id="13" name="AutoShape 13"/>
            <p:cNvSpPr/>
            <p:nvPr/>
          </p:nvSpPr>
          <p:spPr>
            <a:xfrm rot="-1715946">
              <a:off x="9253001" y="6388650"/>
              <a:ext cx="2211775" cy="0"/>
            </a:xfrm>
            <a:prstGeom prst="line">
              <a:avLst/>
            </a:prstGeom>
            <a:ln w="85725" cap="flat">
              <a:solidFill>
                <a:schemeClr val="accent6">
                  <a:lumMod val="75000"/>
                </a:schemeClr>
              </a:solidFill>
              <a:prstDash val="solid"/>
              <a:headEnd type="none" w="sm" len="sm"/>
              <a:tailEnd type="none" w="sm" len="sm"/>
            </a:ln>
          </p:spPr>
          <p:txBody>
            <a:bodyPr/>
            <a:lstStyle/>
            <a:p>
              <a:endParaRPr lang="fr-CM" sz="1200"/>
            </a:p>
          </p:txBody>
        </p:sp>
        <p:sp>
          <p:nvSpPr>
            <p:cNvPr id="14" name="AutoShape 14"/>
            <p:cNvSpPr/>
            <p:nvPr/>
          </p:nvSpPr>
          <p:spPr>
            <a:xfrm rot="9084053">
              <a:off x="7382176" y="752980"/>
              <a:ext cx="2211775" cy="0"/>
            </a:xfrm>
            <a:prstGeom prst="line">
              <a:avLst/>
            </a:prstGeom>
            <a:ln w="85725" cap="flat">
              <a:solidFill>
                <a:schemeClr val="accent6">
                  <a:lumMod val="75000"/>
                </a:schemeClr>
              </a:solidFill>
              <a:prstDash val="solid"/>
              <a:headEnd type="none" w="sm" len="sm"/>
              <a:tailEnd type="none" w="sm" len="sm"/>
            </a:ln>
          </p:spPr>
          <p:txBody>
            <a:bodyPr/>
            <a:lstStyle/>
            <a:p>
              <a:endParaRPr lang="fr-CM" sz="1200"/>
            </a:p>
          </p:txBody>
        </p:sp>
        <p:sp>
          <p:nvSpPr>
            <p:cNvPr id="15" name="AutoShape 15"/>
            <p:cNvSpPr/>
            <p:nvPr/>
          </p:nvSpPr>
          <p:spPr>
            <a:xfrm rot="-8950593">
              <a:off x="7361862" y="6351913"/>
              <a:ext cx="2211775" cy="0"/>
            </a:xfrm>
            <a:prstGeom prst="line">
              <a:avLst/>
            </a:prstGeom>
            <a:ln w="85725" cap="flat">
              <a:solidFill>
                <a:schemeClr val="accent6">
                  <a:lumMod val="75000"/>
                </a:schemeClr>
              </a:solidFill>
              <a:prstDash val="solid"/>
              <a:headEnd type="none" w="sm" len="sm"/>
              <a:tailEnd type="none" w="sm" len="sm"/>
            </a:ln>
          </p:spPr>
          <p:txBody>
            <a:bodyPr/>
            <a:lstStyle/>
            <a:p>
              <a:endParaRPr lang="fr-CM" sz="1200"/>
            </a:p>
          </p:txBody>
        </p:sp>
        <p:sp>
          <p:nvSpPr>
            <p:cNvPr id="16" name="AutoShape 16"/>
            <p:cNvSpPr/>
            <p:nvPr/>
          </p:nvSpPr>
          <p:spPr>
            <a:xfrm rot="1849406">
              <a:off x="9273315" y="789717"/>
              <a:ext cx="2211775" cy="0"/>
            </a:xfrm>
            <a:prstGeom prst="line">
              <a:avLst/>
            </a:prstGeom>
            <a:ln w="85725" cap="flat">
              <a:solidFill>
                <a:schemeClr val="accent6">
                  <a:lumMod val="75000"/>
                </a:schemeClr>
              </a:solidFill>
              <a:prstDash val="solid"/>
              <a:headEnd type="none" w="sm" len="sm"/>
              <a:tailEnd type="none" w="sm" len="sm"/>
            </a:ln>
          </p:spPr>
          <p:txBody>
            <a:bodyPr/>
            <a:lstStyle/>
            <a:p>
              <a:endParaRPr lang="fr-CM" sz="1200"/>
            </a:p>
          </p:txBody>
        </p:sp>
        <p:sp>
          <p:nvSpPr>
            <p:cNvPr id="17" name="TextBox 17"/>
            <p:cNvSpPr txBox="1"/>
            <p:nvPr/>
          </p:nvSpPr>
          <p:spPr>
            <a:xfrm>
              <a:off x="7109242" y="2218152"/>
              <a:ext cx="4557374" cy="2571095"/>
            </a:xfrm>
            <a:prstGeom prst="rect">
              <a:avLst/>
            </a:prstGeom>
          </p:spPr>
          <p:txBody>
            <a:bodyPr lIns="0" tIns="0" rIns="0" bIns="0" rtlCol="0" anchor="t">
              <a:spAutoFit/>
            </a:bodyPr>
            <a:lstStyle/>
            <a:p>
              <a:pPr algn="ctr"/>
              <a:r>
                <a:rPr lang="en-US" sz="3200" b="1" dirty="0">
                  <a:solidFill>
                    <a:schemeClr val="tx2">
                      <a:lumMod val="75000"/>
                    </a:schemeClr>
                  </a:solidFill>
                  <a:latin typeface="Georgia" panose="02040502050405020303" pitchFamily="18" charset="0"/>
                  <a:cs typeface="Times New Roman" panose="02020603050405020304" pitchFamily="18" charset="0"/>
                </a:rPr>
                <a:t>MERCI POUR VOTRE AIMABLE ATTENTION</a:t>
              </a:r>
            </a:p>
          </p:txBody>
        </p:sp>
        <p:pic>
          <p:nvPicPr>
            <p:cNvPr id="43" name="Image 42">
              <a:extLst>
                <a:ext uri="{FF2B5EF4-FFF2-40B4-BE49-F238E27FC236}">
                  <a16:creationId xmlns:a16="http://schemas.microsoft.com/office/drawing/2014/main" id="{27FC41F2-3DAD-0F34-33DD-8334656AE29F}"/>
                </a:ext>
              </a:extLst>
            </p:cNvPr>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197033" y="5314231"/>
              <a:ext cx="739828" cy="739828"/>
            </a:xfrm>
            <a:prstGeom prst="rect">
              <a:avLst/>
            </a:prstGeom>
          </p:spPr>
        </p:pic>
      </p:grpSp>
      <p:sp>
        <p:nvSpPr>
          <p:cNvPr id="27" name="Freeform 2">
            <a:extLst>
              <a:ext uri="{FF2B5EF4-FFF2-40B4-BE49-F238E27FC236}">
                <a16:creationId xmlns:a16="http://schemas.microsoft.com/office/drawing/2014/main" id="{39871A68-2DE0-470A-B095-9B2B60FBF09A}"/>
              </a:ext>
            </a:extLst>
          </p:cNvPr>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a:p>
        </p:txBody>
      </p:sp>
      <p:sp>
        <p:nvSpPr>
          <p:cNvPr id="30" name="Freeform 3">
            <a:extLst>
              <a:ext uri="{FF2B5EF4-FFF2-40B4-BE49-F238E27FC236}">
                <a16:creationId xmlns:a16="http://schemas.microsoft.com/office/drawing/2014/main" id="{759D177C-D014-4039-B06A-4AA838783A4D}"/>
              </a:ext>
            </a:extLst>
          </p:cNvPr>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CM" sz="1200"/>
          </a:p>
        </p:txBody>
      </p:sp>
      <p:sp>
        <p:nvSpPr>
          <p:cNvPr id="31" name="Freeform 3">
            <a:extLst>
              <a:ext uri="{FF2B5EF4-FFF2-40B4-BE49-F238E27FC236}">
                <a16:creationId xmlns:a16="http://schemas.microsoft.com/office/drawing/2014/main" id="{36653938-AA92-4404-96EB-74C5AA590302}"/>
              </a:ext>
            </a:extLst>
          </p:cNvPr>
          <p:cNvSpPr/>
          <p:nvPr/>
        </p:nvSpPr>
        <p:spPr>
          <a:xfrm rot="5400000" flipH="1">
            <a:off x="-1329507" y="251119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lvl="0"/>
            <a:endParaRPr lang="fr-CM" sz="1200" dirty="0"/>
          </a:p>
        </p:txBody>
      </p:sp>
      <p:sp>
        <p:nvSpPr>
          <p:cNvPr id="8" name="ZoneTexte 7">
            <a:extLst>
              <a:ext uri="{FF2B5EF4-FFF2-40B4-BE49-F238E27FC236}">
                <a16:creationId xmlns:a16="http://schemas.microsoft.com/office/drawing/2014/main" id="{0816A8AF-37EE-34C7-5050-00577AA3D8BA}"/>
              </a:ext>
            </a:extLst>
          </p:cNvPr>
          <p:cNvSpPr txBox="1"/>
          <p:nvPr/>
        </p:nvSpPr>
        <p:spPr>
          <a:xfrm>
            <a:off x="2174796" y="799723"/>
            <a:ext cx="5156251" cy="4864537"/>
          </a:xfrm>
          <a:prstGeom prst="rect">
            <a:avLst/>
          </a:prstGeom>
          <a:noFill/>
        </p:spPr>
        <p:txBody>
          <a:bodyPr wrap="square" rtlCol="0">
            <a:spAutoFit/>
          </a:bodyPr>
          <a:lstStyle/>
          <a:p>
            <a:pPr indent="-342900" algn="ctr">
              <a:lnSpc>
                <a:spcPts val="2640"/>
              </a:lnSpc>
              <a:buFont typeface="Wingdings" panose="05000000000000000000" pitchFamily="2" charset="2"/>
            </a:pPr>
            <a:r>
              <a:rPr lang="fr-FR" sz="2400" dirty="0">
                <a:solidFill>
                  <a:schemeClr val="accent6"/>
                </a:solidFill>
                <a:latin typeface="Georgia" panose="02040502050405020303" pitchFamily="18" charset="0"/>
              </a:rPr>
              <a:t>Apport du stage</a:t>
            </a:r>
          </a:p>
          <a:p>
            <a:pPr indent="-342900">
              <a:lnSpc>
                <a:spcPts val="2640"/>
              </a:lnSpc>
              <a:buFont typeface="Wingdings" panose="05000000000000000000" pitchFamily="2" charset="2"/>
            </a:pPr>
            <a:endParaRPr lang="fr-FR" sz="2000" b="1" dirty="0">
              <a:latin typeface="Georgia" panose="02040502050405020303" pitchFamily="18" charset="0"/>
            </a:endParaRPr>
          </a:p>
          <a:p>
            <a:pPr indent="-342900">
              <a:lnSpc>
                <a:spcPts val="2640"/>
              </a:lnSpc>
              <a:buFont typeface="Wingdings" panose="05000000000000000000" pitchFamily="2" charset="2"/>
            </a:pPr>
            <a:endParaRPr lang="fr-FR" sz="2000" b="1" dirty="0">
              <a:latin typeface="Georgia" panose="02040502050405020303" pitchFamily="18" charset="0"/>
            </a:endParaRPr>
          </a:p>
          <a:p>
            <a:pPr marL="342900" indent="-342900">
              <a:lnSpc>
                <a:spcPts val="2640"/>
              </a:lnSpc>
              <a:buFont typeface="Wingdings" panose="05000000000000000000" pitchFamily="2" charset="2"/>
              <a:buChar char="q"/>
            </a:pPr>
            <a:r>
              <a:rPr lang="fr-FR" sz="2000" dirty="0">
                <a:latin typeface="Georgia" panose="02040502050405020303" pitchFamily="18" charset="0"/>
              </a:rPr>
              <a:t>Approfondissement de mes connaissances en statistique bayésienne</a:t>
            </a:r>
          </a:p>
          <a:p>
            <a:pPr>
              <a:lnSpc>
                <a:spcPts val="2640"/>
              </a:lnSpc>
            </a:pPr>
            <a:endParaRPr lang="fr-FR" sz="2000" dirty="0">
              <a:latin typeface="Georgia" panose="02040502050405020303" pitchFamily="18" charset="0"/>
            </a:endParaRPr>
          </a:p>
          <a:p>
            <a:pPr marL="342900" indent="-342900">
              <a:lnSpc>
                <a:spcPct val="100000"/>
              </a:lnSpc>
              <a:buFont typeface="Wingdings" panose="05000000000000000000" pitchFamily="2" charset="2"/>
              <a:buChar char="q"/>
            </a:pPr>
            <a:r>
              <a:rPr lang="fr-FR" sz="2000" dirty="0">
                <a:latin typeface="Georgia" panose="02040502050405020303" pitchFamily="18" charset="0"/>
              </a:rPr>
              <a:t>Importance de la modélisation pour comprendre les enjeux de la surveillance épidémiologique (évaluation des tests diagnostiques en santé animale) </a:t>
            </a:r>
          </a:p>
          <a:p>
            <a:pPr marL="342900" indent="-342900">
              <a:lnSpc>
                <a:spcPct val="100000"/>
              </a:lnSpc>
              <a:buFont typeface="Wingdings" panose="05000000000000000000" pitchFamily="2" charset="2"/>
              <a:buChar char="q"/>
            </a:pPr>
            <a:endParaRPr lang="fr-FR" sz="2000" dirty="0">
              <a:latin typeface="Georgia" panose="02040502050405020303" pitchFamily="18" charset="0"/>
            </a:endParaRPr>
          </a:p>
          <a:p>
            <a:pPr marL="342900" indent="-342900">
              <a:lnSpc>
                <a:spcPct val="100000"/>
              </a:lnSpc>
              <a:buFont typeface="Wingdings" panose="05000000000000000000" pitchFamily="2" charset="2"/>
              <a:buChar char="q"/>
            </a:pPr>
            <a:r>
              <a:rPr lang="fr-FR" sz="2000" dirty="0">
                <a:latin typeface="Georgia" panose="02040502050405020303" pitchFamily="18" charset="0"/>
              </a:rPr>
              <a:t>Collaboration avec des épidémiologistes, des biologistes et des vétérinaires </a:t>
            </a:r>
            <a:r>
              <a:rPr lang="fr-FR" sz="2000" dirty="0">
                <a:latin typeface="Georgia" panose="02040502050405020303" pitchFamily="18" charset="0"/>
                <a:sym typeface="Wingdings" panose="05000000000000000000" pitchFamily="2" charset="2"/>
              </a:rPr>
              <a:t> réseau </a:t>
            </a:r>
            <a:r>
              <a:rPr lang="fr-FR" sz="2000" dirty="0">
                <a:latin typeface="Georgia" panose="02040502050405020303" pitchFamily="18" charset="0"/>
              </a:rPr>
              <a:t>pluridisciplinaire</a:t>
            </a:r>
          </a:p>
          <a:p>
            <a:pPr marL="285750" indent="-342900">
              <a:lnSpc>
                <a:spcPts val="2640"/>
              </a:lnSpc>
              <a:buFont typeface="Wingdings" panose="05000000000000000000" pitchFamily="2" charset="2"/>
              <a:buChar char="•"/>
            </a:pPr>
            <a:endParaRPr lang="fr-FR" sz="2000" dirty="0">
              <a:latin typeface="Georgia" panose="02040502050405020303" pitchFamily="18" charset="0"/>
            </a:endParaRPr>
          </a:p>
        </p:txBody>
      </p:sp>
      <p:sp>
        <p:nvSpPr>
          <p:cNvPr id="10" name="TextBox 17">
            <a:extLst>
              <a:ext uri="{FF2B5EF4-FFF2-40B4-BE49-F238E27FC236}">
                <a16:creationId xmlns:a16="http://schemas.microsoft.com/office/drawing/2014/main" id="{83C6934D-737F-A12D-AA96-1A6BE9A5C857}"/>
              </a:ext>
            </a:extLst>
          </p:cNvPr>
          <p:cNvSpPr txBox="1"/>
          <p:nvPr/>
        </p:nvSpPr>
        <p:spPr>
          <a:xfrm rot="5400000">
            <a:off x="-1216264" y="3607895"/>
            <a:ext cx="4460558" cy="344838"/>
          </a:xfrm>
          <a:prstGeom prst="rect">
            <a:avLst/>
          </a:prstGeom>
        </p:spPr>
        <p:txBody>
          <a:bodyPr wrap="square" lIns="0" tIns="0" rIns="0" bIns="0" rtlCol="0" anchor="t">
            <a:spAutoFit/>
          </a:bodyPr>
          <a:lstStyle/>
          <a:p>
            <a:pPr algn="ctr">
              <a:lnSpc>
                <a:spcPts val="2640"/>
              </a:lnSpc>
            </a:pPr>
            <a:r>
              <a:rPr lang="en-US" sz="2800" dirty="0">
                <a:solidFill>
                  <a:srgbClr val="012F7F"/>
                </a:solidFill>
                <a:latin typeface="Georgia" panose="02040502050405020303" pitchFamily="18" charset="0"/>
                <a:cs typeface="Arial" panose="020B0604020202020204" pitchFamily="34" charset="0"/>
                <a:sym typeface="ITC Benguiat Bold"/>
              </a:rPr>
              <a:t>CONCLUSION</a:t>
            </a:r>
            <a:endParaRPr lang="en-US" sz="3200" dirty="0">
              <a:solidFill>
                <a:srgbClr val="012F7F"/>
              </a:solidFill>
              <a:latin typeface="Georgia" panose="02040502050405020303" pitchFamily="18" charset="0"/>
              <a:cs typeface="Arial" panose="020B0604020202020204" pitchFamily="34" charset="0"/>
              <a:sym typeface="ITC Benguiat Bold"/>
            </a:endParaRPr>
          </a:p>
        </p:txBody>
      </p:sp>
      <p:pic>
        <p:nvPicPr>
          <p:cNvPr id="19" name="Picture 2" descr="la norme ">
            <a:extLst>
              <a:ext uri="{FF2B5EF4-FFF2-40B4-BE49-F238E27FC236}">
                <a16:creationId xmlns:a16="http://schemas.microsoft.com/office/drawing/2014/main" id="{D90FFAC4-6376-3658-2171-3EA25BCF5C4C}"/>
              </a:ext>
            </a:extLst>
          </p:cNvPr>
          <p:cNvPicPr>
            <a:picLocks noChangeAspect="1" noChangeArrowheads="1"/>
          </p:cNvPicPr>
          <p:nvPr/>
        </p:nvPicPr>
        <p:blipFill>
          <a:blip r:embed="rId6">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32275" y="1288552"/>
            <a:ext cx="590010" cy="590010"/>
          </a:xfrm>
          <a:prstGeom prst="rect">
            <a:avLst/>
          </a:prstGeom>
          <a:noFill/>
          <a:extLst>
            <a:ext uri="{909E8E84-426E-40DD-AFC4-6F175D3DCCD1}">
              <a14:hiddenFill xmlns:a14="http://schemas.microsoft.com/office/drawing/2010/main">
                <a:solidFill>
                  <a:srgbClr val="FFFFFF"/>
                </a:solidFill>
              </a14:hiddenFill>
            </a:ext>
          </a:extLst>
        </p:spPr>
      </p:pic>
      <p:sp>
        <p:nvSpPr>
          <p:cNvPr id="21" name="AutoShape 61">
            <a:extLst>
              <a:ext uri="{FF2B5EF4-FFF2-40B4-BE49-F238E27FC236}">
                <a16:creationId xmlns:a16="http://schemas.microsoft.com/office/drawing/2014/main" id="{A43FDDAE-8BBD-F1E8-01B1-39BFEC70E0CB}"/>
              </a:ext>
            </a:extLst>
          </p:cNvPr>
          <p:cNvSpPr/>
          <p:nvPr/>
        </p:nvSpPr>
        <p:spPr>
          <a:xfrm rot="5400000">
            <a:off x="-3236404" y="4111618"/>
            <a:ext cx="10003955" cy="1194"/>
          </a:xfrm>
          <a:prstGeom prst="line">
            <a:avLst/>
          </a:prstGeom>
          <a:ln w="57150" cap="flat">
            <a:solidFill>
              <a:srgbClr val="CD7638"/>
            </a:solidFill>
            <a:prstDash val="solid"/>
            <a:headEnd type="none" w="sm" len="sm"/>
            <a:tailEnd type="none" w="sm" len="sm"/>
          </a:ln>
        </p:spPr>
        <p:txBody>
          <a:bodyPr/>
          <a:lstStyle/>
          <a:p>
            <a:endParaRPr lang="fr-CM" sz="1200"/>
          </a:p>
        </p:txBody>
      </p:sp>
      <p:sp>
        <p:nvSpPr>
          <p:cNvPr id="26" name="Espace réservé du numéro de diapositive 25">
            <a:extLst>
              <a:ext uri="{FF2B5EF4-FFF2-40B4-BE49-F238E27FC236}">
                <a16:creationId xmlns:a16="http://schemas.microsoft.com/office/drawing/2014/main" id="{A188C6D7-88D4-F24C-981D-9848FCF0310E}"/>
              </a:ext>
            </a:extLst>
          </p:cNvPr>
          <p:cNvSpPr>
            <a:spLocks noGrp="1"/>
          </p:cNvSpPr>
          <p:nvPr>
            <p:ph type="sldNum" sz="quarter" idx="12"/>
          </p:nvPr>
        </p:nvSpPr>
        <p:spPr/>
        <p:txBody>
          <a:bodyPr/>
          <a:lstStyle/>
          <a:p>
            <a:fld id="{453A7091-84B4-4BFC-9E12-327F477830A7}"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733564" flipH="1">
            <a:off x="-687227" y="-1243530"/>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sp>
        <p:nvSpPr>
          <p:cNvPr id="3" name="Freeform 3"/>
          <p:cNvSpPr/>
          <p:nvPr/>
        </p:nvSpPr>
        <p:spPr>
          <a:xfrm flipH="1">
            <a:off x="8080941" y="3457346"/>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CM" sz="1200" dirty="0">
              <a:latin typeface="Arial" panose="020B0604020202020204" pitchFamily="34" charset="0"/>
              <a:cs typeface="Arial" panose="020B0604020202020204" pitchFamily="34" charset="0"/>
            </a:endParaRPr>
          </a:p>
        </p:txBody>
      </p:sp>
      <p:grpSp>
        <p:nvGrpSpPr>
          <p:cNvPr id="4" name="Group 4"/>
          <p:cNvGrpSpPr/>
          <p:nvPr/>
        </p:nvGrpSpPr>
        <p:grpSpPr>
          <a:xfrm>
            <a:off x="-3464162" y="2916372"/>
            <a:ext cx="13288906" cy="91191"/>
            <a:chOff x="0" y="0"/>
            <a:chExt cx="5249938" cy="36026"/>
          </a:xfrm>
        </p:grpSpPr>
        <p:sp>
          <p:nvSpPr>
            <p:cNvPr id="5" name="Freeform 5"/>
            <p:cNvSpPr/>
            <p:nvPr/>
          </p:nvSpPr>
          <p:spPr>
            <a:xfrm>
              <a:off x="0" y="0"/>
              <a:ext cx="5249938" cy="36026"/>
            </a:xfrm>
            <a:custGeom>
              <a:avLst/>
              <a:gdLst/>
              <a:ahLst/>
              <a:cxnLst/>
              <a:rect l="l" t="t" r="r" b="b"/>
              <a:pathLst>
                <a:path w="5249938" h="36026">
                  <a:moveTo>
                    <a:pt x="0" y="0"/>
                  </a:moveTo>
                  <a:lnTo>
                    <a:pt x="5249938" y="0"/>
                  </a:lnTo>
                  <a:lnTo>
                    <a:pt x="5249938" y="36026"/>
                  </a:lnTo>
                  <a:lnTo>
                    <a:pt x="0" y="36026"/>
                  </a:lnTo>
                  <a:close/>
                </a:path>
              </a:pathLst>
            </a:custGeom>
            <a:solidFill>
              <a:srgbClr val="E78C3F"/>
            </a:solidFill>
          </p:spPr>
          <p:txBody>
            <a:bodyPr/>
            <a:lstStyle/>
            <a:p>
              <a:endParaRPr lang="fr-CM" sz="1200" dirty="0">
                <a:latin typeface="Arial" panose="020B0604020202020204" pitchFamily="34" charset="0"/>
                <a:cs typeface="Arial" panose="020B0604020202020204" pitchFamily="34" charset="0"/>
              </a:endParaRPr>
            </a:p>
          </p:txBody>
        </p:sp>
        <p:sp>
          <p:nvSpPr>
            <p:cNvPr id="6" name="TextBox 6"/>
            <p:cNvSpPr txBox="1"/>
            <p:nvPr/>
          </p:nvSpPr>
          <p:spPr>
            <a:xfrm>
              <a:off x="0" y="-38100"/>
              <a:ext cx="5249938" cy="74126"/>
            </a:xfrm>
            <a:prstGeom prst="rect">
              <a:avLst/>
            </a:prstGeom>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grpSp>
        <p:nvGrpSpPr>
          <p:cNvPr id="7" name="Group 7"/>
          <p:cNvGrpSpPr/>
          <p:nvPr/>
        </p:nvGrpSpPr>
        <p:grpSpPr>
          <a:xfrm>
            <a:off x="3897166" y="4443358"/>
            <a:ext cx="9367846" cy="106330"/>
            <a:chOff x="0" y="0"/>
            <a:chExt cx="3700877" cy="42007"/>
          </a:xfrm>
        </p:grpSpPr>
        <p:sp>
          <p:nvSpPr>
            <p:cNvPr id="8" name="Freeform 8"/>
            <p:cNvSpPr/>
            <p:nvPr/>
          </p:nvSpPr>
          <p:spPr>
            <a:xfrm>
              <a:off x="0" y="0"/>
              <a:ext cx="3700877" cy="42007"/>
            </a:xfrm>
            <a:custGeom>
              <a:avLst/>
              <a:gdLst/>
              <a:ahLst/>
              <a:cxnLst/>
              <a:rect l="l" t="t" r="r" b="b"/>
              <a:pathLst>
                <a:path w="3700877" h="42007">
                  <a:moveTo>
                    <a:pt x="0" y="0"/>
                  </a:moveTo>
                  <a:lnTo>
                    <a:pt x="3700877" y="0"/>
                  </a:lnTo>
                  <a:lnTo>
                    <a:pt x="3700877" y="42007"/>
                  </a:lnTo>
                  <a:lnTo>
                    <a:pt x="0" y="42007"/>
                  </a:lnTo>
                  <a:close/>
                </a:path>
              </a:pathLst>
            </a:custGeom>
            <a:solidFill>
              <a:srgbClr val="012F7F"/>
            </a:solidFill>
          </p:spPr>
          <p:txBody>
            <a:bodyPr/>
            <a:lstStyle/>
            <a:p>
              <a:endParaRPr lang="fr-CM" sz="2000" dirty="0">
                <a:latin typeface="Georgia" panose="02040502050405020303" pitchFamily="18" charset="0"/>
                <a:cs typeface="Arial" panose="020B0604020202020204" pitchFamily="34" charset="0"/>
              </a:endParaRPr>
            </a:p>
          </p:txBody>
        </p:sp>
        <p:sp>
          <p:nvSpPr>
            <p:cNvPr id="9" name="TextBox 9"/>
            <p:cNvSpPr txBox="1"/>
            <p:nvPr/>
          </p:nvSpPr>
          <p:spPr>
            <a:xfrm>
              <a:off x="0" y="-38100"/>
              <a:ext cx="3700877" cy="80107"/>
            </a:xfrm>
            <a:prstGeom prst="rect">
              <a:avLst/>
            </a:prstGeom>
          </p:spPr>
          <p:txBody>
            <a:bodyPr lIns="33867" tIns="33867" rIns="33867" bIns="33867" rtlCol="0" anchor="ctr"/>
            <a:lstStyle/>
            <a:p>
              <a:pPr algn="ctr">
                <a:lnSpc>
                  <a:spcPts val="1773"/>
                </a:lnSpc>
              </a:pPr>
              <a:endParaRPr sz="2000" dirty="0">
                <a:latin typeface="Georgia" panose="02040502050405020303" pitchFamily="18" charset="0"/>
                <a:cs typeface="Arial" panose="020B0604020202020204" pitchFamily="34" charset="0"/>
              </a:endParaRPr>
            </a:p>
          </p:txBody>
        </p:sp>
      </p:grpSp>
      <p:sp>
        <p:nvSpPr>
          <p:cNvPr id="13" name="TextBox 13"/>
          <p:cNvSpPr txBox="1"/>
          <p:nvPr/>
        </p:nvSpPr>
        <p:spPr>
          <a:xfrm>
            <a:off x="758737" y="3078888"/>
            <a:ext cx="10747463" cy="1280800"/>
          </a:xfrm>
          <a:prstGeom prst="rect">
            <a:avLst/>
          </a:prstGeom>
        </p:spPr>
        <p:txBody>
          <a:bodyPr lIns="0" tIns="0" rIns="0" bIns="0" rtlCol="0" anchor="t">
            <a:spAutoFit/>
          </a:bodyPr>
          <a:lstStyle/>
          <a:p>
            <a:pPr algn="ctr">
              <a:lnSpc>
                <a:spcPts val="3360"/>
              </a:lnSpc>
            </a:pPr>
            <a:r>
              <a:rPr lang="en-US" sz="2800" dirty="0">
                <a:solidFill>
                  <a:schemeClr val="accent1"/>
                </a:solidFill>
                <a:latin typeface="Georgia" panose="02040502050405020303" pitchFamily="18" charset="0"/>
                <a:ea typeface="ITC Benguiat Bold"/>
                <a:cs typeface="Arial" panose="020B0604020202020204" pitchFamily="34" charset="0"/>
                <a:sym typeface="ITC Benguiat Bold"/>
              </a:rPr>
              <a:t>EVALUATION DES CARACTERISTIQUES DE TESTS DIAGNOSTIQUES PAR DES MODELES BAYESIENS A CLASSES LATENTES</a:t>
            </a:r>
          </a:p>
        </p:txBody>
      </p:sp>
      <p:sp>
        <p:nvSpPr>
          <p:cNvPr id="14" name="TextBox 14"/>
          <p:cNvSpPr txBox="1"/>
          <p:nvPr/>
        </p:nvSpPr>
        <p:spPr>
          <a:xfrm>
            <a:off x="1422400" y="2502876"/>
            <a:ext cx="9565409" cy="307777"/>
          </a:xfrm>
          <a:prstGeom prst="rect">
            <a:avLst/>
          </a:prstGeom>
        </p:spPr>
        <p:txBody>
          <a:bodyPr wrap="square" lIns="0" tIns="0" rIns="0" bIns="0" rtlCol="0" anchor="t">
            <a:spAutoFit/>
          </a:bodyPr>
          <a:lstStyle/>
          <a:p>
            <a:pPr>
              <a:lnSpc>
                <a:spcPts val="2400"/>
              </a:lnSpc>
            </a:pPr>
            <a:r>
              <a:rPr lang="en-US" sz="2000" dirty="0">
                <a:solidFill>
                  <a:srgbClr val="012F7F"/>
                </a:solidFill>
                <a:latin typeface="Georgia" panose="02040502050405020303" pitchFamily="18" charset="0"/>
                <a:ea typeface="ITC Benguiat Bold"/>
                <a:cs typeface="Arial" panose="020B0604020202020204" pitchFamily="34" charset="0"/>
                <a:sym typeface="ITC Benguiat Bold"/>
              </a:rPr>
              <a:t>MEMOIRE DE MASTER II INGENIERIE MATHEMATIQUE ET BIOSTATISTIQUE</a:t>
            </a:r>
          </a:p>
        </p:txBody>
      </p:sp>
      <p:sp>
        <p:nvSpPr>
          <p:cNvPr id="15" name="TextBox 15"/>
          <p:cNvSpPr txBox="1"/>
          <p:nvPr/>
        </p:nvSpPr>
        <p:spPr>
          <a:xfrm>
            <a:off x="758738" y="5234003"/>
            <a:ext cx="1563370" cy="328680"/>
          </a:xfrm>
          <a:prstGeom prst="rect">
            <a:avLst/>
          </a:prstGeom>
        </p:spPr>
        <p:txBody>
          <a:bodyPr lIns="0" tIns="0" rIns="0" bIns="0" rtlCol="0" anchor="t">
            <a:spAutoFit/>
          </a:bodyPr>
          <a:lstStyle/>
          <a:p>
            <a:pPr algn="ctr">
              <a:lnSpc>
                <a:spcPts val="2800"/>
              </a:lnSpc>
            </a:pPr>
            <a:r>
              <a:rPr lang="fr-FR" sz="2000" u="sng" dirty="0">
                <a:solidFill>
                  <a:srgbClr val="000000"/>
                </a:solidFill>
                <a:latin typeface="Georgia" panose="02040502050405020303" pitchFamily="18" charset="0"/>
                <a:ea typeface="Bree Serif"/>
                <a:cs typeface="Arial" panose="020B0604020202020204" pitchFamily="34" charset="0"/>
                <a:sym typeface="Bree Serif"/>
              </a:rPr>
              <a:t>Présenté</a:t>
            </a:r>
            <a:r>
              <a:rPr lang="en-US" sz="2000" u="sng" dirty="0">
                <a:solidFill>
                  <a:srgbClr val="000000"/>
                </a:solidFill>
                <a:latin typeface="Georgia" panose="02040502050405020303" pitchFamily="18" charset="0"/>
                <a:ea typeface="Bree Serif"/>
                <a:cs typeface="Arial" panose="020B0604020202020204" pitchFamily="34" charset="0"/>
                <a:sym typeface="Bree Serif"/>
              </a:rPr>
              <a:t> par :</a:t>
            </a:r>
          </a:p>
        </p:txBody>
      </p:sp>
      <p:sp>
        <p:nvSpPr>
          <p:cNvPr id="16" name="TextBox 16"/>
          <p:cNvSpPr txBox="1"/>
          <p:nvPr/>
        </p:nvSpPr>
        <p:spPr>
          <a:xfrm>
            <a:off x="5908922" y="5225523"/>
            <a:ext cx="2621280" cy="686791"/>
          </a:xfrm>
          <a:prstGeom prst="rect">
            <a:avLst/>
          </a:prstGeom>
        </p:spPr>
        <p:txBody>
          <a:bodyPr lIns="0" tIns="0" rIns="0" bIns="0" rtlCol="0" anchor="t">
            <a:spAutoFit/>
          </a:bodyPr>
          <a:lstStyle/>
          <a:p>
            <a:pPr algn="ctr">
              <a:lnSpc>
                <a:spcPts val="2800"/>
              </a:lnSpc>
            </a:pPr>
            <a:r>
              <a:rPr lang="en-US" sz="2000" u="sng" dirty="0">
                <a:solidFill>
                  <a:srgbClr val="000000"/>
                </a:solidFill>
                <a:latin typeface="Georgia" panose="02040502050405020303" pitchFamily="18" charset="0"/>
                <a:ea typeface="Bree Serif"/>
                <a:cs typeface="Arial" panose="020B0604020202020204" pitchFamily="34" charset="0"/>
                <a:sym typeface="Bree Serif"/>
              </a:rPr>
              <a:t>Sous la supervision de :</a:t>
            </a:r>
          </a:p>
        </p:txBody>
      </p:sp>
      <p:sp>
        <p:nvSpPr>
          <p:cNvPr id="17" name="TextBox 17"/>
          <p:cNvSpPr txBox="1"/>
          <p:nvPr/>
        </p:nvSpPr>
        <p:spPr>
          <a:xfrm>
            <a:off x="758738" y="5742849"/>
            <a:ext cx="4552905" cy="309444"/>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ELIE Kouldjim</a:t>
            </a:r>
          </a:p>
        </p:txBody>
      </p:sp>
      <p:sp>
        <p:nvSpPr>
          <p:cNvPr id="18" name="TextBox 18"/>
          <p:cNvSpPr txBox="1"/>
          <p:nvPr/>
        </p:nvSpPr>
        <p:spPr>
          <a:xfrm>
            <a:off x="6819726" y="5731075"/>
            <a:ext cx="2621280" cy="309444"/>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HENAUX Viviane</a:t>
            </a:r>
          </a:p>
        </p:txBody>
      </p:sp>
      <p:sp>
        <p:nvSpPr>
          <p:cNvPr id="21" name="TextBox 21"/>
          <p:cNvSpPr txBox="1"/>
          <p:nvPr/>
        </p:nvSpPr>
        <p:spPr>
          <a:xfrm>
            <a:off x="5943601" y="5653102"/>
            <a:ext cx="754935" cy="408638"/>
          </a:xfrm>
          <a:prstGeom prst="rect">
            <a:avLst/>
          </a:prstGeom>
        </p:spPr>
        <p:txBody>
          <a:bodyPr lIns="0" tIns="0" rIns="0" bIns="0" rtlCol="0" anchor="t">
            <a:spAutoFit/>
          </a:bodyPr>
          <a:lstStyle/>
          <a:p>
            <a:pPr algn="ctr">
              <a:lnSpc>
                <a:spcPts val="3454"/>
              </a:lnSpc>
            </a:pPr>
            <a:r>
              <a:rPr lang="en-US" sz="2000" dirty="0">
                <a:solidFill>
                  <a:srgbClr val="000000"/>
                </a:solidFill>
                <a:latin typeface="Georgia" panose="02040502050405020303" pitchFamily="18" charset="0"/>
                <a:ea typeface="Bree Serif"/>
                <a:cs typeface="Arial" panose="020B0604020202020204" pitchFamily="34" charset="0"/>
                <a:sym typeface="Bree Serif"/>
              </a:rPr>
              <a:t>Mme</a:t>
            </a:r>
          </a:p>
        </p:txBody>
      </p:sp>
      <p:grpSp>
        <p:nvGrpSpPr>
          <p:cNvPr id="81" name="Groupe 80">
            <a:extLst>
              <a:ext uri="{FF2B5EF4-FFF2-40B4-BE49-F238E27FC236}">
                <a16:creationId xmlns:a16="http://schemas.microsoft.com/office/drawing/2014/main" id="{1C9A87BE-BC6B-9C5A-9B8E-A8B3F18B722A}"/>
              </a:ext>
            </a:extLst>
          </p:cNvPr>
          <p:cNvGrpSpPr/>
          <p:nvPr/>
        </p:nvGrpSpPr>
        <p:grpSpPr>
          <a:xfrm>
            <a:off x="5908922" y="3142475"/>
            <a:ext cx="752390" cy="1010232"/>
            <a:chOff x="10636359" y="1028700"/>
            <a:chExt cx="6622941" cy="7706695"/>
          </a:xfrm>
          <a:noFill/>
        </p:grpSpPr>
        <p:grpSp>
          <p:nvGrpSpPr>
            <p:cNvPr id="82" name="Group 2">
              <a:extLst>
                <a:ext uri="{FF2B5EF4-FFF2-40B4-BE49-F238E27FC236}">
                  <a16:creationId xmlns:a16="http://schemas.microsoft.com/office/drawing/2014/main" id="{621C7BA1-724C-DEB7-6D1A-2F463D851B79}"/>
                </a:ext>
              </a:extLst>
            </p:cNvPr>
            <p:cNvGrpSpPr/>
            <p:nvPr/>
          </p:nvGrpSpPr>
          <p:grpSpPr>
            <a:xfrm rot="-5400000">
              <a:off x="10094482" y="1570577"/>
              <a:ext cx="7706695" cy="6622941"/>
              <a:chOff x="0" y="0"/>
              <a:chExt cx="812800" cy="698500"/>
            </a:xfrm>
            <a:grpFill/>
          </p:grpSpPr>
          <p:sp>
            <p:nvSpPr>
              <p:cNvPr id="87" name="Freeform 3">
                <a:extLst>
                  <a:ext uri="{FF2B5EF4-FFF2-40B4-BE49-F238E27FC236}">
                    <a16:creationId xmlns:a16="http://schemas.microsoft.com/office/drawing/2014/main" id="{F61BD25B-8B65-9550-A2DA-FC1C495C2117}"/>
                  </a:ext>
                </a:extLst>
              </p:cNvPr>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pFill/>
              <a:ln>
                <a:noFill/>
              </a:ln>
            </p:spPr>
            <p:txBody>
              <a:bodyPr/>
              <a:lstStyle/>
              <a:p>
                <a:endParaRPr lang="fr-CM" sz="1200" dirty="0">
                  <a:latin typeface="Arial" panose="020B0604020202020204" pitchFamily="34" charset="0"/>
                  <a:cs typeface="Arial" panose="020B0604020202020204" pitchFamily="34" charset="0"/>
                </a:endParaRPr>
              </a:p>
            </p:txBody>
          </p:sp>
          <p:sp>
            <p:nvSpPr>
              <p:cNvPr id="88" name="TextBox 4">
                <a:extLst>
                  <a:ext uri="{FF2B5EF4-FFF2-40B4-BE49-F238E27FC236}">
                    <a16:creationId xmlns:a16="http://schemas.microsoft.com/office/drawing/2014/main" id="{E02ADA76-B038-BA91-4411-1E866B6B829F}"/>
                  </a:ext>
                </a:extLst>
              </p:cNvPr>
              <p:cNvSpPr txBox="1"/>
              <p:nvPr/>
            </p:nvSpPr>
            <p:spPr>
              <a:xfrm>
                <a:off x="114300" y="-38100"/>
                <a:ext cx="584200" cy="736600"/>
              </a:xfrm>
              <a:prstGeom prst="rect">
                <a:avLst/>
              </a:prstGeom>
              <a:grpFill/>
              <a:ln>
                <a:noFill/>
              </a:ln>
            </p:spPr>
            <p:txBody>
              <a:bodyPr lIns="33867" tIns="33867" rIns="33867" bIns="33867" rtlCol="0" anchor="ctr"/>
              <a:lstStyle/>
              <a:p>
                <a:pPr algn="ctr">
                  <a:lnSpc>
                    <a:spcPts val="1773"/>
                  </a:lnSpc>
                </a:pPr>
                <a:endParaRPr sz="1200" dirty="0">
                  <a:latin typeface="Arial" panose="020B0604020202020204" pitchFamily="34" charset="0"/>
                  <a:cs typeface="Arial" panose="020B0604020202020204" pitchFamily="34" charset="0"/>
                </a:endParaRPr>
              </a:p>
            </p:txBody>
          </p:sp>
        </p:grpSp>
        <p:grpSp>
          <p:nvGrpSpPr>
            <p:cNvPr id="83" name="Group 17">
              <a:extLst>
                <a:ext uri="{FF2B5EF4-FFF2-40B4-BE49-F238E27FC236}">
                  <a16:creationId xmlns:a16="http://schemas.microsoft.com/office/drawing/2014/main" id="{389EF4EB-75FC-F74C-B854-A107034DA356}"/>
                </a:ext>
              </a:extLst>
            </p:cNvPr>
            <p:cNvGrpSpPr/>
            <p:nvPr/>
          </p:nvGrpSpPr>
          <p:grpSpPr>
            <a:xfrm rot="-5400000">
              <a:off x="10593203" y="1959497"/>
              <a:ext cx="6709253" cy="5845101"/>
              <a:chOff x="0" y="0"/>
              <a:chExt cx="6350000" cy="5532120"/>
            </a:xfrm>
            <a:grpFill/>
          </p:grpSpPr>
          <p:sp>
            <p:nvSpPr>
              <p:cNvPr id="86" name="Freeform 18">
                <a:extLst>
                  <a:ext uri="{FF2B5EF4-FFF2-40B4-BE49-F238E27FC236}">
                    <a16:creationId xmlns:a16="http://schemas.microsoft.com/office/drawing/2014/main" id="{F5EE432F-7797-8CF7-45EE-46DBB0B726F8}"/>
                  </a:ext>
                </a:extLst>
              </p:cNvPr>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noFill/>
              </a:ln>
            </p:spPr>
            <p:txBody>
              <a:bodyPr/>
              <a:lstStyle/>
              <a:p>
                <a:endParaRPr lang="fr-CM" sz="1200" dirty="0">
                  <a:latin typeface="Arial" panose="020B0604020202020204" pitchFamily="34" charset="0"/>
                  <a:cs typeface="Arial" panose="020B0604020202020204" pitchFamily="34" charset="0"/>
                </a:endParaRPr>
              </a:p>
            </p:txBody>
          </p:sp>
        </p:grpSp>
        <p:grpSp>
          <p:nvGrpSpPr>
            <p:cNvPr id="84" name="Group 21">
              <a:extLst>
                <a:ext uri="{FF2B5EF4-FFF2-40B4-BE49-F238E27FC236}">
                  <a16:creationId xmlns:a16="http://schemas.microsoft.com/office/drawing/2014/main" id="{800E44A6-F70C-F0DE-B348-6B031DB90BFD}"/>
                </a:ext>
              </a:extLst>
            </p:cNvPr>
            <p:cNvGrpSpPr>
              <a:grpSpLocks noChangeAspect="1"/>
            </p:cNvGrpSpPr>
            <p:nvPr/>
          </p:nvGrpSpPr>
          <p:grpSpPr>
            <a:xfrm>
              <a:off x="11369337" y="1904574"/>
              <a:ext cx="5156985" cy="5954948"/>
              <a:chOff x="0" y="0"/>
              <a:chExt cx="5499100" cy="6350000"/>
            </a:xfrm>
            <a:grpFill/>
          </p:grpSpPr>
          <p:sp>
            <p:nvSpPr>
              <p:cNvPr id="85" name="Freeform 22">
                <a:extLst>
                  <a:ext uri="{FF2B5EF4-FFF2-40B4-BE49-F238E27FC236}">
                    <a16:creationId xmlns:a16="http://schemas.microsoft.com/office/drawing/2014/main" id="{836F4552-2B3D-7653-833A-CB4839E94E57}"/>
                  </a:ext>
                </a:extLst>
              </p:cNvPr>
              <p:cNvSpPr/>
              <p:nvPr/>
            </p:nvSpPr>
            <p:spPr>
              <a:xfrm>
                <a:off x="0" y="0"/>
                <a:ext cx="5499100" cy="6350000"/>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grpFill/>
              <a:ln w="12700">
                <a:noFill/>
              </a:ln>
            </p:spPr>
            <p:txBody>
              <a:bodyPr/>
              <a:lstStyle/>
              <a:p>
                <a:endParaRPr lang="fr-CM" sz="1200" dirty="0">
                  <a:latin typeface="Arial" panose="020B0604020202020204" pitchFamily="34" charset="0"/>
                  <a:cs typeface="Arial" panose="020B0604020202020204" pitchFamily="34" charset="0"/>
                </a:endParaRPr>
              </a:p>
            </p:txBody>
          </p:sp>
        </p:grpSp>
      </p:grpSp>
      <p:pic>
        <p:nvPicPr>
          <p:cNvPr id="64" name="Picture 2" descr="Appellation, logo et charte graphique : tout ce qu'il faut savoir | Université  Paris Cité">
            <a:extLst>
              <a:ext uri="{FF2B5EF4-FFF2-40B4-BE49-F238E27FC236}">
                <a16:creationId xmlns:a16="http://schemas.microsoft.com/office/drawing/2014/main" id="{0524B1B6-DFF7-4863-A973-AA43836B72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0751" y="697598"/>
            <a:ext cx="3123249" cy="1190781"/>
          </a:xfrm>
          <a:prstGeom prst="rect">
            <a:avLst/>
          </a:prstGeom>
          <a:noFill/>
          <a:extLst>
            <a:ext uri="{909E8E84-426E-40DD-AFC4-6F175D3DCCD1}">
              <a14:hiddenFill xmlns:a14="http://schemas.microsoft.com/office/drawing/2010/main">
                <a:solidFill>
                  <a:srgbClr val="FFFFFF"/>
                </a:solidFill>
              </a14:hiddenFill>
            </a:ext>
          </a:extLst>
        </p:spPr>
      </p:pic>
      <p:pic>
        <p:nvPicPr>
          <p:cNvPr id="66" name="Image 65">
            <a:extLst>
              <a:ext uri="{FF2B5EF4-FFF2-40B4-BE49-F238E27FC236}">
                <a16:creationId xmlns:a16="http://schemas.microsoft.com/office/drawing/2014/main" id="{3EB8DEB3-9E9A-44BE-AD96-EB79227613C4}"/>
              </a:ext>
              <a:ext uri="{C183D7F6-B498-43B3-948B-1728B52AA6E4}">
                <adec:decorative xmlns:adec="http://schemas.microsoft.com/office/drawing/2017/decorative" val="0"/>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43693" y="256163"/>
            <a:ext cx="2310471" cy="1302038"/>
          </a:xfrm>
          <a:prstGeom prst="rect">
            <a:avLst/>
          </a:prstGeom>
          <a:noFill/>
        </p:spPr>
      </p:pic>
      <p:pic>
        <p:nvPicPr>
          <p:cNvPr id="67" name="Image 66" descr="Agence nationale de sécurité sanitaire de l'alimentation, de  l'environnement et du travail — Wikipédia">
            <a:extLst>
              <a:ext uri="{FF2B5EF4-FFF2-40B4-BE49-F238E27FC236}">
                <a16:creationId xmlns:a16="http://schemas.microsoft.com/office/drawing/2014/main" id="{2DDCB935-C529-4786-81EE-80C6699E91B2}"/>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9333857" y="529942"/>
            <a:ext cx="2183845" cy="1320184"/>
          </a:xfrm>
          <a:prstGeom prst="rect">
            <a:avLst/>
          </a:prstGeom>
          <a:noFill/>
          <a:ln>
            <a:noFill/>
          </a:ln>
        </p:spPr>
      </p:pic>
      <p:sp>
        <p:nvSpPr>
          <p:cNvPr id="68" name="TextBox 18">
            <a:extLst>
              <a:ext uri="{FF2B5EF4-FFF2-40B4-BE49-F238E27FC236}">
                <a16:creationId xmlns:a16="http://schemas.microsoft.com/office/drawing/2014/main" id="{F55E44F2-B11B-40E7-9E4C-F0C9DC3E9D06}"/>
              </a:ext>
            </a:extLst>
          </p:cNvPr>
          <p:cNvSpPr txBox="1"/>
          <p:nvPr/>
        </p:nvSpPr>
        <p:spPr>
          <a:xfrm>
            <a:off x="6842729" y="6236627"/>
            <a:ext cx="4282471" cy="308482"/>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FERREIRA VINCENTE Acacia</a:t>
            </a:r>
          </a:p>
        </p:txBody>
      </p:sp>
      <p:sp>
        <p:nvSpPr>
          <p:cNvPr id="69" name="TextBox 21">
            <a:extLst>
              <a:ext uri="{FF2B5EF4-FFF2-40B4-BE49-F238E27FC236}">
                <a16:creationId xmlns:a16="http://schemas.microsoft.com/office/drawing/2014/main" id="{52267BD7-42FB-47C0-A8D9-E3990C22A976}"/>
              </a:ext>
            </a:extLst>
          </p:cNvPr>
          <p:cNvSpPr txBox="1"/>
          <p:nvPr/>
        </p:nvSpPr>
        <p:spPr>
          <a:xfrm>
            <a:off x="5966605" y="6158654"/>
            <a:ext cx="754935" cy="408638"/>
          </a:xfrm>
          <a:prstGeom prst="rect">
            <a:avLst/>
          </a:prstGeom>
        </p:spPr>
        <p:txBody>
          <a:bodyPr wrap="square" lIns="0" tIns="0" rIns="0" bIns="0" rtlCol="0" anchor="t">
            <a:spAutoFit/>
          </a:bodyPr>
          <a:lstStyle/>
          <a:p>
            <a:pPr algn="ctr">
              <a:lnSpc>
                <a:spcPts val="3454"/>
              </a:lnSpc>
            </a:pPr>
            <a:r>
              <a:rPr lang="en-US" sz="2000" dirty="0">
                <a:solidFill>
                  <a:srgbClr val="000000"/>
                </a:solidFill>
                <a:latin typeface="Georgia" panose="02040502050405020303" pitchFamily="18" charset="0"/>
                <a:ea typeface="Bree Serif"/>
                <a:cs typeface="Arial" panose="020B0604020202020204" pitchFamily="34" charset="0"/>
                <a:sym typeface="Bree Serif"/>
              </a:rPr>
              <a:t>Mme</a:t>
            </a:r>
          </a:p>
        </p:txBody>
      </p:sp>
      <p:sp>
        <p:nvSpPr>
          <p:cNvPr id="79" name="TextBox 15">
            <a:extLst>
              <a:ext uri="{FF2B5EF4-FFF2-40B4-BE49-F238E27FC236}">
                <a16:creationId xmlns:a16="http://schemas.microsoft.com/office/drawing/2014/main" id="{4A5BE666-3E12-448B-BB2A-B83C0C404578}"/>
              </a:ext>
            </a:extLst>
          </p:cNvPr>
          <p:cNvSpPr txBox="1"/>
          <p:nvPr/>
        </p:nvSpPr>
        <p:spPr>
          <a:xfrm>
            <a:off x="3494249" y="4631919"/>
            <a:ext cx="1817653" cy="327718"/>
          </a:xfrm>
          <a:prstGeom prst="rect">
            <a:avLst/>
          </a:prstGeom>
        </p:spPr>
        <p:txBody>
          <a:bodyPr wrap="square" lIns="0" tIns="0" rIns="0" bIns="0" rtlCol="0" anchor="t">
            <a:spAutoFit/>
          </a:bodyPr>
          <a:lstStyle/>
          <a:p>
            <a:pPr algn="ctr">
              <a:lnSpc>
                <a:spcPts val="2800"/>
              </a:lnSpc>
            </a:pPr>
            <a:r>
              <a:rPr lang="en-US" sz="2000" u="sng" dirty="0">
                <a:solidFill>
                  <a:srgbClr val="000000"/>
                </a:solidFill>
                <a:latin typeface="Georgia" panose="02040502050405020303" pitchFamily="18" charset="0"/>
                <a:ea typeface="Bree Serif"/>
                <a:cs typeface="Arial" panose="020B0604020202020204" pitchFamily="34" charset="0"/>
                <a:sym typeface="Bree Serif"/>
              </a:rPr>
              <a:t>Referent UFR:</a:t>
            </a:r>
          </a:p>
        </p:txBody>
      </p:sp>
      <p:sp>
        <p:nvSpPr>
          <p:cNvPr id="80" name="TextBox 17">
            <a:extLst>
              <a:ext uri="{FF2B5EF4-FFF2-40B4-BE49-F238E27FC236}">
                <a16:creationId xmlns:a16="http://schemas.microsoft.com/office/drawing/2014/main" id="{CBF4EFA1-08A3-4AA6-B7A8-E58764BE0E10}"/>
              </a:ext>
            </a:extLst>
          </p:cNvPr>
          <p:cNvSpPr txBox="1"/>
          <p:nvPr/>
        </p:nvSpPr>
        <p:spPr>
          <a:xfrm>
            <a:off x="5401882" y="4663303"/>
            <a:ext cx="4552905" cy="309444"/>
          </a:xfrm>
          <a:prstGeom prst="rect">
            <a:avLst/>
          </a:prstGeom>
        </p:spPr>
        <p:txBody>
          <a:bodyPr wrap="square" lIns="0" tIns="0" rIns="0" bIns="0" rtlCol="0" anchor="t">
            <a:spAutoFit/>
          </a:bodyPr>
          <a:lstStyle/>
          <a:p>
            <a:pPr>
              <a:lnSpc>
                <a:spcPts val="2640"/>
              </a:lnSpc>
            </a:pPr>
            <a:r>
              <a:rPr lang="en-US" sz="2000" dirty="0">
                <a:latin typeface="Georgia" panose="02040502050405020303" pitchFamily="18" charset="0"/>
                <a:ea typeface="ITC Benguiat Bold"/>
                <a:cs typeface="Arial" panose="020B0604020202020204" pitchFamily="34" charset="0"/>
                <a:sym typeface="ITC Benguiat Bold"/>
              </a:rPr>
              <a:t>Mme SABOURIN Anne</a:t>
            </a:r>
          </a:p>
        </p:txBody>
      </p:sp>
      <p:sp>
        <p:nvSpPr>
          <p:cNvPr id="32" name="Freeform 3">
            <a:extLst>
              <a:ext uri="{FF2B5EF4-FFF2-40B4-BE49-F238E27FC236}">
                <a16:creationId xmlns:a16="http://schemas.microsoft.com/office/drawing/2014/main" id="{4C0218BD-306D-4042-8464-6499ACEB556F}"/>
              </a:ext>
            </a:extLst>
          </p:cNvPr>
          <p:cNvSpPr/>
          <p:nvPr/>
        </p:nvSpPr>
        <p:spPr>
          <a:xfrm rot="5400000" flipH="1">
            <a:off x="-1752535" y="2859193"/>
            <a:ext cx="5318397" cy="4394325"/>
          </a:xfrm>
          <a:custGeom>
            <a:avLst/>
            <a:gdLst/>
            <a:ahLst/>
            <a:cxnLst/>
            <a:rect l="l" t="t" r="r" b="b"/>
            <a:pathLst>
              <a:path w="7977595" h="6591488">
                <a:moveTo>
                  <a:pt x="7977595" y="0"/>
                </a:moveTo>
                <a:lnTo>
                  <a:pt x="0" y="0"/>
                </a:lnTo>
                <a:lnTo>
                  <a:pt x="0" y="6591488"/>
                </a:lnTo>
                <a:lnTo>
                  <a:pt x="7977595" y="6591488"/>
                </a:lnTo>
                <a:lnTo>
                  <a:pt x="797759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lvl="0"/>
            <a:endParaRPr lang="fr-CM" sz="1200" dirty="0">
              <a:latin typeface="Arial" panose="020B0604020202020204" pitchFamily="34" charset="0"/>
              <a:cs typeface="Arial" panose="020B0604020202020204" pitchFamily="34" charset="0"/>
            </a:endParaRPr>
          </a:p>
        </p:txBody>
      </p:sp>
      <p:sp>
        <p:nvSpPr>
          <p:cNvPr id="10" name="Espace réservé du numéro de diapositive 9">
            <a:extLst>
              <a:ext uri="{FF2B5EF4-FFF2-40B4-BE49-F238E27FC236}">
                <a16:creationId xmlns:a16="http://schemas.microsoft.com/office/drawing/2014/main" id="{1B197EB3-56FB-A5A7-0B97-5B04FE2512D0}"/>
              </a:ext>
            </a:extLst>
          </p:cNvPr>
          <p:cNvSpPr>
            <a:spLocks noGrp="1"/>
          </p:cNvSpPr>
          <p:nvPr>
            <p:ph type="sldNum" sz="quarter" idx="12"/>
          </p:nvPr>
        </p:nvSpPr>
        <p:spPr/>
        <p:txBody>
          <a:bodyPr/>
          <a:lstStyle/>
          <a:p>
            <a:fld id="{453A7091-84B4-4BFC-9E12-327F477830A7}" type="slidenum">
              <a:rPr lang="fr-FR" smtClean="0"/>
              <a:t>16</a:t>
            </a:fld>
            <a:endParaRPr lang="fr-FR"/>
          </a:p>
        </p:txBody>
      </p:sp>
    </p:spTree>
    <p:extLst>
      <p:ext uri="{BB962C8B-B14F-4D97-AF65-F5344CB8AC3E}">
        <p14:creationId xmlns:p14="http://schemas.microsoft.com/office/powerpoint/2010/main" val="176499505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18956</TotalTime>
  <Words>3444</Words>
  <Application>Microsoft Office PowerPoint</Application>
  <PresentationFormat>Grand écran</PresentationFormat>
  <Paragraphs>358</Paragraphs>
  <Slides>16</Slides>
  <Notes>16</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16</vt:i4>
      </vt:variant>
    </vt:vector>
  </HeadingPairs>
  <TitlesOfParts>
    <vt:vector size="26" baseType="lpstr">
      <vt:lpstr>Arial</vt:lpstr>
      <vt:lpstr>Bree Serif</vt:lpstr>
      <vt:lpstr>Calibri</vt:lpstr>
      <vt:lpstr>Calibri Light</vt:lpstr>
      <vt:lpstr>Cambria Math</vt:lpstr>
      <vt:lpstr>Georgia</vt:lpstr>
      <vt:lpstr>ITC Benguiat Bold</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ELIE Kouldjim</dc:creator>
  <cp:lastModifiedBy>Kouldjim ELIE</cp:lastModifiedBy>
  <cp:revision>172</cp:revision>
  <dcterms:created xsi:type="dcterms:W3CDTF">2026-07-13T12:00:57Z</dcterms:created>
  <dcterms:modified xsi:type="dcterms:W3CDTF">2026-09-02T08:55:28Z</dcterms:modified>
</cp:coreProperties>
</file>